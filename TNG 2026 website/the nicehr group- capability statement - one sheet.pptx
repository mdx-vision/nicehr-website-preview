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7772400" cy="10058400"/>
  <p:notesSz cx="6858000" cy="9144000"/>
  <p:embeddedFontLst>
    <p:embeddedFont>
      <p:font typeface="Montserrat" pitchFamily="2" charset="77"/>
      <p:regular r:id="rId4"/>
      <p:bold r:id="rId5"/>
      <p:italic r:id="rId6"/>
      <p:boldItalic r:id="rId7"/>
    </p:embeddedFont>
    <p:embeddedFont>
      <p:font typeface="Montserrat ExtraBold" panose="00000900000000000000" pitchFamily="2" charset="77"/>
      <p:bold r:id="rId8"/>
      <p:italic r:id="rId9"/>
      <p:boldItalic r:id="rId10"/>
    </p:embeddedFont>
    <p:embeddedFont>
      <p:font typeface="Montserrat Medium" panose="00000600000000000000" pitchFamily="2" charset="77"/>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guide id="3" pos="288">
          <p15:clr>
            <a:srgbClr val="747775"/>
          </p15:clr>
        </p15:guide>
        <p15:guide id="4" pos="4608">
          <p15:clr>
            <a:srgbClr val="747775"/>
          </p15:clr>
        </p15:guide>
        <p15:guide id="5" orient="horz" pos="288">
          <p15:clr>
            <a:srgbClr val="747775"/>
          </p15:clr>
        </p15:guide>
        <p15:guide id="6" orient="horz" pos="60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82" d="100"/>
          <a:sy n="82" d="100"/>
        </p:scale>
        <p:origin x="3376" y="192"/>
      </p:cViewPr>
      <p:guideLst>
        <p:guide orient="horz" pos="3168"/>
        <p:guide pos="2448"/>
        <p:guide pos="288"/>
        <p:guide pos="4608"/>
        <p:guide orient="horz" pos="288"/>
        <p:guide orient="horz" pos="60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presProps" Target="pres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56b99ebef5_0_14: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56b99ebef5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050">
                <a:solidFill>
                  <a:srgbClr val="62646A"/>
                </a:solidFill>
                <a:highlight>
                  <a:srgbClr val="FAFAFA"/>
                </a:highlight>
              </a:rPr>
              <a:t>1.</a:t>
            </a:r>
            <a:r>
              <a:rPr lang="en" sz="1050" strike="sngStrike">
                <a:solidFill>
                  <a:srgbClr val="62646A"/>
                </a:solidFill>
                <a:highlight>
                  <a:srgbClr val="FAFAFA"/>
                </a:highlight>
              </a:rPr>
              <a:t> Introduction about your business. </a:t>
            </a:r>
            <a:endParaRPr sz="1050" strike="sngStrike">
              <a:solidFill>
                <a:srgbClr val="62646A"/>
              </a:solidFill>
              <a:highlight>
                <a:srgbClr val="FAFAFA"/>
              </a:highlight>
            </a:endParaRPr>
          </a:p>
          <a:p>
            <a:pPr marL="0" lvl="0" indent="0" algn="l" rtl="0">
              <a:spcBef>
                <a:spcPts val="0"/>
              </a:spcBef>
              <a:spcAft>
                <a:spcPts val="0"/>
              </a:spcAft>
              <a:buNone/>
            </a:pPr>
            <a:r>
              <a:rPr lang="en" sz="1050">
                <a:solidFill>
                  <a:srgbClr val="62646A"/>
                </a:solidFill>
                <a:highlight>
                  <a:srgbClr val="FAFAFA"/>
                </a:highlight>
              </a:rPr>
              <a:t>2. </a:t>
            </a:r>
            <a:r>
              <a:rPr lang="en" sz="1050" strike="sngStrike">
                <a:solidFill>
                  <a:srgbClr val="62646A"/>
                </a:solidFill>
                <a:highlight>
                  <a:srgbClr val="FAFAFA"/>
                </a:highlight>
              </a:rPr>
              <a:t>Core Competencies (List of products and services you are offering and images if you have) </a:t>
            </a:r>
            <a:endParaRPr sz="1050" strike="sngStrike">
              <a:solidFill>
                <a:srgbClr val="62646A"/>
              </a:solidFill>
              <a:highlight>
                <a:srgbClr val="FAFAFA"/>
              </a:highlight>
            </a:endParaRPr>
          </a:p>
          <a:p>
            <a:pPr marL="0" lvl="0" indent="0" algn="l" rtl="0">
              <a:spcBef>
                <a:spcPts val="0"/>
              </a:spcBef>
              <a:spcAft>
                <a:spcPts val="0"/>
              </a:spcAft>
              <a:buNone/>
            </a:pPr>
            <a:r>
              <a:rPr lang="en" sz="1050">
                <a:solidFill>
                  <a:srgbClr val="62646A"/>
                </a:solidFill>
                <a:highlight>
                  <a:srgbClr val="FAFAFA"/>
                </a:highlight>
              </a:rPr>
              <a:t>3. NAICS, FCS &amp; PSC Codes </a:t>
            </a:r>
            <a:endParaRPr sz="1050">
              <a:solidFill>
                <a:srgbClr val="62646A"/>
              </a:solidFill>
              <a:highlight>
                <a:srgbClr val="FAFAFA"/>
              </a:highlight>
            </a:endParaRPr>
          </a:p>
          <a:p>
            <a:pPr marL="0" lvl="0" indent="0" algn="l" rtl="0">
              <a:spcBef>
                <a:spcPts val="0"/>
              </a:spcBef>
              <a:spcAft>
                <a:spcPts val="0"/>
              </a:spcAft>
              <a:buNone/>
            </a:pPr>
            <a:r>
              <a:rPr lang="en" sz="1050">
                <a:solidFill>
                  <a:srgbClr val="62646A"/>
                </a:solidFill>
                <a:highlight>
                  <a:srgbClr val="FAFAFA"/>
                </a:highlight>
              </a:rPr>
              <a:t>4. </a:t>
            </a:r>
            <a:r>
              <a:rPr lang="en" sz="1050" strike="sngStrike">
                <a:solidFill>
                  <a:srgbClr val="62646A"/>
                </a:solidFill>
                <a:highlight>
                  <a:srgbClr val="FAFAFA"/>
                </a:highlight>
              </a:rPr>
              <a:t>Past Performance </a:t>
            </a:r>
            <a:endParaRPr sz="1050" strike="sngStrike">
              <a:solidFill>
                <a:srgbClr val="62646A"/>
              </a:solidFill>
              <a:highlight>
                <a:srgbClr val="FAFAFA"/>
              </a:highlight>
            </a:endParaRPr>
          </a:p>
          <a:p>
            <a:pPr marL="0" lvl="0" indent="0" algn="l" rtl="0">
              <a:spcBef>
                <a:spcPts val="0"/>
              </a:spcBef>
              <a:spcAft>
                <a:spcPts val="0"/>
              </a:spcAft>
              <a:buNone/>
            </a:pPr>
            <a:r>
              <a:rPr lang="en" sz="1050" strike="sngStrike">
                <a:solidFill>
                  <a:srgbClr val="62646A"/>
                </a:solidFill>
                <a:highlight>
                  <a:srgbClr val="FAFAFA"/>
                </a:highlight>
              </a:rPr>
              <a:t>5. Expected Future Performance</a:t>
            </a:r>
            <a:endParaRPr sz="1050" strike="sngStrike">
              <a:solidFill>
                <a:srgbClr val="62646A"/>
              </a:solidFill>
              <a:highlight>
                <a:srgbClr val="FAFAFA"/>
              </a:highlight>
            </a:endParaRPr>
          </a:p>
          <a:p>
            <a:pPr marL="0" lvl="0" indent="0" algn="l" rtl="0">
              <a:spcBef>
                <a:spcPts val="0"/>
              </a:spcBef>
              <a:spcAft>
                <a:spcPts val="0"/>
              </a:spcAft>
              <a:buNone/>
            </a:pPr>
            <a:r>
              <a:rPr lang="en" sz="1050">
                <a:solidFill>
                  <a:srgbClr val="62646A"/>
                </a:solidFill>
                <a:highlight>
                  <a:srgbClr val="FAFAFA"/>
                </a:highlight>
              </a:rPr>
              <a:t> 6.</a:t>
            </a:r>
            <a:r>
              <a:rPr lang="en" sz="1050" strike="sngStrike">
                <a:solidFill>
                  <a:srgbClr val="62646A"/>
                </a:solidFill>
                <a:highlight>
                  <a:srgbClr val="FAFAFA"/>
                </a:highlight>
              </a:rPr>
              <a:t> Differentiators </a:t>
            </a:r>
            <a:endParaRPr sz="1050" strike="sngStrike">
              <a:solidFill>
                <a:srgbClr val="62646A"/>
              </a:solidFill>
              <a:highlight>
                <a:srgbClr val="FAFAFA"/>
              </a:highlight>
            </a:endParaRPr>
          </a:p>
          <a:p>
            <a:pPr marL="0" lvl="0" indent="0" algn="l" rtl="0">
              <a:spcBef>
                <a:spcPts val="0"/>
              </a:spcBef>
              <a:spcAft>
                <a:spcPts val="0"/>
              </a:spcAft>
              <a:buNone/>
            </a:pPr>
            <a:r>
              <a:rPr lang="en" sz="1050">
                <a:solidFill>
                  <a:srgbClr val="62646A"/>
                </a:solidFill>
                <a:highlight>
                  <a:srgbClr val="FAFAFA"/>
                </a:highlight>
              </a:rPr>
              <a:t>7. </a:t>
            </a:r>
            <a:r>
              <a:rPr lang="en" sz="1050" strike="sngStrike">
                <a:solidFill>
                  <a:srgbClr val="62646A"/>
                </a:solidFill>
                <a:highlight>
                  <a:srgbClr val="FAFAFA"/>
                </a:highlight>
              </a:rPr>
              <a:t>Certifications </a:t>
            </a:r>
            <a:endParaRPr sz="1050" strike="sngStrike">
              <a:solidFill>
                <a:srgbClr val="62646A"/>
              </a:solidFill>
              <a:highlight>
                <a:srgbClr val="FAFAFA"/>
              </a:highlight>
            </a:endParaRPr>
          </a:p>
          <a:p>
            <a:pPr marL="0" lvl="0" indent="0" algn="l" rtl="0">
              <a:spcBef>
                <a:spcPts val="0"/>
              </a:spcBef>
              <a:spcAft>
                <a:spcPts val="0"/>
              </a:spcAft>
              <a:buNone/>
            </a:pPr>
            <a:r>
              <a:rPr lang="en" sz="1050" strike="sngStrike">
                <a:solidFill>
                  <a:srgbClr val="62646A"/>
                </a:solidFill>
                <a:highlight>
                  <a:srgbClr val="FAFAFA"/>
                </a:highlight>
              </a:rPr>
              <a:t>8. Company's detail ( Company name, e mail address, contact details, location, owner name etc)</a:t>
            </a:r>
            <a:endParaRPr sz="1050" strike="sngStrike">
              <a:solidFill>
                <a:srgbClr val="62646A"/>
              </a:solidFill>
              <a:highlight>
                <a:srgbClr val="FAFAFA"/>
              </a:highlight>
            </a:endParaRPr>
          </a:p>
          <a:p>
            <a:pPr marL="0" lvl="0" indent="0" algn="l" rtl="0">
              <a:spcBef>
                <a:spcPts val="0"/>
              </a:spcBef>
              <a:spcAft>
                <a:spcPts val="0"/>
              </a:spcAft>
              <a:buNone/>
            </a:pPr>
            <a:endParaRPr sz="1050" strike="sngStrike">
              <a:solidFill>
                <a:srgbClr val="62646A"/>
              </a:solidFill>
              <a:highlight>
                <a:srgbClr val="FAFAFA"/>
              </a:highlight>
            </a:endParaRPr>
          </a:p>
          <a:p>
            <a:pPr marL="0" lvl="0" indent="0" algn="l" rtl="0">
              <a:spcBef>
                <a:spcPts val="0"/>
              </a:spcBef>
              <a:spcAft>
                <a:spcPts val="0"/>
              </a:spcAft>
              <a:buNone/>
            </a:pPr>
            <a:endParaRPr sz="1050">
              <a:solidFill>
                <a:srgbClr val="62646A"/>
              </a:solidFill>
              <a:highlight>
                <a:srgbClr val="FAFAFA"/>
              </a:highligh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Microsoft Certified Partner</a:t>
            </a:r>
            <a:endParaRPr sz="800">
              <a:solidFill>
                <a:srgbClr val="404141"/>
              </a:solidFill>
              <a:latin typeface="Montserrat"/>
              <a:ea typeface="Montserrat"/>
              <a:cs typeface="Montserrat"/>
              <a:sym typeface="Montserra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Apple Developer</a:t>
            </a:r>
            <a:endParaRPr sz="800">
              <a:solidFill>
                <a:srgbClr val="404141"/>
              </a:solidFill>
              <a:latin typeface="Montserrat"/>
              <a:ea typeface="Montserrat"/>
              <a:cs typeface="Montserrat"/>
              <a:sym typeface="Montserra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Oracle Partner</a:t>
            </a:r>
            <a:endParaRPr sz="800">
              <a:solidFill>
                <a:srgbClr val="404141"/>
              </a:solidFill>
              <a:latin typeface="Montserrat"/>
              <a:ea typeface="Montserrat"/>
              <a:cs typeface="Montserrat"/>
              <a:sym typeface="Montserra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Microsoft .NET</a:t>
            </a:r>
            <a:endParaRPr sz="800">
              <a:solidFill>
                <a:srgbClr val="404141"/>
              </a:solidFill>
              <a:latin typeface="Montserrat"/>
              <a:ea typeface="Montserrat"/>
              <a:cs typeface="Montserrat"/>
              <a:sym typeface="Montserra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Microsoft SQL Server</a:t>
            </a:r>
            <a:endParaRPr sz="800">
              <a:solidFill>
                <a:srgbClr val="404141"/>
              </a:solidFill>
              <a:latin typeface="Montserrat"/>
              <a:ea typeface="Montserrat"/>
              <a:cs typeface="Montserrat"/>
              <a:sym typeface="Montserra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Microsoft Azure Government</a:t>
            </a:r>
            <a:endParaRPr sz="800">
              <a:solidFill>
                <a:srgbClr val="404141"/>
              </a:solidFill>
              <a:latin typeface="Montserrat"/>
              <a:ea typeface="Montserrat"/>
              <a:cs typeface="Montserrat"/>
              <a:sym typeface="Montserrat"/>
            </a:endParaRPr>
          </a:p>
          <a:p>
            <a:pPr marL="91440" lvl="0" indent="-96520" algn="l" rtl="0">
              <a:lnSpc>
                <a:spcPct val="115000"/>
              </a:lnSpc>
              <a:spcBef>
                <a:spcPts val="0"/>
              </a:spcBef>
              <a:spcAft>
                <a:spcPts val="0"/>
              </a:spcAft>
              <a:buClr>
                <a:srgbClr val="404141"/>
              </a:buClr>
              <a:buSzPts val="800"/>
              <a:buFont typeface="Montserrat"/>
              <a:buChar char="●"/>
            </a:pPr>
            <a:r>
              <a:rPr lang="en" sz="800">
                <a:solidFill>
                  <a:srgbClr val="404141"/>
                </a:solidFill>
                <a:latin typeface="Montserrat"/>
                <a:ea typeface="Montserrat"/>
                <a:cs typeface="Montserrat"/>
                <a:sym typeface="Montserrat"/>
              </a:rPr>
              <a:t>Amazon AWS GovCloud</a:t>
            </a:r>
            <a:endParaRPr sz="1050">
              <a:solidFill>
                <a:srgbClr val="62646A"/>
              </a:solidFill>
              <a:highlight>
                <a:srgbClr val="FAFAFA"/>
              </a:highlight>
            </a:endParaRPr>
          </a:p>
          <a:p>
            <a:pPr marL="0" lvl="0" indent="0" algn="l" rtl="0">
              <a:spcBef>
                <a:spcPts val="0"/>
              </a:spcBef>
              <a:spcAft>
                <a:spcPts val="0"/>
              </a:spcAft>
              <a:buNone/>
            </a:pPr>
            <a:endParaRPr sz="1050">
              <a:solidFill>
                <a:srgbClr val="62646A"/>
              </a:solidFill>
              <a:highlight>
                <a:srgbClr val="FAFAFA"/>
              </a:highlight>
            </a:endParaRPr>
          </a:p>
          <a:p>
            <a:pPr marL="0" lvl="0" indent="0" algn="l" rtl="0">
              <a:spcBef>
                <a:spcPts val="0"/>
              </a:spcBef>
              <a:spcAft>
                <a:spcPts val="0"/>
              </a:spcAft>
              <a:buNone/>
            </a:pPr>
            <a:endParaRPr sz="1050">
              <a:solidFill>
                <a:srgbClr val="62646A"/>
              </a:solidFill>
              <a:highlight>
                <a:srgbClr val="FAFAFA"/>
              </a:highlight>
            </a:endParaRPr>
          </a:p>
          <a:p>
            <a:pPr marL="0" lvl="0" indent="0" algn="l" rtl="0">
              <a:spcBef>
                <a:spcPts val="0"/>
              </a:spcBef>
              <a:spcAft>
                <a:spcPts val="0"/>
              </a:spcAft>
              <a:buNone/>
            </a:pPr>
            <a:endParaRPr sz="1050">
              <a:solidFill>
                <a:srgbClr val="62646A"/>
              </a:solidFill>
              <a:highlight>
                <a:srgbClr val="FAFAFA"/>
              </a:highlight>
            </a:endParaRPr>
          </a:p>
          <a:p>
            <a:pPr marL="0" lvl="0" indent="0" algn="l" rtl="0">
              <a:spcBef>
                <a:spcPts val="0"/>
              </a:spcBef>
              <a:spcAft>
                <a:spcPts val="0"/>
              </a:spcAft>
              <a:buNone/>
            </a:pPr>
            <a:endParaRPr sz="1050">
              <a:solidFill>
                <a:srgbClr val="62646A"/>
              </a:solidFill>
              <a:highlight>
                <a:srgbClr val="FAFAFA"/>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600" cy="7226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png"/><Relationship Id="rId18" Type="http://schemas.openxmlformats.org/officeDocument/2006/relationships/image" Target="../media/image16.jp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gif"/><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jpg"/><Relationship Id="rId20" Type="http://schemas.openxmlformats.org/officeDocument/2006/relationships/image" Target="../media/image18.jp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jpg"/><Relationship Id="rId11" Type="http://schemas.openxmlformats.org/officeDocument/2006/relationships/image" Target="../media/image9.png"/><Relationship Id="rId24"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hyperlink" Target="http://www.thenicehrgroup.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l="11861" t="63333" r="403" b="5281"/>
          <a:stretch/>
        </p:blipFill>
        <p:spPr>
          <a:xfrm>
            <a:off x="0" y="0"/>
            <a:ext cx="7772401" cy="1421426"/>
          </a:xfrm>
          <a:prstGeom prst="rect">
            <a:avLst/>
          </a:prstGeom>
          <a:noFill/>
          <a:ln>
            <a:noFill/>
          </a:ln>
        </p:spPr>
      </p:pic>
      <p:pic>
        <p:nvPicPr>
          <p:cNvPr id="55" name="Google Shape;55;p13"/>
          <p:cNvPicPr preferRelativeResize="0"/>
          <p:nvPr/>
        </p:nvPicPr>
        <p:blipFill>
          <a:blip r:embed="rId4">
            <a:alphaModFix amt="60000"/>
          </a:blip>
          <a:stretch>
            <a:fillRect/>
          </a:stretch>
        </p:blipFill>
        <p:spPr>
          <a:xfrm>
            <a:off x="0" y="339900"/>
            <a:ext cx="7772400" cy="1081526"/>
          </a:xfrm>
          <a:prstGeom prst="rect">
            <a:avLst/>
          </a:prstGeom>
          <a:noFill/>
          <a:ln>
            <a:noFill/>
          </a:ln>
        </p:spPr>
      </p:pic>
      <p:sp>
        <p:nvSpPr>
          <p:cNvPr id="56" name="Google Shape;56;p13"/>
          <p:cNvSpPr/>
          <p:nvPr/>
        </p:nvSpPr>
        <p:spPr>
          <a:xfrm>
            <a:off x="227600" y="1145450"/>
            <a:ext cx="2835900" cy="276000"/>
          </a:xfrm>
          <a:prstGeom prst="rect">
            <a:avLst/>
          </a:prstGeom>
          <a:solidFill>
            <a:schemeClr val="accent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 name="Google Shape;57;p13"/>
          <p:cNvSpPr/>
          <p:nvPr/>
        </p:nvSpPr>
        <p:spPr>
          <a:xfrm>
            <a:off x="0" y="9687525"/>
            <a:ext cx="7772400" cy="370800"/>
          </a:xfrm>
          <a:prstGeom prst="rect">
            <a:avLst/>
          </a:prstGeom>
          <a:solidFill>
            <a:srgbClr val="5EBFB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 name="Google Shape;58;p13"/>
          <p:cNvSpPr/>
          <p:nvPr/>
        </p:nvSpPr>
        <p:spPr>
          <a:xfrm>
            <a:off x="6566475" y="9687525"/>
            <a:ext cx="1206000" cy="370800"/>
          </a:xfrm>
          <a:prstGeom prst="rect">
            <a:avLst/>
          </a:prstGeom>
          <a:solidFill>
            <a:schemeClr val="accent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 name="Google Shape;59;p13"/>
          <p:cNvSpPr/>
          <p:nvPr/>
        </p:nvSpPr>
        <p:spPr>
          <a:xfrm>
            <a:off x="2748925" y="9688650"/>
            <a:ext cx="4188300" cy="370800"/>
          </a:xfrm>
          <a:prstGeom prst="rect">
            <a:avLst/>
          </a:prstGeom>
          <a:solidFill>
            <a:srgbClr val="17488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 name="Google Shape;60;p13"/>
          <p:cNvSpPr/>
          <p:nvPr/>
        </p:nvSpPr>
        <p:spPr>
          <a:xfrm>
            <a:off x="456075" y="3347750"/>
            <a:ext cx="4079100" cy="46800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None/>
            </a:pPr>
            <a:r>
              <a:rPr lang="en" sz="750" b="1">
                <a:solidFill>
                  <a:srgbClr val="17488B"/>
                </a:solidFill>
                <a:latin typeface="Montserrat"/>
                <a:ea typeface="Montserrat"/>
                <a:cs typeface="Montserrat"/>
                <a:sym typeface="Montserrat"/>
              </a:rPr>
              <a:t>CORE COMPETENCIES </a:t>
            </a:r>
            <a:r>
              <a:rPr lang="en" sz="750">
                <a:solidFill>
                  <a:schemeClr val="dk1"/>
                </a:solidFill>
                <a:latin typeface="Montserrat"/>
                <a:ea typeface="Montserrat"/>
                <a:cs typeface="Montserrat"/>
                <a:sym typeface="Montserrat"/>
              </a:rPr>
              <a:t>Expertise in EHR implementation from pre to post including EPIC, Oracle Cerner, Veradigm formerly Allscripts, EClinicalWorks, McKesson, NextGen Healthcare, GE Healthcare, Meditech, Athenahealth. Expertise in Data Migration &amp; Security. </a:t>
            </a:r>
            <a:endParaRPr sz="750">
              <a:solidFill>
                <a:schemeClr val="dk1"/>
              </a:solidFill>
              <a:latin typeface="Montserrat"/>
              <a:ea typeface="Montserrat"/>
              <a:cs typeface="Montserrat"/>
              <a:sym typeface="Montserrat"/>
            </a:endParaRPr>
          </a:p>
          <a:p>
            <a:pPr marL="0" lvl="0" indent="0" algn="l" rtl="0">
              <a:lnSpc>
                <a:spcPct val="115000"/>
              </a:lnSpc>
              <a:spcBef>
                <a:spcPts val="1000"/>
              </a:spcBef>
              <a:spcAft>
                <a:spcPts val="0"/>
              </a:spcAft>
              <a:buNone/>
            </a:pPr>
            <a:r>
              <a:rPr lang="en" sz="750" b="1">
                <a:solidFill>
                  <a:srgbClr val="5EBFBC"/>
                </a:solidFill>
                <a:latin typeface="Montserrat"/>
                <a:ea typeface="Montserrat"/>
                <a:cs typeface="Montserrat"/>
                <a:sym typeface="Montserrat"/>
              </a:rPr>
              <a:t>Mission Support Services  ·  Information Management  · Revenue Cycle Management  · Program, Planning &amp; Management Services  ·  Cybersecurity Services &amp; Support  ·  Training Services  ·  Enterprise Customer Service</a:t>
            </a:r>
            <a:endParaRPr sz="750" b="1">
              <a:solidFill>
                <a:srgbClr val="5EBFBC"/>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b="1">
              <a:solidFill>
                <a:srgbClr val="404141"/>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b="1">
              <a:solidFill>
                <a:srgbClr val="404141"/>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a:solidFill>
                <a:srgbClr val="404141"/>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a:solidFill>
                <a:srgbClr val="404141"/>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a:solidFill>
                <a:srgbClr val="404141"/>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a:solidFill>
                <a:srgbClr val="404141"/>
              </a:solidFill>
              <a:latin typeface="Montserrat"/>
              <a:ea typeface="Montserrat"/>
              <a:cs typeface="Montserrat"/>
              <a:sym typeface="Montserrat"/>
            </a:endParaRPr>
          </a:p>
          <a:p>
            <a:pPr marL="0" lvl="0" indent="0" algn="l" rtl="0">
              <a:lnSpc>
                <a:spcPct val="115000"/>
              </a:lnSpc>
              <a:spcBef>
                <a:spcPts val="90"/>
              </a:spcBef>
              <a:spcAft>
                <a:spcPts val="0"/>
              </a:spcAft>
              <a:buNone/>
            </a:pPr>
            <a:endParaRPr sz="750">
              <a:solidFill>
                <a:srgbClr val="404141"/>
              </a:solidFill>
              <a:latin typeface="Montserrat"/>
              <a:ea typeface="Montserrat"/>
              <a:cs typeface="Montserrat"/>
              <a:sym typeface="Montserrat"/>
            </a:endParaRPr>
          </a:p>
          <a:p>
            <a:pPr marL="0" lvl="0" indent="0" algn="l" rtl="0">
              <a:lnSpc>
                <a:spcPct val="115000"/>
              </a:lnSpc>
              <a:spcBef>
                <a:spcPts val="1000"/>
              </a:spcBef>
              <a:spcAft>
                <a:spcPts val="0"/>
              </a:spcAft>
              <a:buClr>
                <a:schemeClr val="dk1"/>
              </a:buClr>
              <a:buSzPts val="1100"/>
              <a:buFont typeface="Arial"/>
              <a:buNone/>
            </a:pPr>
            <a:r>
              <a:rPr lang="en" sz="750" b="1">
                <a:solidFill>
                  <a:srgbClr val="17488B"/>
                </a:solidFill>
                <a:latin typeface="Montserrat"/>
                <a:ea typeface="Montserrat"/>
                <a:cs typeface="Montserrat"/>
                <a:sym typeface="Montserrat"/>
              </a:rPr>
              <a:t>DIFFERENTIATORS </a:t>
            </a:r>
            <a:r>
              <a:rPr lang="en" sz="750">
                <a:solidFill>
                  <a:schemeClr val="dk1"/>
                </a:solidFill>
                <a:latin typeface="Montserrat"/>
                <a:ea typeface="Montserrat"/>
                <a:cs typeface="Montserrat"/>
                <a:sym typeface="Montserrat"/>
              </a:rPr>
              <a:t>Consultant Owned &amp; Operated, Network of 1,000 consultants,</a:t>
            </a:r>
            <a:endParaRPr sz="75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750">
                <a:solidFill>
                  <a:schemeClr val="dk1"/>
                </a:solidFill>
                <a:latin typeface="Montserrat"/>
                <a:ea typeface="Montserrat"/>
                <a:cs typeface="Montserrat"/>
                <a:sym typeface="Montserrat"/>
              </a:rPr>
              <a:t>TNG HIPAA compliant app, DiSCheduler, VA &amp; Unemployment Workforce Development National Training Program, Kliks-Patented EHR specialized Remote help desk support</a:t>
            </a:r>
            <a:endParaRPr sz="75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sz="750">
              <a:solidFill>
                <a:srgbClr val="404141"/>
              </a:solidFill>
              <a:latin typeface="Montserrat"/>
              <a:ea typeface="Montserrat"/>
              <a:cs typeface="Montserrat"/>
              <a:sym typeface="Montserrat"/>
            </a:endParaRPr>
          </a:p>
          <a:p>
            <a:pPr marL="0" marR="10795" lvl="0" indent="0" algn="l" rtl="0">
              <a:lnSpc>
                <a:spcPct val="115000"/>
              </a:lnSpc>
              <a:spcBef>
                <a:spcPts val="175"/>
              </a:spcBef>
              <a:spcAft>
                <a:spcPts val="0"/>
              </a:spcAft>
              <a:buNone/>
            </a:pPr>
            <a:r>
              <a:rPr lang="en" sz="750" b="1">
                <a:solidFill>
                  <a:srgbClr val="17488B"/>
                </a:solidFill>
                <a:latin typeface="Montserrat"/>
                <a:ea typeface="Montserrat"/>
                <a:cs typeface="Montserrat"/>
                <a:sym typeface="Montserrat"/>
              </a:rPr>
              <a:t>COMMITTED EXPERTS</a:t>
            </a:r>
            <a:r>
              <a:rPr lang="en" sz="750">
                <a:solidFill>
                  <a:srgbClr val="17488B"/>
                </a:solidFill>
                <a:latin typeface="Montserrat"/>
                <a:ea typeface="Montserrat"/>
                <a:cs typeface="Montserrat"/>
                <a:sym typeface="Montserrat"/>
              </a:rPr>
              <a:t> </a:t>
            </a:r>
            <a:r>
              <a:rPr lang="en" sz="750">
                <a:solidFill>
                  <a:srgbClr val="0D0D0D"/>
                </a:solidFill>
                <a:latin typeface="Montserrat"/>
                <a:ea typeface="Montserrat"/>
                <a:cs typeface="Montserrat"/>
                <a:sym typeface="Montserrat"/>
              </a:rPr>
              <a:t>T</a:t>
            </a:r>
            <a:r>
              <a:rPr lang="en" sz="750">
                <a:solidFill>
                  <a:schemeClr val="dk1"/>
                </a:solidFill>
                <a:latin typeface="Montserrat"/>
                <a:ea typeface="Montserrat"/>
                <a:cs typeface="Montserrat"/>
                <a:sym typeface="Montserrat"/>
              </a:rPr>
              <a:t>NG consultants are invited into a network of experts that have extensive EMR and EHR experience and are able to provide top notch oversight and commitment to ensure every project’s success. We enable a streamlined and hassle-free process for healthcare organizations looking to implement electronic health records. Our mission is to help healthcare providers improve patient care and efficiency by simplifying the EHR implementation process.</a:t>
            </a:r>
            <a:endParaRPr sz="750">
              <a:solidFill>
                <a:schemeClr val="dk1"/>
              </a:solidFill>
              <a:latin typeface="Montserrat"/>
              <a:ea typeface="Montserrat"/>
              <a:cs typeface="Montserrat"/>
              <a:sym typeface="Montserrat"/>
            </a:endParaRPr>
          </a:p>
          <a:p>
            <a:pPr marL="12700" marR="307975" lvl="0" indent="-12700" algn="l" rtl="0">
              <a:lnSpc>
                <a:spcPct val="115000"/>
              </a:lnSpc>
              <a:spcBef>
                <a:spcPts val="1000"/>
              </a:spcBef>
              <a:spcAft>
                <a:spcPts val="1000"/>
              </a:spcAft>
              <a:buNone/>
            </a:pPr>
            <a:r>
              <a:rPr lang="en" sz="750" b="1">
                <a:solidFill>
                  <a:srgbClr val="17488B"/>
                </a:solidFill>
                <a:latin typeface="Montserrat"/>
                <a:ea typeface="Montserrat"/>
                <a:cs typeface="Montserrat"/>
                <a:sym typeface="Montserrat"/>
              </a:rPr>
              <a:t>INDUSTRY VETTED</a:t>
            </a:r>
            <a:r>
              <a:rPr lang="en" sz="750" b="1">
                <a:solidFill>
                  <a:schemeClr val="dk1"/>
                </a:solidFill>
                <a:latin typeface="Montserrat"/>
                <a:ea typeface="Montserrat"/>
                <a:cs typeface="Montserrat"/>
                <a:sym typeface="Montserrat"/>
              </a:rPr>
              <a:t> </a:t>
            </a:r>
            <a:r>
              <a:rPr lang="en" sz="750">
                <a:solidFill>
                  <a:schemeClr val="dk1"/>
                </a:solidFill>
                <a:latin typeface="Montserrat"/>
                <a:ea typeface="Montserrat"/>
                <a:cs typeface="Montserrat"/>
                <a:sym typeface="Montserrat"/>
              </a:rPr>
              <a:t>With TNG’s consultant ownership model, clients receive direct access to the most talented and accomplished professionals in the industry, ensuring maximum value at minimal cost. All TNG consultants undergo rigorous vetting before joining our ranks, guaranteeing exceptional skill levels across all service areas.</a:t>
            </a:r>
            <a:endParaRPr sz="750">
              <a:solidFill>
                <a:schemeClr val="dk1"/>
              </a:solidFill>
              <a:latin typeface="Montserrat"/>
              <a:ea typeface="Montserrat"/>
              <a:cs typeface="Montserrat"/>
              <a:sym typeface="Montserrat"/>
            </a:endParaRPr>
          </a:p>
        </p:txBody>
      </p:sp>
      <p:pic>
        <p:nvPicPr>
          <p:cNvPr id="61" name="Google Shape;61;p13"/>
          <p:cNvPicPr preferRelativeResize="0"/>
          <p:nvPr/>
        </p:nvPicPr>
        <p:blipFill rotWithShape="1">
          <a:blip r:embed="rId5">
            <a:alphaModFix/>
          </a:blip>
          <a:srcRect t="11418"/>
          <a:stretch/>
        </p:blipFill>
        <p:spPr>
          <a:xfrm>
            <a:off x="429626" y="445231"/>
            <a:ext cx="1106675" cy="356475"/>
          </a:xfrm>
          <a:prstGeom prst="rect">
            <a:avLst/>
          </a:prstGeom>
          <a:noFill/>
          <a:ln>
            <a:noFill/>
          </a:ln>
        </p:spPr>
      </p:pic>
      <p:sp>
        <p:nvSpPr>
          <p:cNvPr id="62" name="Google Shape;62;p13"/>
          <p:cNvSpPr/>
          <p:nvPr/>
        </p:nvSpPr>
        <p:spPr>
          <a:xfrm>
            <a:off x="456075" y="1155025"/>
            <a:ext cx="4020900" cy="257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75"/>
              </a:spcBef>
              <a:spcAft>
                <a:spcPts val="0"/>
              </a:spcAft>
              <a:buNone/>
            </a:pPr>
            <a:r>
              <a:rPr lang="en" sz="1000" i="0" u="none" strike="noStrike" cap="none">
                <a:solidFill>
                  <a:schemeClr val="lt1"/>
                </a:solidFill>
                <a:latin typeface="Montserrat ExtraBold"/>
                <a:ea typeface="Montserrat ExtraBold"/>
                <a:cs typeface="Montserrat ExtraBold"/>
                <a:sym typeface="Montserrat ExtraBold"/>
              </a:rPr>
              <a:t>C A P A B I L I T Y    S T A T E M E N T</a:t>
            </a:r>
            <a:endParaRPr sz="1000" i="0" u="none" strike="noStrike" cap="none">
              <a:solidFill>
                <a:schemeClr val="lt1"/>
              </a:solidFill>
              <a:latin typeface="Montserrat ExtraBold"/>
              <a:ea typeface="Montserrat ExtraBold"/>
              <a:cs typeface="Montserrat ExtraBold"/>
              <a:sym typeface="Montserrat ExtraBold"/>
            </a:endParaRPr>
          </a:p>
        </p:txBody>
      </p:sp>
      <p:sp>
        <p:nvSpPr>
          <p:cNvPr id="63" name="Google Shape;63;p13"/>
          <p:cNvSpPr/>
          <p:nvPr/>
        </p:nvSpPr>
        <p:spPr>
          <a:xfrm>
            <a:off x="456082" y="1501817"/>
            <a:ext cx="4079100" cy="1276500"/>
          </a:xfrm>
          <a:prstGeom prst="rect">
            <a:avLst/>
          </a:prstGeom>
          <a:noFill/>
          <a:ln>
            <a:noFill/>
          </a:ln>
        </p:spPr>
        <p:txBody>
          <a:bodyPr spcFirstLastPara="1" wrap="square" lIns="0" tIns="0" rIns="0" bIns="0" anchor="t" anchorCtr="0">
            <a:noAutofit/>
          </a:bodyPr>
          <a:lstStyle/>
          <a:p>
            <a:pPr marL="0" marR="10795" lvl="0" indent="0" algn="l" rtl="0">
              <a:lnSpc>
                <a:spcPct val="100000"/>
              </a:lnSpc>
              <a:spcBef>
                <a:spcPts val="0"/>
              </a:spcBef>
              <a:spcAft>
                <a:spcPts val="0"/>
              </a:spcAft>
              <a:buNone/>
            </a:pPr>
            <a:r>
              <a:rPr lang="en" sz="900" i="0" u="none" strike="noStrike" cap="none">
                <a:solidFill>
                  <a:schemeClr val="dk1"/>
                </a:solidFill>
                <a:latin typeface="Montserrat Medium"/>
                <a:ea typeface="Montserrat Medium"/>
                <a:cs typeface="Montserrat Medium"/>
                <a:sym typeface="Montserrat Medium"/>
              </a:rPr>
              <a:t>The NICEHR Group (TNG) is the ONLY healthcare IT consultant firm in the industry that is consultant owned and operated. </a:t>
            </a:r>
            <a:endParaRPr sz="900" i="0" u="none" strike="noStrike" cap="none">
              <a:solidFill>
                <a:schemeClr val="dk1"/>
              </a:solidFill>
              <a:latin typeface="Montserrat Medium"/>
              <a:ea typeface="Montserrat Medium"/>
              <a:cs typeface="Montserrat Medium"/>
              <a:sym typeface="Montserrat Medium"/>
            </a:endParaRPr>
          </a:p>
          <a:p>
            <a:pPr marL="0" marR="10795" lvl="0" indent="0" algn="l" rtl="0">
              <a:lnSpc>
                <a:spcPct val="100000"/>
              </a:lnSpc>
              <a:spcBef>
                <a:spcPts val="1000"/>
              </a:spcBef>
              <a:spcAft>
                <a:spcPts val="0"/>
              </a:spcAft>
              <a:buNone/>
            </a:pPr>
            <a:r>
              <a:rPr lang="en" sz="900" i="0" u="none" strike="noStrike" cap="none">
                <a:solidFill>
                  <a:schemeClr val="dk1"/>
                </a:solidFill>
                <a:latin typeface="Montserrat Medium"/>
                <a:ea typeface="Montserrat Medium"/>
                <a:cs typeface="Montserrat Medium"/>
                <a:sym typeface="Montserrat Medium"/>
              </a:rPr>
              <a:t>We provide the healthcare industry with elite </a:t>
            </a:r>
            <a:r>
              <a:rPr lang="en" sz="900">
                <a:solidFill>
                  <a:schemeClr val="dk1"/>
                </a:solidFill>
                <a:latin typeface="Montserrat Medium"/>
                <a:ea typeface="Montserrat Medium"/>
                <a:cs typeface="Montserrat Medium"/>
                <a:sym typeface="Montserrat Medium"/>
              </a:rPr>
              <a:t>consultants</a:t>
            </a:r>
            <a:r>
              <a:rPr lang="en" sz="900" i="0" u="none" strike="noStrike" cap="none">
                <a:solidFill>
                  <a:schemeClr val="dk1"/>
                </a:solidFill>
                <a:latin typeface="Montserrat Medium"/>
                <a:ea typeface="Montserrat Medium"/>
                <a:cs typeface="Montserrat Medium"/>
                <a:sym typeface="Montserrat Medium"/>
              </a:rPr>
              <a:t> who simplify the EHR implementation along with integrating new technologies to improve the </a:t>
            </a:r>
            <a:r>
              <a:rPr lang="en" sz="900">
                <a:solidFill>
                  <a:schemeClr val="dk1"/>
                </a:solidFill>
                <a:latin typeface="Montserrat Medium"/>
                <a:ea typeface="Montserrat Medium"/>
                <a:cs typeface="Montserrat Medium"/>
                <a:sym typeface="Montserrat Medium"/>
              </a:rPr>
              <a:t>efficiency</a:t>
            </a:r>
            <a:r>
              <a:rPr lang="en" sz="900" i="0" u="none" strike="noStrike" cap="none">
                <a:solidFill>
                  <a:schemeClr val="dk1"/>
                </a:solidFill>
                <a:latin typeface="Montserrat Medium"/>
                <a:ea typeface="Montserrat Medium"/>
                <a:cs typeface="Montserrat Medium"/>
                <a:sym typeface="Montserrat Medium"/>
              </a:rPr>
              <a:t> and quality of patient care. </a:t>
            </a:r>
            <a:endParaRPr sz="900" i="0" u="none" strike="noStrike" cap="none">
              <a:solidFill>
                <a:schemeClr val="dk1"/>
              </a:solidFill>
              <a:latin typeface="Montserrat Medium"/>
              <a:ea typeface="Montserrat Medium"/>
              <a:cs typeface="Montserrat Medium"/>
              <a:sym typeface="Montserrat Medium"/>
            </a:endParaRPr>
          </a:p>
          <a:p>
            <a:pPr marL="0" marR="10795" lvl="0" indent="0" algn="l" rtl="0">
              <a:lnSpc>
                <a:spcPct val="100000"/>
              </a:lnSpc>
              <a:spcBef>
                <a:spcPts val="135"/>
              </a:spcBef>
              <a:spcAft>
                <a:spcPts val="0"/>
              </a:spcAft>
              <a:buNone/>
            </a:pPr>
            <a:endParaRPr sz="900">
              <a:solidFill>
                <a:schemeClr val="dk1"/>
              </a:solidFill>
              <a:latin typeface="Montserrat Medium"/>
              <a:ea typeface="Montserrat Medium"/>
              <a:cs typeface="Montserrat Medium"/>
              <a:sym typeface="Montserrat Medium"/>
            </a:endParaRPr>
          </a:p>
          <a:p>
            <a:pPr marL="0" marR="10795" lvl="0" indent="0" algn="l" rtl="0">
              <a:lnSpc>
                <a:spcPct val="100000"/>
              </a:lnSpc>
              <a:spcBef>
                <a:spcPts val="135"/>
              </a:spcBef>
              <a:spcAft>
                <a:spcPts val="0"/>
              </a:spcAft>
              <a:buNone/>
            </a:pPr>
            <a:r>
              <a:rPr lang="en" sz="900" i="0" u="none" strike="noStrike" cap="none">
                <a:solidFill>
                  <a:schemeClr val="dk1"/>
                </a:solidFill>
                <a:latin typeface="Montserrat Medium"/>
                <a:ea typeface="Montserrat Medium"/>
                <a:cs typeface="Montserrat Medium"/>
                <a:sym typeface="Montserrat Medium"/>
              </a:rPr>
              <a:t>We have a network of over 1,000 </a:t>
            </a:r>
            <a:r>
              <a:rPr lang="en" sz="900">
                <a:solidFill>
                  <a:schemeClr val="dk1"/>
                </a:solidFill>
                <a:latin typeface="Montserrat Medium"/>
                <a:ea typeface="Montserrat Medium"/>
                <a:cs typeface="Montserrat Medium"/>
                <a:sym typeface="Montserrat Medium"/>
              </a:rPr>
              <a:t>consultants</a:t>
            </a:r>
            <a:r>
              <a:rPr lang="en" sz="900" i="0" u="none" strike="noStrike" cap="none">
                <a:solidFill>
                  <a:schemeClr val="dk1"/>
                </a:solidFill>
                <a:latin typeface="Montserrat Medium"/>
                <a:ea typeface="Montserrat Medium"/>
                <a:cs typeface="Montserrat Medium"/>
                <a:sym typeface="Montserrat Medium"/>
              </a:rPr>
              <a:t> with experience in all aspects of EHR implementation from pre to post.</a:t>
            </a:r>
            <a:endParaRPr sz="900" i="0" u="none" strike="noStrike" cap="none">
              <a:solidFill>
                <a:schemeClr val="dk1"/>
              </a:solidFill>
              <a:latin typeface="Montserrat Medium"/>
              <a:ea typeface="Montserrat Medium"/>
              <a:cs typeface="Montserrat Medium"/>
              <a:sym typeface="Montserrat Medium"/>
            </a:endParaRPr>
          </a:p>
        </p:txBody>
      </p:sp>
      <p:sp>
        <p:nvSpPr>
          <p:cNvPr id="64" name="Google Shape;64;p13"/>
          <p:cNvSpPr/>
          <p:nvPr/>
        </p:nvSpPr>
        <p:spPr>
          <a:xfrm>
            <a:off x="4965900" y="1580125"/>
            <a:ext cx="2348700" cy="3849000"/>
          </a:xfrm>
          <a:prstGeom prst="rect">
            <a:avLst/>
          </a:prstGeom>
          <a:noFill/>
          <a:ln>
            <a:noFill/>
          </a:ln>
        </p:spPr>
        <p:txBody>
          <a:bodyPr spcFirstLastPara="1" wrap="square" lIns="0" tIns="0" rIns="0" bIns="0" anchor="t" anchorCtr="0">
            <a:noAutofit/>
          </a:bodyPr>
          <a:lstStyle/>
          <a:p>
            <a:pPr marL="12700" lvl="0" indent="-12700" algn="l" rtl="0">
              <a:lnSpc>
                <a:spcPct val="125000"/>
              </a:lnSpc>
              <a:spcBef>
                <a:spcPts val="85"/>
              </a:spcBef>
              <a:spcAft>
                <a:spcPts val="0"/>
              </a:spcAft>
              <a:buNone/>
            </a:pPr>
            <a:r>
              <a:rPr lang="en" sz="750" b="1">
                <a:solidFill>
                  <a:srgbClr val="17488B"/>
                </a:solidFill>
                <a:latin typeface="Montserrat"/>
                <a:ea typeface="Montserrat"/>
                <a:cs typeface="Montserrat"/>
                <a:sym typeface="Montserrat"/>
              </a:rPr>
              <a:t>SET-ASIDE PROGRAMS</a:t>
            </a:r>
            <a:endParaRPr sz="750" b="1">
              <a:solidFill>
                <a:srgbClr val="17488B"/>
              </a:solidFill>
              <a:latin typeface="Montserrat"/>
              <a:ea typeface="Montserrat"/>
              <a:cs typeface="Montserrat"/>
              <a:sym typeface="Montserrat"/>
            </a:endParaRPr>
          </a:p>
          <a:p>
            <a:pPr marL="9144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SBA 8(a) Program Certified</a:t>
            </a:r>
            <a:endParaRPr sz="750">
              <a:solidFill>
                <a:schemeClr val="dk1"/>
              </a:solidFill>
              <a:latin typeface="Montserrat"/>
              <a:ea typeface="Montserrat"/>
              <a:cs typeface="Montserrat"/>
              <a:sym typeface="Montserrat"/>
            </a:endParaRPr>
          </a:p>
          <a:p>
            <a:pPr marL="9144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Minority-Owned Business</a:t>
            </a:r>
            <a:endParaRPr sz="750">
              <a:solidFill>
                <a:schemeClr val="dk1"/>
              </a:solidFill>
              <a:latin typeface="Montserrat"/>
              <a:ea typeface="Montserrat"/>
              <a:cs typeface="Montserrat"/>
              <a:sym typeface="Montserrat"/>
            </a:endParaRPr>
          </a:p>
          <a:p>
            <a:pPr marL="9144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Small Business</a:t>
            </a:r>
            <a:endParaRPr sz="750">
              <a:solidFill>
                <a:schemeClr val="dk1"/>
              </a:solidFill>
              <a:latin typeface="Montserrat"/>
              <a:ea typeface="Montserrat"/>
              <a:cs typeface="Montserrat"/>
              <a:sym typeface="Montserrat"/>
            </a:endParaRPr>
          </a:p>
          <a:p>
            <a:pPr marL="9144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Small Disadvantaged Business</a:t>
            </a:r>
            <a:endParaRPr sz="750">
              <a:solidFill>
                <a:schemeClr val="dk1"/>
              </a:solidFill>
              <a:latin typeface="Montserrat"/>
              <a:ea typeface="Montserrat"/>
              <a:cs typeface="Montserrat"/>
              <a:sym typeface="Montserrat"/>
            </a:endParaRPr>
          </a:p>
          <a:p>
            <a:pPr marL="12700" lvl="0" indent="-12700" algn="l" rtl="0">
              <a:lnSpc>
                <a:spcPct val="125000"/>
              </a:lnSpc>
              <a:spcBef>
                <a:spcPts val="85"/>
              </a:spcBef>
              <a:spcAft>
                <a:spcPts val="0"/>
              </a:spcAft>
              <a:buNone/>
            </a:pPr>
            <a:endParaRPr sz="750" b="1">
              <a:solidFill>
                <a:srgbClr val="17488B"/>
              </a:solidFill>
              <a:latin typeface="Montserrat"/>
              <a:ea typeface="Montserrat"/>
              <a:cs typeface="Montserrat"/>
              <a:sym typeface="Montserrat"/>
            </a:endParaRPr>
          </a:p>
          <a:p>
            <a:pPr marL="12700" lvl="0" indent="-12700" algn="l" rtl="0">
              <a:lnSpc>
                <a:spcPct val="125000"/>
              </a:lnSpc>
              <a:spcBef>
                <a:spcPts val="85"/>
              </a:spcBef>
              <a:spcAft>
                <a:spcPts val="0"/>
              </a:spcAft>
              <a:buNone/>
            </a:pPr>
            <a:r>
              <a:rPr lang="en" sz="750" b="1">
                <a:solidFill>
                  <a:srgbClr val="17488B"/>
                </a:solidFill>
                <a:latin typeface="Montserrat"/>
                <a:ea typeface="Montserrat"/>
                <a:cs typeface="Montserrat"/>
                <a:sym typeface="Montserrat"/>
              </a:rPr>
              <a:t>CERTIFICATIONS</a:t>
            </a:r>
            <a:endParaRPr sz="750" b="1">
              <a:solidFill>
                <a:srgbClr val="17488B"/>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CMMI Level 3 Appraisal</a:t>
            </a:r>
            <a:endParaRPr sz="750">
              <a:solidFill>
                <a:schemeClr val="dk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ISO 9001:2015 QMS</a:t>
            </a:r>
            <a:endParaRPr sz="750">
              <a:solidFill>
                <a:schemeClr val="dk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chemeClr val="dk1"/>
                </a:solidFill>
                <a:latin typeface="Montserrat"/>
                <a:ea typeface="Montserrat"/>
                <a:cs typeface="Montserrat"/>
                <a:sym typeface="Montserrat"/>
              </a:rPr>
              <a:t>ISO 8000-110:2009 Data Quality</a:t>
            </a:r>
            <a:endParaRPr sz="750">
              <a:solidFill>
                <a:schemeClr val="dk1"/>
              </a:solidFill>
              <a:latin typeface="Montserrat"/>
              <a:ea typeface="Montserrat"/>
              <a:cs typeface="Montserrat"/>
              <a:sym typeface="Montserrat"/>
            </a:endParaRPr>
          </a:p>
          <a:p>
            <a:pPr marL="457200" marR="0" lvl="0" indent="0" algn="l" rtl="0">
              <a:lnSpc>
                <a:spcPct val="125000"/>
              </a:lnSpc>
              <a:spcBef>
                <a:spcPts val="85"/>
              </a:spcBef>
              <a:spcAft>
                <a:spcPts val="0"/>
              </a:spcAft>
              <a:buNone/>
            </a:pPr>
            <a:endParaRPr sz="750">
              <a:solidFill>
                <a:srgbClr val="404141"/>
              </a:solidFill>
              <a:latin typeface="Montserrat"/>
              <a:ea typeface="Montserrat"/>
              <a:cs typeface="Montserrat"/>
              <a:sym typeface="Montserrat"/>
            </a:endParaRPr>
          </a:p>
          <a:p>
            <a:pPr marL="12700" lvl="0" indent="-12700" algn="l" rtl="0">
              <a:lnSpc>
                <a:spcPct val="125000"/>
              </a:lnSpc>
              <a:spcBef>
                <a:spcPts val="85"/>
              </a:spcBef>
              <a:spcAft>
                <a:spcPts val="0"/>
              </a:spcAft>
              <a:buNone/>
            </a:pPr>
            <a:r>
              <a:rPr lang="en" sz="750" b="1">
                <a:solidFill>
                  <a:srgbClr val="17488B"/>
                </a:solidFill>
                <a:latin typeface="Montserrat"/>
                <a:ea typeface="Montserrat"/>
                <a:cs typeface="Montserrat"/>
                <a:sym typeface="Montserrat"/>
              </a:rPr>
              <a:t>INDUSTRY CONNECTIONS</a:t>
            </a:r>
            <a:endParaRPr sz="750" b="1">
              <a:solidFill>
                <a:srgbClr val="17488B"/>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Microsoft Certified Partner</a:t>
            </a:r>
            <a:endParaRPr sz="750">
              <a:solidFill>
                <a:srgbClr val="40414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Apple Developer</a:t>
            </a:r>
            <a:endParaRPr sz="750">
              <a:solidFill>
                <a:srgbClr val="40414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Oracle Partner</a:t>
            </a:r>
            <a:endParaRPr sz="750">
              <a:solidFill>
                <a:srgbClr val="40414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Microsoft .NET</a:t>
            </a:r>
            <a:endParaRPr sz="750">
              <a:solidFill>
                <a:srgbClr val="40414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Microsoft SQL Server</a:t>
            </a:r>
            <a:endParaRPr sz="750">
              <a:solidFill>
                <a:srgbClr val="40414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Microsoft Azure Government</a:t>
            </a:r>
            <a:endParaRPr sz="750">
              <a:solidFill>
                <a:srgbClr val="404141"/>
              </a:solidFill>
              <a:latin typeface="Montserrat"/>
              <a:ea typeface="Montserrat"/>
              <a:cs typeface="Montserrat"/>
              <a:sym typeface="Montserrat"/>
            </a:endParaRPr>
          </a:p>
          <a:p>
            <a:pPr marL="91440" marR="0" lvl="0" indent="-93345" algn="l" rtl="0">
              <a:lnSpc>
                <a:spcPct val="125000"/>
              </a:lnSpc>
              <a:spcBef>
                <a:spcPts val="85"/>
              </a:spcBef>
              <a:spcAft>
                <a:spcPts val="0"/>
              </a:spcAft>
              <a:buClr>
                <a:srgbClr val="5EBFBC"/>
              </a:buClr>
              <a:buSzPts val="750"/>
              <a:buFont typeface="Montserrat"/>
              <a:buChar char="●"/>
            </a:pPr>
            <a:r>
              <a:rPr lang="en" sz="750">
                <a:solidFill>
                  <a:srgbClr val="404141"/>
                </a:solidFill>
                <a:latin typeface="Montserrat"/>
                <a:ea typeface="Montserrat"/>
                <a:cs typeface="Montserrat"/>
                <a:sym typeface="Montserrat"/>
              </a:rPr>
              <a:t>Amazon AWS GovCloud</a:t>
            </a:r>
            <a:endParaRPr sz="750">
              <a:solidFill>
                <a:srgbClr val="404141"/>
              </a:solidFill>
              <a:latin typeface="Montserrat"/>
              <a:ea typeface="Montserrat"/>
              <a:cs typeface="Montserrat"/>
              <a:sym typeface="Montserrat"/>
            </a:endParaRPr>
          </a:p>
          <a:p>
            <a:pPr marL="0" lvl="0" indent="0" algn="l" rtl="0">
              <a:lnSpc>
                <a:spcPct val="125000"/>
              </a:lnSpc>
              <a:spcBef>
                <a:spcPts val="85"/>
              </a:spcBef>
              <a:spcAft>
                <a:spcPts val="0"/>
              </a:spcAft>
              <a:buNone/>
            </a:pPr>
            <a:endParaRPr sz="750" b="1">
              <a:solidFill>
                <a:srgbClr val="17488B"/>
              </a:solidFill>
              <a:latin typeface="Montserrat"/>
              <a:ea typeface="Montserrat"/>
              <a:cs typeface="Montserrat"/>
              <a:sym typeface="Montserrat"/>
            </a:endParaRPr>
          </a:p>
          <a:p>
            <a:pPr marL="12700" lvl="0" indent="-12700" algn="l" rtl="0">
              <a:lnSpc>
                <a:spcPct val="125000"/>
              </a:lnSpc>
              <a:spcBef>
                <a:spcPts val="85"/>
              </a:spcBef>
              <a:spcAft>
                <a:spcPts val="0"/>
              </a:spcAft>
              <a:buClr>
                <a:schemeClr val="dk1"/>
              </a:buClr>
              <a:buSzPts val="1100"/>
              <a:buFont typeface="Arial"/>
              <a:buNone/>
            </a:pPr>
            <a:r>
              <a:rPr lang="en" sz="750" b="1">
                <a:solidFill>
                  <a:srgbClr val="17488B"/>
                </a:solidFill>
                <a:latin typeface="Montserrat"/>
                <a:ea typeface="Montserrat"/>
                <a:cs typeface="Montserrat"/>
                <a:sym typeface="Montserrat"/>
              </a:rPr>
              <a:t>NAICS SIC CODES</a:t>
            </a:r>
            <a:endParaRPr sz="750" b="1">
              <a:solidFill>
                <a:srgbClr val="17488B"/>
              </a:solidFill>
              <a:latin typeface="Montserrat"/>
              <a:ea typeface="Montserrat"/>
              <a:cs typeface="Montserrat"/>
              <a:sym typeface="Montserrat"/>
            </a:endParaRPr>
          </a:p>
          <a:p>
            <a:pPr marL="91440" lvl="0" indent="-93345" algn="l" rtl="0">
              <a:lnSpc>
                <a:spcPct val="125000"/>
              </a:lnSpc>
              <a:spcBef>
                <a:spcPts val="85"/>
              </a:spcBef>
              <a:spcAft>
                <a:spcPts val="0"/>
              </a:spcAft>
              <a:buClr>
                <a:srgbClr val="5EBFBC"/>
              </a:buClr>
              <a:buSzPts val="750"/>
              <a:buFont typeface="Montserrat"/>
              <a:buChar char="●"/>
            </a:pPr>
            <a:r>
              <a:rPr lang="en" sz="750" b="1">
                <a:solidFill>
                  <a:schemeClr val="dk1"/>
                </a:solidFill>
                <a:latin typeface="Montserrat"/>
                <a:ea typeface="Montserrat"/>
                <a:cs typeface="Montserrat"/>
                <a:sym typeface="Montserrat"/>
              </a:rPr>
              <a:t>541611</a:t>
            </a:r>
            <a:r>
              <a:rPr lang="en" sz="750">
                <a:solidFill>
                  <a:schemeClr val="dk1"/>
                </a:solidFill>
                <a:latin typeface="Montserrat"/>
                <a:ea typeface="Montserrat"/>
                <a:cs typeface="Montserrat"/>
                <a:sym typeface="Montserrat"/>
              </a:rPr>
              <a:t> </a:t>
            </a:r>
            <a:r>
              <a:rPr lang="en" sz="750">
                <a:solidFill>
                  <a:schemeClr val="dk1"/>
                </a:solidFill>
                <a:highlight>
                  <a:srgbClr val="FFFFFF"/>
                </a:highlight>
                <a:latin typeface="Montserrat"/>
                <a:ea typeface="Montserrat"/>
                <a:cs typeface="Montserrat"/>
                <a:sym typeface="Montserrat"/>
              </a:rPr>
              <a:t>Administrative Management and General Management Consulting Services </a:t>
            </a:r>
            <a:endParaRPr sz="750">
              <a:solidFill>
                <a:schemeClr val="dk1"/>
              </a:solidFill>
              <a:latin typeface="Montserrat"/>
              <a:ea typeface="Montserrat"/>
              <a:cs typeface="Montserrat"/>
              <a:sym typeface="Montserrat"/>
            </a:endParaRPr>
          </a:p>
          <a:p>
            <a:pPr marL="91440" lvl="0" indent="-93345" algn="l" rtl="0">
              <a:lnSpc>
                <a:spcPct val="125000"/>
              </a:lnSpc>
              <a:spcBef>
                <a:spcPts val="85"/>
              </a:spcBef>
              <a:spcAft>
                <a:spcPts val="0"/>
              </a:spcAft>
              <a:buClr>
                <a:srgbClr val="5EBFBC"/>
              </a:buClr>
              <a:buSzPts val="750"/>
              <a:buFont typeface="Montserrat"/>
              <a:buChar char="●"/>
            </a:pPr>
            <a:r>
              <a:rPr lang="en" sz="750" b="1">
                <a:solidFill>
                  <a:schemeClr val="dk1"/>
                </a:solidFill>
                <a:latin typeface="Montserrat"/>
                <a:ea typeface="Montserrat"/>
                <a:cs typeface="Montserrat"/>
                <a:sym typeface="Montserrat"/>
              </a:rPr>
              <a:t>8742</a:t>
            </a:r>
            <a:r>
              <a:rPr lang="en" sz="750">
                <a:solidFill>
                  <a:schemeClr val="dk1"/>
                </a:solidFill>
                <a:latin typeface="Montserrat"/>
                <a:ea typeface="Montserrat"/>
                <a:cs typeface="Montserrat"/>
                <a:sym typeface="Montserrat"/>
              </a:rPr>
              <a:t> </a:t>
            </a:r>
            <a:r>
              <a:rPr lang="en" sz="750">
                <a:solidFill>
                  <a:schemeClr val="dk1"/>
                </a:solidFill>
                <a:highlight>
                  <a:srgbClr val="FFFFFF"/>
                </a:highlight>
                <a:latin typeface="Montserrat"/>
                <a:ea typeface="Montserrat"/>
                <a:cs typeface="Montserrat"/>
                <a:sym typeface="Montserrat"/>
              </a:rPr>
              <a:t>Management Consulting Services</a:t>
            </a:r>
            <a:endParaRPr sz="750">
              <a:solidFill>
                <a:schemeClr val="dk1"/>
              </a:solidFill>
              <a:latin typeface="Montserrat"/>
              <a:ea typeface="Montserrat"/>
              <a:cs typeface="Montserrat"/>
              <a:sym typeface="Montserrat"/>
            </a:endParaRPr>
          </a:p>
          <a:p>
            <a:pPr marL="457200" lvl="0" indent="0" algn="l" rtl="0">
              <a:lnSpc>
                <a:spcPct val="125000"/>
              </a:lnSpc>
              <a:spcBef>
                <a:spcPts val="85"/>
              </a:spcBef>
              <a:spcAft>
                <a:spcPts val="0"/>
              </a:spcAft>
              <a:buNone/>
            </a:pPr>
            <a:endParaRPr sz="750">
              <a:solidFill>
                <a:srgbClr val="404141"/>
              </a:solidFill>
              <a:latin typeface="Montserrat"/>
              <a:ea typeface="Montserrat"/>
              <a:cs typeface="Montserrat"/>
              <a:sym typeface="Montserrat"/>
            </a:endParaRPr>
          </a:p>
        </p:txBody>
      </p:sp>
      <p:sp>
        <p:nvSpPr>
          <p:cNvPr id="65" name="Google Shape;65;p13"/>
          <p:cNvSpPr txBox="1"/>
          <p:nvPr/>
        </p:nvSpPr>
        <p:spPr>
          <a:xfrm>
            <a:off x="4965900" y="5466300"/>
            <a:ext cx="2348700" cy="2343900"/>
          </a:xfrm>
          <a:prstGeom prst="rect">
            <a:avLst/>
          </a:prstGeom>
          <a:noFill/>
          <a:ln w="9525" cap="flat" cmpd="sng">
            <a:solidFill>
              <a:srgbClr val="5EBFBC"/>
            </a:solidFill>
            <a:prstDash val="solid"/>
            <a:round/>
            <a:headEnd type="none" w="sm" len="sm"/>
            <a:tailEnd type="none" w="sm" len="sm"/>
          </a:ln>
        </p:spPr>
        <p:txBody>
          <a:bodyPr spcFirstLastPara="1" wrap="square" lIns="228600" tIns="228600" rIns="228600" bIns="228600" anchor="ctr" anchorCtr="0">
            <a:noAutofit/>
          </a:bodyPr>
          <a:lstStyle/>
          <a:p>
            <a:pPr marL="12700" lvl="0" indent="-12700" algn="l" rtl="0">
              <a:lnSpc>
                <a:spcPct val="150000"/>
              </a:lnSpc>
              <a:spcBef>
                <a:spcPts val="335"/>
              </a:spcBef>
              <a:spcAft>
                <a:spcPts val="0"/>
              </a:spcAft>
              <a:buClr>
                <a:schemeClr val="dk1"/>
              </a:buClr>
              <a:buSzPts val="1100"/>
              <a:buFont typeface="Arial"/>
              <a:buNone/>
            </a:pPr>
            <a:r>
              <a:rPr lang="en" sz="650" b="1">
                <a:solidFill>
                  <a:srgbClr val="5EBFBC"/>
                </a:solidFill>
                <a:latin typeface="Montserrat"/>
                <a:ea typeface="Montserrat"/>
                <a:cs typeface="Montserrat"/>
                <a:sym typeface="Montserrat"/>
              </a:rPr>
              <a:t>CLIENT TESTIMONIAL</a:t>
            </a:r>
            <a:endParaRPr sz="650" b="1" i="1">
              <a:solidFill>
                <a:srgbClr val="5EBFBC"/>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650" i="1">
                <a:solidFill>
                  <a:schemeClr val="dk1"/>
                </a:solidFill>
                <a:latin typeface="Montserrat"/>
                <a:ea typeface="Montserrat"/>
                <a:cs typeface="Montserrat"/>
                <a:sym typeface="Montserrat"/>
              </a:rPr>
              <a:t>“I was lucky to work with Rafael in our busy Emergency Department. He trained me during the go-live phase of physician order entry.</a:t>
            </a:r>
            <a:endParaRPr sz="650" i="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650" i="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650" i="1">
                <a:solidFill>
                  <a:schemeClr val="dk1"/>
                </a:solidFill>
                <a:latin typeface="Montserrat"/>
                <a:ea typeface="Montserrat"/>
                <a:cs typeface="Montserrat"/>
                <a:sym typeface="Montserrat"/>
              </a:rPr>
              <a:t>Rafael’s knowledge and excellent communication skills were the key to making the whole process efficient and stress free.</a:t>
            </a:r>
            <a:endParaRPr sz="650" i="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650" i="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650" i="1">
                <a:solidFill>
                  <a:schemeClr val="dk1"/>
                </a:solidFill>
                <a:latin typeface="Montserrat"/>
                <a:ea typeface="Montserrat"/>
                <a:cs typeface="Montserrat"/>
                <a:sym typeface="Montserrat"/>
              </a:rPr>
              <a:t>Our hospital decided to retain a small team of go-live staff for some additional training. Our group of physicians unanimously voted for Rafael.”</a:t>
            </a:r>
            <a:endParaRPr sz="650" i="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65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650" b="1">
                <a:solidFill>
                  <a:schemeClr val="dk1"/>
                </a:solidFill>
                <a:latin typeface="Montserrat"/>
                <a:ea typeface="Montserrat"/>
                <a:cs typeface="Montserrat"/>
                <a:sym typeface="Montserrat"/>
              </a:rPr>
              <a:t>Lee Millward, MD - </a:t>
            </a:r>
            <a:endParaRPr sz="650" b="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650">
                <a:solidFill>
                  <a:schemeClr val="dk1"/>
                </a:solidFill>
                <a:latin typeface="Montserrat"/>
                <a:ea typeface="Montserrat"/>
                <a:cs typeface="Montserrat"/>
                <a:sym typeface="Montserrat"/>
              </a:rPr>
              <a:t>Methodist Fremont Health Medical Center</a:t>
            </a:r>
            <a:endParaRPr sz="650">
              <a:solidFill>
                <a:schemeClr val="dk1"/>
              </a:solidFill>
              <a:latin typeface="Montserrat"/>
              <a:ea typeface="Montserrat"/>
              <a:cs typeface="Montserrat"/>
              <a:sym typeface="Montserrat"/>
            </a:endParaRPr>
          </a:p>
        </p:txBody>
      </p:sp>
      <p:pic>
        <p:nvPicPr>
          <p:cNvPr id="66" name="Google Shape;66;p13" descr="A picture containing text, font, graphics, typography&#10;&#10;Description automatically generated"/>
          <p:cNvPicPr preferRelativeResize="0"/>
          <p:nvPr/>
        </p:nvPicPr>
        <p:blipFill rotWithShape="1">
          <a:blip r:embed="rId6">
            <a:alphaModFix/>
          </a:blip>
          <a:srcRect/>
          <a:stretch/>
        </p:blipFill>
        <p:spPr>
          <a:xfrm>
            <a:off x="1400364" y="8729296"/>
            <a:ext cx="560133" cy="275971"/>
          </a:xfrm>
          <a:prstGeom prst="rect">
            <a:avLst/>
          </a:prstGeom>
          <a:noFill/>
          <a:ln>
            <a:noFill/>
          </a:ln>
        </p:spPr>
      </p:pic>
      <p:pic>
        <p:nvPicPr>
          <p:cNvPr id="67" name="Google Shape;67;p13" descr="A close-up of a sign&#10;&#10;Description automatically generated with medium confidence"/>
          <p:cNvPicPr preferRelativeResize="0"/>
          <p:nvPr/>
        </p:nvPicPr>
        <p:blipFill rotWithShape="1">
          <a:blip r:embed="rId7">
            <a:alphaModFix/>
          </a:blip>
          <a:srcRect/>
          <a:stretch/>
        </p:blipFill>
        <p:spPr>
          <a:xfrm>
            <a:off x="1265673" y="8281590"/>
            <a:ext cx="829489" cy="223699"/>
          </a:xfrm>
          <a:prstGeom prst="rect">
            <a:avLst/>
          </a:prstGeom>
          <a:noFill/>
          <a:ln>
            <a:noFill/>
          </a:ln>
        </p:spPr>
      </p:pic>
      <p:pic>
        <p:nvPicPr>
          <p:cNvPr id="68" name="Google Shape;68;p13" descr="A close-up of a logo&#10;&#10;Description automatically generated"/>
          <p:cNvPicPr preferRelativeResize="0"/>
          <p:nvPr/>
        </p:nvPicPr>
        <p:blipFill rotWithShape="1">
          <a:blip r:embed="rId8">
            <a:alphaModFix/>
          </a:blip>
          <a:srcRect/>
          <a:stretch/>
        </p:blipFill>
        <p:spPr>
          <a:xfrm>
            <a:off x="1434057" y="9265169"/>
            <a:ext cx="492747" cy="154205"/>
          </a:xfrm>
          <a:prstGeom prst="rect">
            <a:avLst/>
          </a:prstGeom>
          <a:noFill/>
          <a:ln>
            <a:noFill/>
          </a:ln>
        </p:spPr>
      </p:pic>
      <p:pic>
        <p:nvPicPr>
          <p:cNvPr id="69" name="Google Shape;69;p13" descr="A logo for a health and rehabilitation center&#10;&#10;Description automatically generated with medium confidence"/>
          <p:cNvPicPr preferRelativeResize="0"/>
          <p:nvPr/>
        </p:nvPicPr>
        <p:blipFill rotWithShape="1">
          <a:blip r:embed="rId9">
            <a:alphaModFix/>
          </a:blip>
          <a:srcRect t="33911" b="18658"/>
          <a:stretch/>
        </p:blipFill>
        <p:spPr>
          <a:xfrm>
            <a:off x="2640198" y="9230423"/>
            <a:ext cx="550931" cy="223699"/>
          </a:xfrm>
          <a:prstGeom prst="rect">
            <a:avLst/>
          </a:prstGeom>
          <a:noFill/>
          <a:ln>
            <a:noFill/>
          </a:ln>
        </p:spPr>
      </p:pic>
      <p:pic>
        <p:nvPicPr>
          <p:cNvPr id="70" name="Google Shape;70;p13" descr="A black text on a white background&#10;&#10;Description automatically generated with medium confidence"/>
          <p:cNvPicPr preferRelativeResize="0"/>
          <p:nvPr/>
        </p:nvPicPr>
        <p:blipFill rotWithShape="1">
          <a:blip r:embed="rId10">
            <a:alphaModFix/>
          </a:blip>
          <a:srcRect/>
          <a:stretch/>
        </p:blipFill>
        <p:spPr>
          <a:xfrm>
            <a:off x="2640206" y="8262421"/>
            <a:ext cx="550915" cy="262021"/>
          </a:xfrm>
          <a:prstGeom prst="rect">
            <a:avLst/>
          </a:prstGeom>
          <a:noFill/>
          <a:ln>
            <a:noFill/>
          </a:ln>
        </p:spPr>
      </p:pic>
      <p:pic>
        <p:nvPicPr>
          <p:cNvPr id="71" name="Google Shape;71;p13" descr="A blue text on a white background&#10;&#10;Description automatically generated with low confidence"/>
          <p:cNvPicPr preferRelativeResize="0"/>
          <p:nvPr/>
        </p:nvPicPr>
        <p:blipFill rotWithShape="1">
          <a:blip r:embed="rId11">
            <a:alphaModFix/>
          </a:blip>
          <a:srcRect/>
          <a:stretch/>
        </p:blipFill>
        <p:spPr>
          <a:xfrm>
            <a:off x="2615334" y="8724437"/>
            <a:ext cx="600671" cy="285675"/>
          </a:xfrm>
          <a:prstGeom prst="rect">
            <a:avLst/>
          </a:prstGeom>
          <a:noFill/>
          <a:ln>
            <a:noFill/>
          </a:ln>
        </p:spPr>
      </p:pic>
      <p:pic>
        <p:nvPicPr>
          <p:cNvPr id="72" name="Google Shape;72;p13" descr="A close-up of a logo&#10;&#10;Description automatically generated with medium confidence"/>
          <p:cNvPicPr preferRelativeResize="0"/>
          <p:nvPr/>
        </p:nvPicPr>
        <p:blipFill rotWithShape="1">
          <a:blip r:embed="rId12">
            <a:alphaModFix/>
          </a:blip>
          <a:srcRect/>
          <a:stretch/>
        </p:blipFill>
        <p:spPr>
          <a:xfrm>
            <a:off x="3778724" y="9220783"/>
            <a:ext cx="926986" cy="242978"/>
          </a:xfrm>
          <a:prstGeom prst="rect">
            <a:avLst/>
          </a:prstGeom>
          <a:noFill/>
          <a:ln>
            <a:noFill/>
          </a:ln>
        </p:spPr>
      </p:pic>
      <p:pic>
        <p:nvPicPr>
          <p:cNvPr id="73" name="Google Shape;73;p13" descr="A black background with white text&#10;&#10;Description automatically generated with low confidence"/>
          <p:cNvPicPr preferRelativeResize="0"/>
          <p:nvPr/>
        </p:nvPicPr>
        <p:blipFill rotWithShape="1">
          <a:blip r:embed="rId13">
            <a:alphaModFix/>
          </a:blip>
          <a:srcRect/>
          <a:stretch/>
        </p:blipFill>
        <p:spPr>
          <a:xfrm>
            <a:off x="3827472" y="8765830"/>
            <a:ext cx="829489" cy="202888"/>
          </a:xfrm>
          <a:prstGeom prst="rect">
            <a:avLst/>
          </a:prstGeom>
          <a:noFill/>
          <a:ln>
            <a:noFill/>
          </a:ln>
        </p:spPr>
      </p:pic>
      <p:pic>
        <p:nvPicPr>
          <p:cNvPr id="74" name="Google Shape;74;p13" descr="A close-up of a logo&#10;&#10;Description automatically generated with medium confidence"/>
          <p:cNvPicPr preferRelativeResize="0"/>
          <p:nvPr/>
        </p:nvPicPr>
        <p:blipFill rotWithShape="1">
          <a:blip r:embed="rId14">
            <a:alphaModFix/>
          </a:blip>
          <a:srcRect/>
          <a:stretch/>
        </p:blipFill>
        <p:spPr>
          <a:xfrm>
            <a:off x="3863525" y="8287566"/>
            <a:ext cx="757375" cy="211712"/>
          </a:xfrm>
          <a:prstGeom prst="rect">
            <a:avLst/>
          </a:prstGeom>
          <a:noFill/>
          <a:ln>
            <a:noFill/>
          </a:ln>
        </p:spPr>
      </p:pic>
      <p:pic>
        <p:nvPicPr>
          <p:cNvPr id="75" name="Google Shape;75;p13" descr="A close-up of a logo&#10;&#10;Description automatically generated with low confidence"/>
          <p:cNvPicPr preferRelativeResize="0"/>
          <p:nvPr/>
        </p:nvPicPr>
        <p:blipFill rotWithShape="1">
          <a:blip r:embed="rId15">
            <a:alphaModFix/>
          </a:blip>
          <a:srcRect/>
          <a:stretch/>
        </p:blipFill>
        <p:spPr>
          <a:xfrm>
            <a:off x="6602315" y="8780891"/>
            <a:ext cx="681570" cy="172782"/>
          </a:xfrm>
          <a:prstGeom prst="rect">
            <a:avLst/>
          </a:prstGeom>
          <a:noFill/>
          <a:ln>
            <a:noFill/>
          </a:ln>
        </p:spPr>
      </p:pic>
      <p:pic>
        <p:nvPicPr>
          <p:cNvPr id="76" name="Google Shape;76;p13" descr="A close-up of a logo&#10;&#10;Description automatically generated with medium confidence"/>
          <p:cNvPicPr preferRelativeResize="0"/>
          <p:nvPr/>
        </p:nvPicPr>
        <p:blipFill rotWithShape="1">
          <a:blip r:embed="rId16">
            <a:alphaModFix/>
          </a:blip>
          <a:srcRect/>
          <a:stretch/>
        </p:blipFill>
        <p:spPr>
          <a:xfrm>
            <a:off x="6566486" y="8282676"/>
            <a:ext cx="753236" cy="221511"/>
          </a:xfrm>
          <a:prstGeom prst="rect">
            <a:avLst/>
          </a:prstGeom>
          <a:noFill/>
          <a:ln>
            <a:noFill/>
          </a:ln>
        </p:spPr>
      </p:pic>
      <p:pic>
        <p:nvPicPr>
          <p:cNvPr id="77" name="Google Shape;77;p13" descr="A close-up of a logo&#10;&#10;Description automatically generated with medium confidence"/>
          <p:cNvPicPr preferRelativeResize="0"/>
          <p:nvPr/>
        </p:nvPicPr>
        <p:blipFill rotWithShape="1">
          <a:blip r:embed="rId17">
            <a:alphaModFix/>
          </a:blip>
          <a:srcRect/>
          <a:stretch/>
        </p:blipFill>
        <p:spPr>
          <a:xfrm>
            <a:off x="6637221" y="9267204"/>
            <a:ext cx="611757" cy="150136"/>
          </a:xfrm>
          <a:prstGeom prst="rect">
            <a:avLst/>
          </a:prstGeom>
          <a:noFill/>
          <a:ln>
            <a:noFill/>
          </a:ln>
        </p:spPr>
      </p:pic>
      <p:pic>
        <p:nvPicPr>
          <p:cNvPr id="78" name="Google Shape;78;p13"/>
          <p:cNvPicPr preferRelativeResize="0"/>
          <p:nvPr/>
        </p:nvPicPr>
        <p:blipFill rotWithShape="1">
          <a:blip r:embed="rId18">
            <a:alphaModFix/>
          </a:blip>
          <a:srcRect/>
          <a:stretch/>
        </p:blipFill>
        <p:spPr>
          <a:xfrm>
            <a:off x="5419521" y="9156865"/>
            <a:ext cx="433145" cy="370813"/>
          </a:xfrm>
          <a:prstGeom prst="rect">
            <a:avLst/>
          </a:prstGeom>
          <a:noFill/>
          <a:ln>
            <a:noFill/>
          </a:ln>
        </p:spPr>
      </p:pic>
      <p:pic>
        <p:nvPicPr>
          <p:cNvPr id="79" name="Google Shape;79;p13" descr="A picture containing text, font, logo, symbol&#10;&#10;Description automatically generated"/>
          <p:cNvPicPr preferRelativeResize="0"/>
          <p:nvPr/>
        </p:nvPicPr>
        <p:blipFill rotWithShape="1">
          <a:blip r:embed="rId19">
            <a:alphaModFix/>
          </a:blip>
          <a:srcRect/>
          <a:stretch/>
        </p:blipFill>
        <p:spPr>
          <a:xfrm>
            <a:off x="5386852" y="8251179"/>
            <a:ext cx="498485" cy="284503"/>
          </a:xfrm>
          <a:prstGeom prst="rect">
            <a:avLst/>
          </a:prstGeom>
          <a:noFill/>
          <a:ln>
            <a:noFill/>
          </a:ln>
        </p:spPr>
      </p:pic>
      <p:pic>
        <p:nvPicPr>
          <p:cNvPr id="80" name="Google Shape;80;p13" descr="A close-up of a logo&#10;&#10;Description automatically generated"/>
          <p:cNvPicPr preferRelativeResize="0"/>
          <p:nvPr/>
        </p:nvPicPr>
        <p:blipFill rotWithShape="1">
          <a:blip r:embed="rId20">
            <a:alphaModFix/>
          </a:blip>
          <a:srcRect/>
          <a:stretch/>
        </p:blipFill>
        <p:spPr>
          <a:xfrm>
            <a:off x="5335636" y="8738670"/>
            <a:ext cx="600915" cy="257225"/>
          </a:xfrm>
          <a:prstGeom prst="rect">
            <a:avLst/>
          </a:prstGeom>
          <a:noFill/>
          <a:ln>
            <a:noFill/>
          </a:ln>
        </p:spPr>
      </p:pic>
      <p:sp>
        <p:nvSpPr>
          <p:cNvPr id="81" name="Google Shape;81;p13"/>
          <p:cNvSpPr txBox="1"/>
          <p:nvPr/>
        </p:nvSpPr>
        <p:spPr>
          <a:xfrm>
            <a:off x="457200" y="8036697"/>
            <a:ext cx="759900" cy="1650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767" b="1">
                <a:solidFill>
                  <a:srgbClr val="5EBFBC"/>
                </a:solidFill>
                <a:latin typeface="Montserrat"/>
                <a:ea typeface="Montserrat"/>
                <a:cs typeface="Montserrat"/>
                <a:sym typeface="Montserrat"/>
              </a:rPr>
              <a:t>CLIENTS</a:t>
            </a:r>
            <a:endParaRPr sz="767" b="1">
              <a:solidFill>
                <a:srgbClr val="5EBFBC"/>
              </a:solidFill>
              <a:latin typeface="Montserrat"/>
              <a:ea typeface="Montserrat"/>
              <a:cs typeface="Montserrat"/>
              <a:sym typeface="Montserrat"/>
            </a:endParaRPr>
          </a:p>
        </p:txBody>
      </p:sp>
      <p:sp>
        <p:nvSpPr>
          <p:cNvPr id="82" name="Google Shape;82;p13"/>
          <p:cNvSpPr/>
          <p:nvPr/>
        </p:nvSpPr>
        <p:spPr>
          <a:xfrm>
            <a:off x="1861926" y="424550"/>
            <a:ext cx="2453700" cy="355500"/>
          </a:xfrm>
          <a:prstGeom prst="rect">
            <a:avLst/>
          </a:prstGeom>
          <a:noFill/>
          <a:ln>
            <a:noFill/>
          </a:ln>
        </p:spPr>
        <p:txBody>
          <a:bodyPr spcFirstLastPara="1" wrap="square" lIns="0" tIns="0" rIns="0" bIns="0" anchor="t" anchorCtr="0">
            <a:noAutofit/>
          </a:bodyPr>
          <a:lstStyle/>
          <a:p>
            <a:pPr marL="0" marR="10795" lvl="0" indent="0" algn="l" rtl="0">
              <a:lnSpc>
                <a:spcPct val="100000"/>
              </a:lnSpc>
              <a:spcBef>
                <a:spcPts val="135"/>
              </a:spcBef>
              <a:spcAft>
                <a:spcPts val="0"/>
              </a:spcAft>
              <a:buNone/>
            </a:pPr>
            <a:r>
              <a:rPr lang="en" sz="650" b="1">
                <a:solidFill>
                  <a:schemeClr val="lt1"/>
                </a:solidFill>
                <a:latin typeface="Montserrat"/>
                <a:ea typeface="Montserrat"/>
                <a:cs typeface="Montserrat"/>
                <a:sym typeface="Montserrat"/>
              </a:rPr>
              <a:t>© 2024  NATIONAL INDEPENDENT CONSULTANTS </a:t>
            </a:r>
            <a:endParaRPr sz="650" b="1">
              <a:solidFill>
                <a:schemeClr val="lt1"/>
              </a:solidFill>
              <a:latin typeface="Montserrat"/>
              <a:ea typeface="Montserrat"/>
              <a:cs typeface="Montserrat"/>
              <a:sym typeface="Montserrat"/>
            </a:endParaRPr>
          </a:p>
          <a:p>
            <a:pPr marL="0" marR="10795" lvl="0" indent="0" algn="l" rtl="0">
              <a:lnSpc>
                <a:spcPct val="100000"/>
              </a:lnSpc>
              <a:spcBef>
                <a:spcPts val="135"/>
              </a:spcBef>
              <a:spcAft>
                <a:spcPts val="0"/>
              </a:spcAft>
              <a:buNone/>
            </a:pPr>
            <a:r>
              <a:rPr lang="en" sz="650" b="1">
                <a:solidFill>
                  <a:schemeClr val="lt1"/>
                </a:solidFill>
                <a:latin typeface="Montserrat"/>
                <a:ea typeface="Montserrat"/>
                <a:cs typeface="Montserrat"/>
                <a:sym typeface="Montserrat"/>
              </a:rPr>
              <a:t>OF ELECTRONIC HEALTHCARE RECORDS</a:t>
            </a:r>
            <a:endParaRPr sz="650" b="1">
              <a:solidFill>
                <a:schemeClr val="lt1"/>
              </a:solidFill>
              <a:latin typeface="Montserrat"/>
              <a:ea typeface="Montserrat"/>
              <a:cs typeface="Montserrat"/>
              <a:sym typeface="Montserrat"/>
            </a:endParaRPr>
          </a:p>
        </p:txBody>
      </p:sp>
      <p:sp>
        <p:nvSpPr>
          <p:cNvPr id="83" name="Google Shape;83;p13"/>
          <p:cNvSpPr/>
          <p:nvPr/>
        </p:nvSpPr>
        <p:spPr>
          <a:xfrm>
            <a:off x="457200" y="8027650"/>
            <a:ext cx="6858000" cy="9000"/>
          </a:xfrm>
          <a:prstGeom prst="rect">
            <a:avLst/>
          </a:prstGeom>
          <a:solidFill>
            <a:srgbClr val="5EBFB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cxnSp>
        <p:nvCxnSpPr>
          <p:cNvPr id="84" name="Google Shape;84;p13"/>
          <p:cNvCxnSpPr/>
          <p:nvPr/>
        </p:nvCxnSpPr>
        <p:spPr>
          <a:xfrm>
            <a:off x="473108" y="3179128"/>
            <a:ext cx="4066500" cy="0"/>
          </a:xfrm>
          <a:prstGeom prst="straightConnector1">
            <a:avLst/>
          </a:prstGeom>
          <a:noFill/>
          <a:ln w="9525" cap="flat" cmpd="sng">
            <a:solidFill>
              <a:srgbClr val="5EBFBC"/>
            </a:solidFill>
            <a:prstDash val="solid"/>
            <a:round/>
            <a:headEnd type="none" w="med" len="med"/>
            <a:tailEnd type="none" w="med" len="med"/>
          </a:ln>
        </p:spPr>
      </p:cxnSp>
      <p:sp>
        <p:nvSpPr>
          <p:cNvPr id="85" name="Google Shape;85;p13"/>
          <p:cNvSpPr/>
          <p:nvPr/>
        </p:nvSpPr>
        <p:spPr>
          <a:xfrm>
            <a:off x="5939900" y="457475"/>
            <a:ext cx="1374600" cy="193800"/>
          </a:xfrm>
          <a:prstGeom prst="rect">
            <a:avLst/>
          </a:prstGeom>
          <a:solidFill>
            <a:schemeClr val="dk1"/>
          </a:solidFill>
          <a:ln>
            <a:noFill/>
          </a:ln>
        </p:spPr>
        <p:txBody>
          <a:bodyPr spcFirstLastPara="1" wrap="square" lIns="0" tIns="0" rIns="0" bIns="0" anchor="ctr" anchorCtr="0">
            <a:noAutofit/>
          </a:bodyPr>
          <a:lstStyle/>
          <a:p>
            <a:pPr marL="12700" lvl="0" indent="-12700" algn="ctr" rtl="0">
              <a:lnSpc>
                <a:spcPct val="88333"/>
              </a:lnSpc>
              <a:spcBef>
                <a:spcPts val="85"/>
              </a:spcBef>
              <a:spcAft>
                <a:spcPts val="0"/>
              </a:spcAft>
              <a:buNone/>
            </a:pPr>
            <a:r>
              <a:rPr lang="en" sz="600" b="1">
                <a:solidFill>
                  <a:schemeClr val="lt2"/>
                </a:solidFill>
                <a:latin typeface="Montserrat"/>
                <a:ea typeface="Montserrat"/>
                <a:cs typeface="Montserrat"/>
                <a:sym typeface="Montserrat"/>
              </a:rPr>
              <a:t>DUNS</a:t>
            </a:r>
            <a:r>
              <a:rPr lang="en" sz="600">
                <a:solidFill>
                  <a:schemeClr val="lt2"/>
                </a:solidFill>
                <a:latin typeface="Montserrat"/>
                <a:ea typeface="Montserrat"/>
                <a:cs typeface="Montserrat"/>
                <a:sym typeface="Montserrat"/>
              </a:rPr>
              <a:t>:078606581      </a:t>
            </a:r>
            <a:r>
              <a:rPr lang="en" sz="600" b="1">
                <a:solidFill>
                  <a:schemeClr val="lt2"/>
                </a:solidFill>
                <a:latin typeface="Montserrat"/>
                <a:ea typeface="Montserrat"/>
                <a:cs typeface="Montserrat"/>
                <a:sym typeface="Montserrat"/>
              </a:rPr>
              <a:t>CAGE</a:t>
            </a:r>
            <a:r>
              <a:rPr lang="en" sz="600">
                <a:solidFill>
                  <a:schemeClr val="lt2"/>
                </a:solidFill>
                <a:latin typeface="Montserrat"/>
                <a:ea typeface="Montserrat"/>
                <a:cs typeface="Montserrat"/>
                <a:sym typeface="Montserrat"/>
              </a:rPr>
              <a:t>: 7CTE3</a:t>
            </a:r>
            <a:endParaRPr sz="600">
              <a:solidFill>
                <a:schemeClr val="lt2"/>
              </a:solidFill>
              <a:latin typeface="Montserrat"/>
              <a:ea typeface="Montserrat"/>
              <a:cs typeface="Montserrat"/>
              <a:sym typeface="Montserrat"/>
            </a:endParaRPr>
          </a:p>
        </p:txBody>
      </p:sp>
      <p:pic>
        <p:nvPicPr>
          <p:cNvPr id="86" name="Google Shape;86;p13" descr="A picture containing text, clipart&#10;&#10;Description automatically generated"/>
          <p:cNvPicPr preferRelativeResize="0"/>
          <p:nvPr/>
        </p:nvPicPr>
        <p:blipFill rotWithShape="1">
          <a:blip r:embed="rId21">
            <a:alphaModFix/>
          </a:blip>
          <a:srcRect/>
          <a:stretch/>
        </p:blipFill>
        <p:spPr>
          <a:xfrm>
            <a:off x="3072618" y="4650842"/>
            <a:ext cx="313092" cy="134114"/>
          </a:xfrm>
          <a:prstGeom prst="rect">
            <a:avLst/>
          </a:prstGeom>
          <a:noFill/>
          <a:ln>
            <a:noFill/>
          </a:ln>
        </p:spPr>
      </p:pic>
      <p:pic>
        <p:nvPicPr>
          <p:cNvPr id="87" name="Google Shape;87;p13" descr="Logo&#10;&#10;Description automatically generated"/>
          <p:cNvPicPr preferRelativeResize="0"/>
          <p:nvPr/>
        </p:nvPicPr>
        <p:blipFill rotWithShape="1">
          <a:blip r:embed="rId22">
            <a:alphaModFix/>
          </a:blip>
          <a:srcRect t="36134"/>
          <a:stretch/>
        </p:blipFill>
        <p:spPr>
          <a:xfrm>
            <a:off x="467233" y="4650842"/>
            <a:ext cx="539012" cy="193669"/>
          </a:xfrm>
          <a:prstGeom prst="rect">
            <a:avLst/>
          </a:prstGeom>
          <a:noFill/>
          <a:ln>
            <a:noFill/>
          </a:ln>
        </p:spPr>
      </p:pic>
      <p:pic>
        <p:nvPicPr>
          <p:cNvPr id="88" name="Google Shape;88;p13" descr="Logo, company name&#10;&#10;Description automatically generated"/>
          <p:cNvPicPr preferRelativeResize="0"/>
          <p:nvPr/>
        </p:nvPicPr>
        <p:blipFill rotWithShape="1">
          <a:blip r:embed="rId23">
            <a:alphaModFix/>
          </a:blip>
          <a:srcRect l="28339" t="10" r="28334" b="-10"/>
          <a:stretch/>
        </p:blipFill>
        <p:spPr>
          <a:xfrm>
            <a:off x="458858" y="5020346"/>
            <a:ext cx="673589" cy="215188"/>
          </a:xfrm>
          <a:prstGeom prst="rect">
            <a:avLst/>
          </a:prstGeom>
          <a:noFill/>
          <a:ln>
            <a:noFill/>
          </a:ln>
        </p:spPr>
      </p:pic>
      <p:pic>
        <p:nvPicPr>
          <p:cNvPr id="89" name="Google Shape;89;p13" descr="Logo&#10;&#10;Description automatically generated"/>
          <p:cNvPicPr preferRelativeResize="0"/>
          <p:nvPr/>
        </p:nvPicPr>
        <p:blipFill rotWithShape="1">
          <a:blip r:embed="rId24">
            <a:alphaModFix/>
          </a:blip>
          <a:srcRect/>
          <a:stretch/>
        </p:blipFill>
        <p:spPr>
          <a:xfrm>
            <a:off x="3702480" y="4640258"/>
            <a:ext cx="728594" cy="141203"/>
          </a:xfrm>
          <a:prstGeom prst="rect">
            <a:avLst/>
          </a:prstGeom>
          <a:noFill/>
          <a:ln>
            <a:noFill/>
          </a:ln>
        </p:spPr>
      </p:pic>
      <p:pic>
        <p:nvPicPr>
          <p:cNvPr id="90" name="Google Shape;90;p13"/>
          <p:cNvPicPr preferRelativeResize="0"/>
          <p:nvPr/>
        </p:nvPicPr>
        <p:blipFill rotWithShape="1">
          <a:blip r:embed="rId25">
            <a:alphaModFix/>
          </a:blip>
          <a:srcRect/>
          <a:stretch/>
        </p:blipFill>
        <p:spPr>
          <a:xfrm>
            <a:off x="1301966" y="5076695"/>
            <a:ext cx="415804" cy="152722"/>
          </a:xfrm>
          <a:prstGeom prst="rect">
            <a:avLst/>
          </a:prstGeom>
          <a:noFill/>
          <a:ln>
            <a:noFill/>
          </a:ln>
        </p:spPr>
      </p:pic>
      <p:pic>
        <p:nvPicPr>
          <p:cNvPr id="91" name="Google Shape;91;p13"/>
          <p:cNvPicPr preferRelativeResize="0"/>
          <p:nvPr/>
        </p:nvPicPr>
        <p:blipFill rotWithShape="1">
          <a:blip r:embed="rId26">
            <a:alphaModFix/>
          </a:blip>
          <a:srcRect l="2079" t="-10" r="2079"/>
          <a:stretch/>
        </p:blipFill>
        <p:spPr>
          <a:xfrm>
            <a:off x="3072618" y="5026665"/>
            <a:ext cx="577852" cy="252763"/>
          </a:xfrm>
          <a:prstGeom prst="rect">
            <a:avLst/>
          </a:prstGeom>
          <a:noFill/>
          <a:ln>
            <a:noFill/>
          </a:ln>
        </p:spPr>
      </p:pic>
      <p:pic>
        <p:nvPicPr>
          <p:cNvPr id="92" name="Google Shape;92;p13"/>
          <p:cNvPicPr preferRelativeResize="0"/>
          <p:nvPr/>
        </p:nvPicPr>
        <p:blipFill rotWithShape="1">
          <a:blip r:embed="rId27">
            <a:alphaModFix/>
          </a:blip>
          <a:srcRect/>
          <a:stretch/>
        </p:blipFill>
        <p:spPr>
          <a:xfrm>
            <a:off x="2152862" y="4650842"/>
            <a:ext cx="602951" cy="78918"/>
          </a:xfrm>
          <a:prstGeom prst="rect">
            <a:avLst/>
          </a:prstGeom>
          <a:noFill/>
          <a:ln>
            <a:noFill/>
          </a:ln>
        </p:spPr>
      </p:pic>
      <p:pic>
        <p:nvPicPr>
          <p:cNvPr id="93" name="Google Shape;93;p13"/>
          <p:cNvPicPr preferRelativeResize="0"/>
          <p:nvPr/>
        </p:nvPicPr>
        <p:blipFill rotWithShape="1">
          <a:blip r:embed="rId28">
            <a:alphaModFix/>
          </a:blip>
          <a:srcRect/>
          <a:stretch/>
        </p:blipFill>
        <p:spPr>
          <a:xfrm>
            <a:off x="2152862" y="5073373"/>
            <a:ext cx="652263" cy="159359"/>
          </a:xfrm>
          <a:prstGeom prst="rect">
            <a:avLst/>
          </a:prstGeom>
          <a:noFill/>
          <a:ln>
            <a:noFill/>
          </a:ln>
        </p:spPr>
      </p:pic>
      <p:pic>
        <p:nvPicPr>
          <p:cNvPr id="94" name="Google Shape;94;p13"/>
          <p:cNvPicPr preferRelativeResize="0"/>
          <p:nvPr/>
        </p:nvPicPr>
        <p:blipFill rotWithShape="1">
          <a:blip r:embed="rId29">
            <a:alphaModFix/>
          </a:blip>
          <a:srcRect t="29903" b="29899"/>
          <a:stretch/>
        </p:blipFill>
        <p:spPr>
          <a:xfrm>
            <a:off x="1285216" y="4642587"/>
            <a:ext cx="652275" cy="145663"/>
          </a:xfrm>
          <a:prstGeom prst="rect">
            <a:avLst/>
          </a:prstGeom>
          <a:noFill/>
          <a:ln>
            <a:noFill/>
          </a:ln>
        </p:spPr>
      </p:pic>
      <p:sp>
        <p:nvSpPr>
          <p:cNvPr id="95" name="Google Shape;95;p13"/>
          <p:cNvSpPr/>
          <p:nvPr/>
        </p:nvSpPr>
        <p:spPr>
          <a:xfrm>
            <a:off x="1689300" y="411711"/>
            <a:ext cx="10500" cy="333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txBox="1"/>
          <p:nvPr/>
        </p:nvSpPr>
        <p:spPr>
          <a:xfrm>
            <a:off x="2832600" y="9687450"/>
            <a:ext cx="4020900" cy="370800"/>
          </a:xfrm>
          <a:prstGeom prst="rect">
            <a:avLst/>
          </a:prstGeom>
          <a:noFill/>
          <a:ln>
            <a:noFill/>
          </a:ln>
        </p:spPr>
        <p:txBody>
          <a:bodyPr spcFirstLastPara="1" wrap="square" lIns="0" tIns="0" rIns="0" bIns="0" anchor="ctr" anchorCtr="0">
            <a:noAutofit/>
          </a:bodyPr>
          <a:lstStyle/>
          <a:p>
            <a:pPr marL="12700" lvl="0" indent="0" algn="ctr" rtl="0">
              <a:spcBef>
                <a:spcPts val="95"/>
              </a:spcBef>
              <a:spcAft>
                <a:spcPts val="0"/>
              </a:spcAft>
              <a:buClr>
                <a:schemeClr val="dk1"/>
              </a:buClr>
              <a:buSzPts val="1100"/>
              <a:buFont typeface="Arial"/>
              <a:buNone/>
            </a:pPr>
            <a:r>
              <a:rPr lang="en" sz="800" b="1">
                <a:solidFill>
                  <a:schemeClr val="lt1"/>
                </a:solidFill>
                <a:uFill>
                  <a:noFill/>
                </a:uFill>
                <a:latin typeface="Montserrat"/>
                <a:ea typeface="Montserrat"/>
                <a:cs typeface="Montserrat"/>
                <a:sym typeface="Montserrat"/>
                <a:hlinkClick r:id="rId30">
                  <a:extLst>
                    <a:ext uri="{A12FA001-AC4F-418D-AE19-62706E023703}">
                      <ahyp:hlinkClr xmlns:ahyp="http://schemas.microsoft.com/office/drawing/2018/hyperlinkcolor" val="tx"/>
                    </a:ext>
                  </a:extLst>
                </a:hlinkClick>
              </a:rPr>
              <a:t>TheNICEHRGroup.com</a:t>
            </a:r>
            <a:r>
              <a:rPr lang="en" sz="800" b="1">
                <a:solidFill>
                  <a:schemeClr val="lt1"/>
                </a:solidFill>
                <a:latin typeface="Montserrat"/>
                <a:ea typeface="Montserrat"/>
                <a:cs typeface="Montserrat"/>
                <a:sym typeface="Montserrat"/>
              </a:rPr>
              <a:t>    ·     212-203-3513    ·    info@thenicehrgroup.com</a:t>
            </a:r>
            <a:endParaRPr sz="800" b="1">
              <a:solidFill>
                <a:schemeClr val="l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578</Words>
  <Application>Microsoft Macintosh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Montserrat ExtraBold</vt:lpstr>
      <vt:lpstr>Montserrat</vt:lpstr>
      <vt:lpstr>Montserrat Medium</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RAFAEL RODRIGUEZ</cp:lastModifiedBy>
  <cp:revision>1</cp:revision>
  <dcterms:modified xsi:type="dcterms:W3CDTF">2025-12-21T04:26:09Z</dcterms:modified>
</cp:coreProperties>
</file>