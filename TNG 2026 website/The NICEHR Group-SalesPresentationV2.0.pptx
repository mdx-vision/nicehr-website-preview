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1" i="0">
                <a:solidFill>
                  <a:srgbClr val="5EBEBB"/>
                </a:solidFill>
                <a:latin typeface="Montserrat"/>
                <a:cs typeface="Montserra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1" i="0">
                <a:solidFill>
                  <a:srgbClr val="5EBEBB"/>
                </a:solidFill>
                <a:latin typeface="Montserrat"/>
                <a:cs typeface="Montserra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Montserrat"/>
                <a:cs typeface="Montserrat"/>
              </a:defRPr>
            </a:lvl1pPr>
          </a:lstStyle>
          <a:p>
            <a:pPr marL="127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rgbClr val="5EBEBB"/>
                </a:solidFill>
                <a:latin typeface="Montserrat"/>
                <a:cs typeface="Montserra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300" b="1" i="0">
                <a:solidFill>
                  <a:srgbClr val="5EBEBB"/>
                </a:solidFill>
                <a:latin typeface="Montserrat"/>
                <a:cs typeface="Montserra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Montserrat"/>
                <a:cs typeface="Montserrat"/>
              </a:defRPr>
            </a:lvl1pPr>
          </a:lstStyle>
          <a:p>
            <a:pPr marL="127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rgbClr val="5EBEBB"/>
                </a:solidFill>
                <a:latin typeface="Montserrat"/>
                <a:cs typeface="Montserra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Montserrat"/>
                <a:cs typeface="Montserrat"/>
              </a:defRPr>
            </a:lvl1pPr>
          </a:lstStyle>
          <a:p>
            <a:pPr marL="127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016549" y="6341600"/>
            <a:ext cx="10159365" cy="9525"/>
          </a:xfrm>
          <a:custGeom>
            <a:avLst/>
            <a:gdLst/>
            <a:ahLst/>
            <a:cxnLst/>
            <a:rect l="l" t="t" r="r" b="b"/>
            <a:pathLst>
              <a:path w="10159365" h="9525">
                <a:moveTo>
                  <a:pt x="10158899" y="8999"/>
                </a:moveTo>
                <a:lnTo>
                  <a:pt x="0" y="8999"/>
                </a:lnTo>
                <a:lnTo>
                  <a:pt x="0" y="0"/>
                </a:lnTo>
                <a:lnTo>
                  <a:pt x="10158899" y="0"/>
                </a:lnTo>
                <a:lnTo>
                  <a:pt x="10158899" y="8999"/>
                </a:lnTo>
                <a:close/>
              </a:path>
            </a:pathLst>
          </a:custGeom>
          <a:solidFill>
            <a:srgbClr val="5EB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rgbClr val="5EBEBB"/>
                </a:solidFill>
                <a:latin typeface="Montserrat"/>
                <a:cs typeface="Montserra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Montserrat"/>
                <a:cs typeface="Montserrat"/>
              </a:defRPr>
            </a:lvl1pPr>
          </a:lstStyle>
          <a:p>
            <a:pPr marL="127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131A2E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95527" y="6515236"/>
            <a:ext cx="800945" cy="169199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1016549" y="6341600"/>
            <a:ext cx="10159365" cy="9525"/>
          </a:xfrm>
          <a:custGeom>
            <a:avLst/>
            <a:gdLst/>
            <a:ahLst/>
            <a:cxnLst/>
            <a:rect l="l" t="t" r="r" b="b"/>
            <a:pathLst>
              <a:path w="10159365" h="9525">
                <a:moveTo>
                  <a:pt x="10158899" y="8999"/>
                </a:moveTo>
                <a:lnTo>
                  <a:pt x="0" y="8999"/>
                </a:lnTo>
                <a:lnTo>
                  <a:pt x="0" y="0"/>
                </a:lnTo>
                <a:lnTo>
                  <a:pt x="10158899" y="0"/>
                </a:lnTo>
                <a:lnTo>
                  <a:pt x="10158899" y="8999"/>
                </a:lnTo>
                <a:close/>
              </a:path>
            </a:pathLst>
          </a:custGeom>
          <a:solidFill>
            <a:srgbClr val="5EBEB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2647"/>
            <a:ext cx="12192000" cy="6855352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8975" y="8974"/>
            <a:ext cx="12183110" cy="6849109"/>
          </a:xfrm>
          <a:custGeom>
            <a:avLst/>
            <a:gdLst/>
            <a:ahLst/>
            <a:cxnLst/>
            <a:rect l="l" t="t" r="r" b="b"/>
            <a:pathLst>
              <a:path w="12183110" h="6849109">
                <a:moveTo>
                  <a:pt x="0" y="6849024"/>
                </a:moveTo>
                <a:lnTo>
                  <a:pt x="0" y="0"/>
                </a:lnTo>
                <a:lnTo>
                  <a:pt x="12183024" y="0"/>
                </a:lnTo>
                <a:lnTo>
                  <a:pt x="12183024" y="6849024"/>
                </a:lnTo>
                <a:lnTo>
                  <a:pt x="0" y="6849024"/>
                </a:lnTo>
                <a:close/>
              </a:path>
            </a:pathLst>
          </a:custGeom>
          <a:solidFill>
            <a:srgbClr val="222A42">
              <a:alpha val="60391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8975" y="8974"/>
            <a:ext cx="12183110" cy="6849109"/>
          </a:xfrm>
          <a:custGeom>
            <a:avLst/>
            <a:gdLst/>
            <a:ahLst/>
            <a:cxnLst/>
            <a:rect l="l" t="t" r="r" b="b"/>
            <a:pathLst>
              <a:path w="12183110" h="6849109">
                <a:moveTo>
                  <a:pt x="0" y="6849024"/>
                </a:moveTo>
                <a:lnTo>
                  <a:pt x="0" y="0"/>
                </a:lnTo>
                <a:lnTo>
                  <a:pt x="12183024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Montserrat"/>
                <a:cs typeface="Montserrat"/>
              </a:defRPr>
            </a:lvl1pPr>
          </a:lstStyle>
          <a:p>
            <a:pPr marL="127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131A2E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695527" y="6515236"/>
            <a:ext cx="800945" cy="1691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81075" y="687425"/>
            <a:ext cx="6714248" cy="678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1" i="0">
                <a:solidFill>
                  <a:srgbClr val="5EBEBB"/>
                </a:solidFill>
                <a:latin typeface="Montserrat"/>
                <a:cs typeface="Montserra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95524" y="1519396"/>
            <a:ext cx="7374890" cy="36125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1" i="0">
                <a:solidFill>
                  <a:srgbClr val="5EBEBB"/>
                </a:solidFill>
                <a:latin typeface="Montserrat"/>
                <a:cs typeface="Montserra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617661" y="6513430"/>
            <a:ext cx="131445" cy="1670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bg1"/>
                </a:solidFill>
                <a:latin typeface="Montserrat"/>
                <a:cs typeface="Montserrat"/>
              </a:defRPr>
            </a:lvl1pPr>
          </a:lstStyle>
          <a:p>
            <a:pPr marL="127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image" Target="../media/image1.png"/><Relationship Id="rId5" Type="http://schemas.openxmlformats.org/officeDocument/2006/relationships/image" Target="../media/image19.png"/><Relationship Id="rId6" Type="http://schemas.openxmlformats.org/officeDocument/2006/relationships/image" Target="../media/image20.jpg"/><Relationship Id="rId7" Type="http://schemas.openxmlformats.org/officeDocument/2006/relationships/image" Target="../media/image21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2.jpg"/><Relationship Id="rId3" Type="http://schemas.openxmlformats.org/officeDocument/2006/relationships/image" Target="../media/image23.jpg"/><Relationship Id="rId4" Type="http://schemas.openxmlformats.org/officeDocument/2006/relationships/image" Target="../media/image24.jpg"/><Relationship Id="rId5" Type="http://schemas.openxmlformats.org/officeDocument/2006/relationships/image" Target="../media/image25.jpg"/><Relationship Id="rId6" Type="http://schemas.openxmlformats.org/officeDocument/2006/relationships/image" Target="../media/image26.jpg"/><Relationship Id="rId7" Type="http://schemas.openxmlformats.org/officeDocument/2006/relationships/image" Target="../media/image27.jpg"/><Relationship Id="rId8" Type="http://schemas.openxmlformats.org/officeDocument/2006/relationships/image" Target="../media/image28.jpg"/><Relationship Id="rId9" Type="http://schemas.openxmlformats.org/officeDocument/2006/relationships/image" Target="../media/image29.jpg"/><Relationship Id="rId10" Type="http://schemas.openxmlformats.org/officeDocument/2006/relationships/image" Target="../media/image30.jpg"/><Relationship Id="rId11" Type="http://schemas.openxmlformats.org/officeDocument/2006/relationships/image" Target="../media/image31.png"/><Relationship Id="rId12" Type="http://schemas.openxmlformats.org/officeDocument/2006/relationships/image" Target="../media/image32.jpg"/><Relationship Id="rId13" Type="http://schemas.openxmlformats.org/officeDocument/2006/relationships/image" Target="../media/image33.png"/><Relationship Id="rId14" Type="http://schemas.openxmlformats.org/officeDocument/2006/relationships/image" Target="../media/image34.jpg"/><Relationship Id="rId15" Type="http://schemas.openxmlformats.org/officeDocument/2006/relationships/image" Target="../media/image35.jpg"/><Relationship Id="rId16" Type="http://schemas.openxmlformats.org/officeDocument/2006/relationships/image" Target="../media/image36.jpg"/><Relationship Id="rId17" Type="http://schemas.openxmlformats.org/officeDocument/2006/relationships/image" Target="../media/image37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1.png"/><Relationship Id="rId3" Type="http://schemas.openxmlformats.org/officeDocument/2006/relationships/image" Target="../media/image38.png"/><Relationship Id="rId4" Type="http://schemas.openxmlformats.org/officeDocument/2006/relationships/image" Target="../media/image39.jpg"/><Relationship Id="rId5" Type="http://schemas.openxmlformats.org/officeDocument/2006/relationships/image" Target="../media/image40.jp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image" Target="../media/image43.png"/><Relationship Id="rId9" Type="http://schemas.openxmlformats.org/officeDocument/2006/relationships/image" Target="../media/image44.png"/><Relationship Id="rId10" Type="http://schemas.openxmlformats.org/officeDocument/2006/relationships/image" Target="../media/image45.png"/><Relationship Id="rId11" Type="http://schemas.openxmlformats.org/officeDocument/2006/relationships/image" Target="../media/image46.jpg"/><Relationship Id="rId12" Type="http://schemas.openxmlformats.org/officeDocument/2006/relationships/image" Target="../media/image47.png"/><Relationship Id="rId13" Type="http://schemas.openxmlformats.org/officeDocument/2006/relationships/image" Target="../media/image48.jpg"/><Relationship Id="rId14" Type="http://schemas.openxmlformats.org/officeDocument/2006/relationships/image" Target="../media/image49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521504" y="4270443"/>
            <a:ext cx="3150235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000" spc="-20" b="1">
                <a:solidFill>
                  <a:srgbClr val="FFFFFF"/>
                </a:solidFill>
                <a:latin typeface="Montserrat"/>
                <a:cs typeface="Montserrat"/>
              </a:rPr>
              <a:t>CONSULTANT</a:t>
            </a:r>
            <a:r>
              <a:rPr dirty="0" sz="1000" spc="-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000" spc="-10" b="1">
                <a:solidFill>
                  <a:srgbClr val="FFFFFF"/>
                </a:solidFill>
                <a:latin typeface="Montserrat"/>
                <a:cs typeface="Montserrat"/>
              </a:rPr>
              <a:t>OWNED</a:t>
            </a:r>
            <a:r>
              <a:rPr dirty="0" sz="1000" b="1">
                <a:solidFill>
                  <a:srgbClr val="FFFFFF"/>
                </a:solidFill>
                <a:latin typeface="Montserrat"/>
                <a:cs typeface="Montserrat"/>
              </a:rPr>
              <a:t> &amp; </a:t>
            </a:r>
            <a:r>
              <a:rPr dirty="0" sz="1000" spc="-10" b="1">
                <a:solidFill>
                  <a:srgbClr val="FFFFFF"/>
                </a:solidFill>
                <a:latin typeface="Montserrat"/>
                <a:cs typeface="Montserrat"/>
              </a:rPr>
              <a:t>OPERATED</a:t>
            </a:r>
            <a:r>
              <a:rPr dirty="0" sz="100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000" spc="-10" b="1">
                <a:solidFill>
                  <a:srgbClr val="FFFFFF"/>
                </a:solidFill>
                <a:latin typeface="Montserrat"/>
                <a:cs typeface="Montserrat"/>
              </a:rPr>
              <a:t>NETWORK</a:t>
            </a:r>
            <a:endParaRPr sz="1000">
              <a:latin typeface="Montserrat"/>
              <a:cs typeface="Montserrat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1000">
              <a:latin typeface="Montserrat"/>
              <a:cs typeface="Montserrat"/>
            </a:endParaRPr>
          </a:p>
          <a:p>
            <a:pPr algn="ctr">
              <a:lnSpc>
                <a:spcPct val="100000"/>
              </a:lnSpc>
            </a:pPr>
            <a:r>
              <a:rPr dirty="0" sz="1000">
                <a:solidFill>
                  <a:srgbClr val="FFFFFF"/>
                </a:solidFill>
                <a:latin typeface="Montserrat"/>
                <a:cs typeface="Montserrat"/>
              </a:rPr>
              <a:t>J</a:t>
            </a:r>
            <a:r>
              <a:rPr dirty="0" sz="1000" spc="-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FFFFFF"/>
                </a:solidFill>
                <a:latin typeface="Montserrat"/>
                <a:cs typeface="Montserrat"/>
              </a:rPr>
              <a:t>U L Y</a:t>
            </a:r>
            <a:r>
              <a:rPr dirty="0" sz="1000" spc="125">
                <a:solidFill>
                  <a:srgbClr val="FFFFFF"/>
                </a:solidFill>
                <a:latin typeface="Montserrat"/>
                <a:cs typeface="Montserrat"/>
              </a:rPr>
              <a:t>  </a:t>
            </a:r>
            <a:r>
              <a:rPr dirty="0" sz="1000">
                <a:solidFill>
                  <a:srgbClr val="FFFFFF"/>
                </a:solidFill>
                <a:latin typeface="Montserrat"/>
                <a:cs typeface="Montserrat"/>
              </a:rPr>
              <a:t>2</a:t>
            </a:r>
            <a:r>
              <a:rPr dirty="0" sz="1000" spc="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FFFFFF"/>
                </a:solidFill>
                <a:latin typeface="Montserrat"/>
                <a:cs typeface="Montserrat"/>
              </a:rPr>
              <a:t>0 2</a:t>
            </a:r>
            <a:r>
              <a:rPr dirty="0" sz="1000" spc="-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000" spc="-50">
                <a:solidFill>
                  <a:srgbClr val="FFFFFF"/>
                </a:solidFill>
                <a:latin typeface="Montserrat"/>
                <a:cs typeface="Montserrat"/>
              </a:rPr>
              <a:t>3</a:t>
            </a:r>
            <a:endParaRPr sz="1000">
              <a:latin typeface="Montserrat"/>
              <a:cs typeface="Montserrat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016549" y="2513262"/>
            <a:ext cx="10159365" cy="1496695"/>
            <a:chOff x="1016549" y="2513262"/>
            <a:chExt cx="10159365" cy="149669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16160" y="2513262"/>
              <a:ext cx="2665602" cy="563099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1016549" y="4000500"/>
              <a:ext cx="10159365" cy="9525"/>
            </a:xfrm>
            <a:custGeom>
              <a:avLst/>
              <a:gdLst/>
              <a:ahLst/>
              <a:cxnLst/>
              <a:rect l="l" t="t" r="r" b="b"/>
              <a:pathLst>
                <a:path w="10159365" h="9525">
                  <a:moveTo>
                    <a:pt x="10158899" y="8999"/>
                  </a:moveTo>
                  <a:lnTo>
                    <a:pt x="0" y="8999"/>
                  </a:lnTo>
                  <a:lnTo>
                    <a:pt x="0" y="0"/>
                  </a:lnTo>
                  <a:lnTo>
                    <a:pt x="10158899" y="0"/>
                  </a:lnTo>
                  <a:lnTo>
                    <a:pt x="10158899" y="8999"/>
                  </a:lnTo>
                  <a:close/>
                </a:path>
              </a:pathLst>
            </a:custGeom>
            <a:solidFill>
              <a:srgbClr val="5EBEB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4210194" y="3383603"/>
            <a:ext cx="950594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N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A</a:t>
            </a:r>
            <a:r>
              <a:rPr dirty="0" sz="900" spc="-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T</a:t>
            </a:r>
            <a:r>
              <a:rPr dirty="0" sz="900" spc="24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I</a:t>
            </a:r>
            <a:r>
              <a:rPr dirty="0" sz="900" spc="24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O</a:t>
            </a:r>
            <a:r>
              <a:rPr dirty="0" sz="900" spc="-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N</a:t>
            </a:r>
            <a:r>
              <a:rPr dirty="0" sz="900" spc="-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A</a:t>
            </a:r>
            <a:r>
              <a:rPr dirty="0" sz="900" spc="-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spc="-50" b="1">
                <a:solidFill>
                  <a:srgbClr val="FFFFFF"/>
                </a:solidFill>
                <a:latin typeface="Montserrat"/>
                <a:cs typeface="Montserrat"/>
              </a:rPr>
              <a:t>L</a:t>
            </a:r>
            <a:endParaRPr sz="900">
              <a:latin typeface="Montserrat"/>
              <a:cs typeface="Montserrat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 spc="-25"/>
              <a:t>13</a:t>
            </a:fld>
          </a:p>
        </p:txBody>
      </p:sp>
      <p:sp>
        <p:nvSpPr>
          <p:cNvPr id="7" name="object 7" descr=""/>
          <p:cNvSpPr txBox="1"/>
          <p:nvPr/>
        </p:nvSpPr>
        <p:spPr>
          <a:xfrm>
            <a:off x="5328849" y="3383603"/>
            <a:ext cx="12369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I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N</a:t>
            </a:r>
            <a:r>
              <a:rPr dirty="0" sz="900" spc="-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D</a:t>
            </a:r>
            <a:r>
              <a:rPr dirty="0" sz="900" spc="-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E</a:t>
            </a:r>
            <a:r>
              <a:rPr dirty="0" sz="900" spc="-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P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E</a:t>
            </a:r>
            <a:r>
              <a:rPr dirty="0" sz="900" spc="-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N</a:t>
            </a:r>
            <a:r>
              <a:rPr dirty="0" sz="900" spc="-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D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E</a:t>
            </a:r>
            <a:r>
              <a:rPr dirty="0" sz="900" spc="-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N</a:t>
            </a:r>
            <a:r>
              <a:rPr dirty="0" sz="900" spc="-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spc="-50" b="1">
                <a:solidFill>
                  <a:srgbClr val="FFFFFF"/>
                </a:solidFill>
                <a:latin typeface="Montserrat"/>
                <a:cs typeface="Montserrat"/>
              </a:rPr>
              <a:t>T</a:t>
            </a:r>
            <a:endParaRPr sz="900">
              <a:latin typeface="Montserrat"/>
              <a:cs typeface="Montserra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734168" y="3383603"/>
            <a:ext cx="12477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C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O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N</a:t>
            </a:r>
            <a:r>
              <a:rPr dirty="0" sz="900" spc="-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S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U</a:t>
            </a:r>
            <a:r>
              <a:rPr dirty="0" sz="900" spc="-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L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T</a:t>
            </a:r>
            <a:r>
              <a:rPr dirty="0" sz="900" spc="-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A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N</a:t>
            </a:r>
            <a:r>
              <a:rPr dirty="0" sz="900" spc="-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T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spc="-50" b="1">
                <a:solidFill>
                  <a:srgbClr val="FFFFFF"/>
                </a:solidFill>
                <a:latin typeface="Montserrat"/>
                <a:cs typeface="Montserrat"/>
              </a:rPr>
              <a:t>S</a:t>
            </a:r>
            <a:endParaRPr sz="900">
              <a:latin typeface="Montserrat"/>
              <a:cs typeface="Montserra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474172" y="3589342"/>
            <a:ext cx="148399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8305" algn="l"/>
              </a:tabLst>
            </a:pP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O</a:t>
            </a:r>
            <a:r>
              <a:rPr dirty="0" sz="900" spc="-1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spc="-60" b="1">
                <a:solidFill>
                  <a:srgbClr val="FFFFFF"/>
                </a:solidFill>
                <a:latin typeface="Montserrat"/>
                <a:cs typeface="Montserrat"/>
              </a:rPr>
              <a:t>F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	E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L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E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C</a:t>
            </a:r>
            <a:r>
              <a:rPr dirty="0" sz="900" spc="-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T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R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O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N</a:t>
            </a:r>
            <a:r>
              <a:rPr dirty="0" sz="900" spc="-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I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spc="-50" b="1">
                <a:solidFill>
                  <a:srgbClr val="FFFFFF"/>
                </a:solidFill>
                <a:latin typeface="Montserrat"/>
                <a:cs typeface="Montserrat"/>
              </a:rPr>
              <a:t>C</a:t>
            </a:r>
            <a:endParaRPr sz="900">
              <a:latin typeface="Montserrat"/>
              <a:cs typeface="Montserra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093918" y="3589342"/>
            <a:ext cx="16243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24230" algn="l"/>
              </a:tabLst>
            </a:pP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H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E</a:t>
            </a:r>
            <a:r>
              <a:rPr dirty="0" sz="900" spc="-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A</a:t>
            </a:r>
            <a:r>
              <a:rPr dirty="0" sz="900" spc="-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L</a:t>
            </a:r>
            <a:r>
              <a:rPr dirty="0" sz="900" spc="-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T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spc="-50" b="1">
                <a:solidFill>
                  <a:srgbClr val="FFFFFF"/>
                </a:solidFill>
                <a:latin typeface="Montserrat"/>
                <a:cs typeface="Montserrat"/>
              </a:rPr>
              <a:t>H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	R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E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C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O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R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D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spc="-50" b="1">
                <a:solidFill>
                  <a:srgbClr val="FFFFFF"/>
                </a:solidFill>
                <a:latin typeface="Montserrat"/>
                <a:cs typeface="Montserrat"/>
              </a:rPr>
              <a:t>S</a:t>
            </a:r>
            <a:endParaRPr sz="900">
              <a:latin typeface="Montserrat"/>
              <a:cs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43524" y="6333075"/>
            <a:ext cx="10297795" cy="525145"/>
            <a:chOff x="943524" y="6333075"/>
            <a:chExt cx="10297795" cy="525145"/>
          </a:xfrm>
        </p:grpSpPr>
        <p:sp>
          <p:nvSpPr>
            <p:cNvPr id="3" name="object 3" descr=""/>
            <p:cNvSpPr/>
            <p:nvPr/>
          </p:nvSpPr>
          <p:spPr>
            <a:xfrm>
              <a:off x="1016549" y="6341600"/>
              <a:ext cx="10159365" cy="9525"/>
            </a:xfrm>
            <a:custGeom>
              <a:avLst/>
              <a:gdLst/>
              <a:ahLst/>
              <a:cxnLst/>
              <a:rect l="l" t="t" r="r" b="b"/>
              <a:pathLst>
                <a:path w="10159365" h="9525">
                  <a:moveTo>
                    <a:pt x="10158899" y="8999"/>
                  </a:moveTo>
                  <a:lnTo>
                    <a:pt x="0" y="8999"/>
                  </a:lnTo>
                  <a:lnTo>
                    <a:pt x="0" y="0"/>
                  </a:lnTo>
                  <a:lnTo>
                    <a:pt x="10158899" y="0"/>
                  </a:lnTo>
                  <a:lnTo>
                    <a:pt x="10158899" y="8999"/>
                  </a:lnTo>
                  <a:close/>
                </a:path>
              </a:pathLst>
            </a:custGeom>
            <a:solidFill>
              <a:srgbClr val="5EBE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943524" y="6333075"/>
              <a:ext cx="10297795" cy="525145"/>
            </a:xfrm>
            <a:custGeom>
              <a:avLst/>
              <a:gdLst/>
              <a:ahLst/>
              <a:cxnLst/>
              <a:rect l="l" t="t" r="r" b="b"/>
              <a:pathLst>
                <a:path w="10297795" h="525145">
                  <a:moveTo>
                    <a:pt x="10297799" y="524999"/>
                  </a:moveTo>
                  <a:lnTo>
                    <a:pt x="0" y="524999"/>
                  </a:lnTo>
                  <a:lnTo>
                    <a:pt x="0" y="0"/>
                  </a:lnTo>
                  <a:lnTo>
                    <a:pt x="10297799" y="0"/>
                  </a:lnTo>
                  <a:lnTo>
                    <a:pt x="10297799" y="524999"/>
                  </a:lnTo>
                  <a:close/>
                </a:path>
              </a:pathLst>
            </a:custGeom>
            <a:solidFill>
              <a:srgbClr val="121A2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7305" rIns="0" bIns="0" rtlCol="0" vert="horz">
            <a:spAutoFit/>
          </a:bodyPr>
          <a:lstStyle/>
          <a:p>
            <a:pPr marL="37465" marR="5080">
              <a:lnSpc>
                <a:spcPts val="2480"/>
              </a:lnSpc>
              <a:spcBef>
                <a:spcPts val="215"/>
              </a:spcBef>
            </a:pPr>
            <a:r>
              <a:rPr dirty="0"/>
              <a:t>WE</a:t>
            </a:r>
            <a:r>
              <a:rPr dirty="0" spc="-20"/>
              <a:t> </a:t>
            </a:r>
            <a:r>
              <a:rPr dirty="0"/>
              <a:t>ARE</a:t>
            </a:r>
            <a:r>
              <a:rPr dirty="0" spc="-20"/>
              <a:t> </a:t>
            </a:r>
            <a:r>
              <a:rPr dirty="0"/>
              <a:t>the</a:t>
            </a:r>
            <a:r>
              <a:rPr dirty="0" spc="-15"/>
              <a:t> </a:t>
            </a:r>
            <a:r>
              <a:rPr dirty="0"/>
              <a:t>healthcare</a:t>
            </a:r>
            <a:r>
              <a:rPr dirty="0" spc="-20"/>
              <a:t> </a:t>
            </a:r>
            <a:r>
              <a:rPr dirty="0"/>
              <a:t>IT</a:t>
            </a:r>
            <a:r>
              <a:rPr dirty="0" spc="-20"/>
              <a:t> </a:t>
            </a:r>
            <a:r>
              <a:rPr dirty="0"/>
              <a:t>consulting</a:t>
            </a:r>
            <a:r>
              <a:rPr dirty="0" spc="-15"/>
              <a:t> </a:t>
            </a:r>
            <a:r>
              <a:rPr dirty="0" spc="-25"/>
              <a:t>ﬁrm </a:t>
            </a:r>
            <a:r>
              <a:rPr dirty="0"/>
              <a:t>simplifying</a:t>
            </a:r>
            <a:r>
              <a:rPr dirty="0" spc="-40"/>
              <a:t> </a:t>
            </a:r>
            <a:r>
              <a:rPr dirty="0"/>
              <a:t>&amp;</a:t>
            </a:r>
            <a:r>
              <a:rPr dirty="0" spc="-35"/>
              <a:t> </a:t>
            </a:r>
            <a:r>
              <a:rPr dirty="0" spc="-10"/>
              <a:t>revolutionizing</a:t>
            </a:r>
            <a:r>
              <a:rPr dirty="0" spc="-35"/>
              <a:t> </a:t>
            </a:r>
            <a:r>
              <a:rPr dirty="0"/>
              <a:t>the</a:t>
            </a:r>
            <a:r>
              <a:rPr dirty="0" spc="-35"/>
              <a:t> </a:t>
            </a:r>
            <a:r>
              <a:rPr dirty="0" spc="-10"/>
              <a:t>industry.</a:t>
            </a: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9106" y="5425176"/>
            <a:ext cx="1748238" cy="369299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1006475" y="5955866"/>
            <a:ext cx="53594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66165" algn="l"/>
                <a:tab pos="2471420" algn="l"/>
                <a:tab pos="3888104" algn="l"/>
                <a:tab pos="4283710" algn="l"/>
              </a:tabLst>
            </a:pP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N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A</a:t>
            </a:r>
            <a:r>
              <a:rPr dirty="0" sz="900" spc="-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T</a:t>
            </a:r>
            <a:r>
              <a:rPr dirty="0" sz="900" spc="-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I</a:t>
            </a:r>
            <a:r>
              <a:rPr dirty="0" sz="900" spc="-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O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N</a:t>
            </a:r>
            <a:r>
              <a:rPr dirty="0" sz="900" spc="-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A</a:t>
            </a:r>
            <a:r>
              <a:rPr dirty="0" sz="900" spc="-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spc="-50" b="1">
                <a:solidFill>
                  <a:srgbClr val="FFFFFF"/>
                </a:solidFill>
                <a:latin typeface="Montserrat"/>
                <a:cs typeface="Montserrat"/>
              </a:rPr>
              <a:t>L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	I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N</a:t>
            </a:r>
            <a:r>
              <a:rPr dirty="0" sz="900" spc="-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D</a:t>
            </a:r>
            <a:r>
              <a:rPr dirty="0" sz="900" spc="-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E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P</a:t>
            </a:r>
            <a:r>
              <a:rPr dirty="0" sz="900" spc="-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E</a:t>
            </a:r>
            <a:r>
              <a:rPr dirty="0" sz="900" spc="-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N</a:t>
            </a:r>
            <a:r>
              <a:rPr dirty="0" sz="900" spc="-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D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E</a:t>
            </a:r>
            <a:r>
              <a:rPr dirty="0" sz="900" spc="-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N</a:t>
            </a:r>
            <a:r>
              <a:rPr dirty="0" sz="900" spc="-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spc="-50" b="1">
                <a:solidFill>
                  <a:srgbClr val="FFFFFF"/>
                </a:solidFill>
                <a:latin typeface="Montserrat"/>
                <a:cs typeface="Montserrat"/>
              </a:rPr>
              <a:t>T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	C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O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N</a:t>
            </a:r>
            <a:r>
              <a:rPr dirty="0" sz="900" spc="-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S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U</a:t>
            </a:r>
            <a:r>
              <a:rPr dirty="0" sz="900" spc="-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L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T</a:t>
            </a:r>
            <a:r>
              <a:rPr dirty="0" sz="900" spc="-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A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N</a:t>
            </a:r>
            <a:r>
              <a:rPr dirty="0" sz="900" spc="-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T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spc="-50" b="1">
                <a:solidFill>
                  <a:srgbClr val="FFFFFF"/>
                </a:solidFill>
                <a:latin typeface="Montserrat"/>
                <a:cs typeface="Montserrat"/>
              </a:rPr>
              <a:t>S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	O</a:t>
            </a:r>
            <a:r>
              <a:rPr dirty="0" sz="900" spc="-1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spc="-50" b="1">
                <a:solidFill>
                  <a:srgbClr val="FFFFFF"/>
                </a:solidFill>
                <a:latin typeface="Montserrat"/>
                <a:cs typeface="Montserrat"/>
              </a:rPr>
              <a:t>F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	E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L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E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C</a:t>
            </a:r>
            <a:r>
              <a:rPr dirty="0" sz="900" spc="-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T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R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O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N</a:t>
            </a:r>
            <a:r>
              <a:rPr dirty="0" sz="900" spc="-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I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spc="-50" b="1">
                <a:solidFill>
                  <a:srgbClr val="FFFFFF"/>
                </a:solidFill>
                <a:latin typeface="Montserrat"/>
                <a:cs typeface="Montserrat"/>
              </a:rPr>
              <a:t>C</a:t>
            </a:r>
            <a:endParaRPr sz="900">
              <a:latin typeface="Montserrat"/>
              <a:cs typeface="Montserrat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 spc="-25"/>
              <a:t>13</a:t>
            </a:fld>
          </a:p>
        </p:txBody>
      </p:sp>
      <p:sp>
        <p:nvSpPr>
          <p:cNvPr id="8" name="object 8" descr=""/>
          <p:cNvSpPr txBox="1"/>
          <p:nvPr/>
        </p:nvSpPr>
        <p:spPr>
          <a:xfrm>
            <a:off x="6501790" y="5955866"/>
            <a:ext cx="6762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H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E</a:t>
            </a:r>
            <a:r>
              <a:rPr dirty="0" sz="900" spc="-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A</a:t>
            </a:r>
            <a:r>
              <a:rPr dirty="0" sz="900" spc="-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L</a:t>
            </a:r>
            <a:r>
              <a:rPr dirty="0" sz="900" spc="-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T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spc="-50" b="1">
                <a:solidFill>
                  <a:srgbClr val="FFFFFF"/>
                </a:solidFill>
                <a:latin typeface="Montserrat"/>
                <a:cs typeface="Montserrat"/>
              </a:rPr>
              <a:t>H</a:t>
            </a:r>
            <a:endParaRPr sz="900">
              <a:latin typeface="Montserrat"/>
              <a:cs typeface="Montserra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7313892" y="5955866"/>
            <a:ext cx="81216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R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E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C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O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R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D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spc="-50" b="1">
                <a:solidFill>
                  <a:srgbClr val="FFFFFF"/>
                </a:solidFill>
                <a:latin typeface="Montserrat"/>
                <a:cs typeface="Montserrat"/>
              </a:rPr>
              <a:t>S</a:t>
            </a:r>
            <a:endParaRPr sz="900">
              <a:latin typeface="Montserrat"/>
              <a:cs typeface="Montserra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006475" y="1505083"/>
            <a:ext cx="10140950" cy="27247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At</a:t>
            </a:r>
            <a:r>
              <a:rPr dirty="0" sz="1400" spc="-30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The</a:t>
            </a:r>
            <a:r>
              <a:rPr dirty="0" sz="1400" spc="-25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NICEHR</a:t>
            </a:r>
            <a:r>
              <a:rPr dirty="0" sz="1400" spc="-25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Group,</a:t>
            </a:r>
            <a:r>
              <a:rPr dirty="0" sz="1400" spc="-25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we</a:t>
            </a:r>
            <a:r>
              <a:rPr dirty="0" sz="1400" spc="-25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hold</a:t>
            </a:r>
            <a:r>
              <a:rPr dirty="0" sz="1400" spc="-25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a</a:t>
            </a:r>
            <a:r>
              <a:rPr dirty="0" sz="1400" spc="-25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deep</a:t>
            </a:r>
            <a:r>
              <a:rPr dirty="0" sz="1400" spc="-25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sense</a:t>
            </a:r>
            <a:r>
              <a:rPr dirty="0" sz="1400" spc="-25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of</a:t>
            </a:r>
            <a:r>
              <a:rPr dirty="0" sz="1400" spc="-30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pride</a:t>
            </a:r>
            <a:r>
              <a:rPr dirty="0" sz="1400" spc="-25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in</a:t>
            </a:r>
            <a:r>
              <a:rPr dirty="0" sz="1400" spc="-25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our</a:t>
            </a:r>
            <a:r>
              <a:rPr dirty="0" sz="1400" spc="-25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assemblage</a:t>
            </a:r>
            <a:r>
              <a:rPr dirty="0" sz="1400" spc="-25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of</a:t>
            </a:r>
            <a:r>
              <a:rPr dirty="0" sz="1400" spc="-25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 spc="-10">
                <a:solidFill>
                  <a:srgbClr val="DEF1F1"/>
                </a:solidFill>
                <a:latin typeface="Montserrat"/>
                <a:cs typeface="Montserrat"/>
              </a:rPr>
              <a:t>savants</a:t>
            </a:r>
            <a:r>
              <a:rPr dirty="0" sz="1400" spc="-25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who</a:t>
            </a:r>
            <a:r>
              <a:rPr dirty="0" sz="1400" spc="-25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are</a:t>
            </a:r>
            <a:r>
              <a:rPr dirty="0" sz="1400" spc="-25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veritably</a:t>
            </a:r>
            <a:r>
              <a:rPr dirty="0" sz="1400" spc="-25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adept</a:t>
            </a:r>
            <a:r>
              <a:rPr dirty="0" sz="1400" spc="-30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in</a:t>
            </a:r>
            <a:r>
              <a:rPr dirty="0" sz="1400" spc="-25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 spc="-10">
                <a:solidFill>
                  <a:srgbClr val="DEF1F1"/>
                </a:solidFill>
                <a:latin typeface="Montserrat"/>
                <a:cs typeface="Montserrat"/>
              </a:rPr>
              <a:t>their respective</a:t>
            </a:r>
            <a:r>
              <a:rPr dirty="0" sz="1400" spc="-30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domains.</a:t>
            </a:r>
            <a:r>
              <a:rPr dirty="0" sz="1400" spc="-30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Our</a:t>
            </a:r>
            <a:r>
              <a:rPr dirty="0" sz="1400" spc="-25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triumph</a:t>
            </a:r>
            <a:r>
              <a:rPr dirty="0" sz="1400" spc="-30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as</a:t>
            </a:r>
            <a:r>
              <a:rPr dirty="0" sz="1400" spc="-30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a</a:t>
            </a:r>
            <a:r>
              <a:rPr dirty="0" sz="1400" spc="-25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healthcare</a:t>
            </a:r>
            <a:r>
              <a:rPr dirty="0" sz="1400" spc="-30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IT</a:t>
            </a:r>
            <a:r>
              <a:rPr dirty="0" sz="1400" spc="-25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consulting</a:t>
            </a:r>
            <a:r>
              <a:rPr dirty="0" sz="1400" spc="-30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 spc="-40">
                <a:solidFill>
                  <a:srgbClr val="DEF1F1"/>
                </a:solidFill>
                <a:latin typeface="Montserrat"/>
                <a:cs typeface="Montserrat"/>
              </a:rPr>
              <a:t>ﬁrm</a:t>
            </a:r>
            <a:r>
              <a:rPr dirty="0" sz="1400" spc="-30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is</a:t>
            </a:r>
            <a:r>
              <a:rPr dirty="0" sz="1400" spc="-25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chieﬂy</a:t>
            </a:r>
            <a:r>
              <a:rPr dirty="0" sz="1400" spc="-30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attributable</a:t>
            </a:r>
            <a:r>
              <a:rPr dirty="0" sz="1400" spc="-25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to</a:t>
            </a:r>
            <a:r>
              <a:rPr dirty="0" sz="1400" spc="-30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the</a:t>
            </a:r>
            <a:r>
              <a:rPr dirty="0" sz="1400" spc="-30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 spc="-10">
                <a:solidFill>
                  <a:srgbClr val="DEF1F1"/>
                </a:solidFill>
                <a:latin typeface="Montserrat"/>
                <a:cs typeface="Montserrat"/>
              </a:rPr>
              <a:t>knowledge,</a:t>
            </a:r>
            <a:r>
              <a:rPr dirty="0" sz="1400" spc="-25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 spc="-10">
                <a:solidFill>
                  <a:srgbClr val="DEF1F1"/>
                </a:solidFill>
                <a:latin typeface="Montserrat"/>
                <a:cs typeface="Montserrat"/>
              </a:rPr>
              <a:t>skills,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and</a:t>
            </a:r>
            <a:r>
              <a:rPr dirty="0" sz="1400" spc="-30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 spc="-10">
                <a:solidFill>
                  <a:srgbClr val="DEF1F1"/>
                </a:solidFill>
                <a:latin typeface="Montserrat"/>
                <a:cs typeface="Montserrat"/>
              </a:rPr>
              <a:t>experience</a:t>
            </a:r>
            <a:r>
              <a:rPr dirty="0" sz="1400" spc="-30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of</a:t>
            </a:r>
            <a:r>
              <a:rPr dirty="0" sz="1400" spc="-25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our</a:t>
            </a:r>
            <a:r>
              <a:rPr dirty="0" sz="1400" spc="-30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team</a:t>
            </a:r>
            <a:r>
              <a:rPr dirty="0" sz="1400" spc="-30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 spc="-10">
                <a:solidFill>
                  <a:srgbClr val="DEF1F1"/>
                </a:solidFill>
                <a:latin typeface="Montserrat"/>
                <a:cs typeface="Montserrat"/>
              </a:rPr>
              <a:t>members.</a:t>
            </a:r>
            <a:endParaRPr sz="1400">
              <a:latin typeface="Montserrat"/>
              <a:cs typeface="Montserrat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1400">
              <a:latin typeface="Montserrat"/>
              <a:cs typeface="Montserrat"/>
            </a:endParaRPr>
          </a:p>
          <a:p>
            <a:pPr marL="12700" marR="78740">
              <a:lnSpc>
                <a:spcPct val="114999"/>
              </a:lnSpc>
            </a:pP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Our</a:t>
            </a:r>
            <a:r>
              <a:rPr dirty="0" sz="1400" spc="-35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crew</a:t>
            </a:r>
            <a:r>
              <a:rPr dirty="0" sz="1400" spc="-30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members</a:t>
            </a:r>
            <a:r>
              <a:rPr dirty="0" sz="1400" spc="-30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must</a:t>
            </a:r>
            <a:r>
              <a:rPr dirty="0" sz="1400" spc="-30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have</a:t>
            </a:r>
            <a:r>
              <a:rPr dirty="0" sz="1400" spc="-35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a</a:t>
            </a:r>
            <a:r>
              <a:rPr dirty="0" sz="1400" spc="-30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wealth</a:t>
            </a:r>
            <a:r>
              <a:rPr dirty="0" sz="1400" spc="-30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of</a:t>
            </a:r>
            <a:r>
              <a:rPr dirty="0" sz="1400" spc="-30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 spc="-10">
                <a:solidFill>
                  <a:srgbClr val="DEF1F1"/>
                </a:solidFill>
                <a:latin typeface="Montserrat"/>
                <a:cs typeface="Montserrat"/>
              </a:rPr>
              <a:t>experience</a:t>
            </a:r>
            <a:r>
              <a:rPr dirty="0" sz="1400" spc="-30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in</a:t>
            </a:r>
            <a:r>
              <a:rPr dirty="0" sz="1400" spc="-35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the</a:t>
            </a:r>
            <a:r>
              <a:rPr dirty="0" sz="1400" spc="-30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healthcare</a:t>
            </a:r>
            <a:r>
              <a:rPr dirty="0" sz="1400" spc="-30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IT</a:t>
            </a:r>
            <a:r>
              <a:rPr dirty="0" sz="1400" spc="-30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sector</a:t>
            </a:r>
            <a:r>
              <a:rPr dirty="0" sz="1400" spc="-35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and</a:t>
            </a:r>
            <a:r>
              <a:rPr dirty="0" sz="1400" spc="-30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a</a:t>
            </a:r>
            <a:r>
              <a:rPr dirty="0" sz="1400" spc="-30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 spc="-20">
                <a:solidFill>
                  <a:srgbClr val="DEF1F1"/>
                </a:solidFill>
                <a:latin typeface="Montserrat"/>
                <a:cs typeface="Montserrat"/>
              </a:rPr>
              <a:t>veriﬁed</a:t>
            </a:r>
            <a:r>
              <a:rPr dirty="0" sz="1400" spc="-30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history</a:t>
            </a:r>
            <a:r>
              <a:rPr dirty="0" sz="1400" spc="-30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 spc="-25">
                <a:solidFill>
                  <a:srgbClr val="DEF1F1"/>
                </a:solidFill>
                <a:latin typeface="Montserrat"/>
                <a:cs typeface="Montserrat"/>
              </a:rPr>
              <a:t>of </a:t>
            </a:r>
            <a:r>
              <a:rPr dirty="0" sz="1400" spc="-10">
                <a:solidFill>
                  <a:srgbClr val="DEF1F1"/>
                </a:solidFill>
                <a:latin typeface="Montserrat"/>
                <a:cs typeface="Montserrat"/>
              </a:rPr>
              <a:t>accomplishments</a:t>
            </a:r>
            <a:r>
              <a:rPr dirty="0" sz="1400" spc="-20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to</a:t>
            </a:r>
            <a:r>
              <a:rPr dirty="0" sz="1400" spc="-20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qualify</a:t>
            </a:r>
            <a:r>
              <a:rPr dirty="0" sz="1400" spc="-20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for</a:t>
            </a:r>
            <a:r>
              <a:rPr dirty="0" sz="1400" spc="-20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the</a:t>
            </a:r>
            <a:r>
              <a:rPr dirty="0" sz="1400" spc="-20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position</a:t>
            </a:r>
            <a:r>
              <a:rPr dirty="0" sz="1400" spc="-20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of</a:t>
            </a:r>
            <a:r>
              <a:rPr dirty="0" sz="1400" spc="-20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consultant</a:t>
            </a:r>
            <a:r>
              <a:rPr dirty="0" sz="1400" spc="-20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at</a:t>
            </a:r>
            <a:r>
              <a:rPr dirty="0" sz="1400" spc="-20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TNG.</a:t>
            </a:r>
            <a:r>
              <a:rPr dirty="0" sz="1400" spc="-20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Additionally,</a:t>
            </a:r>
            <a:r>
              <a:rPr dirty="0" sz="1400" spc="-20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they</a:t>
            </a:r>
            <a:r>
              <a:rPr dirty="0" sz="1400" spc="-15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must</a:t>
            </a:r>
            <a:r>
              <a:rPr dirty="0" sz="1400" spc="-20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possess</a:t>
            </a:r>
            <a:r>
              <a:rPr dirty="0" sz="1400" spc="-20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a</a:t>
            </a:r>
            <a:r>
              <a:rPr dirty="0" sz="1400" spc="-20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 spc="-10">
                <a:solidFill>
                  <a:srgbClr val="DEF1F1"/>
                </a:solidFill>
                <a:latin typeface="Montserrat"/>
                <a:cs typeface="Montserrat"/>
              </a:rPr>
              <a:t>profound understanding</a:t>
            </a:r>
            <a:r>
              <a:rPr dirty="0" sz="1400" spc="-25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of</a:t>
            </a:r>
            <a:r>
              <a:rPr dirty="0" sz="1400" spc="-20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EHR</a:t>
            </a:r>
            <a:r>
              <a:rPr dirty="0" sz="1400" spc="-25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 spc="-10">
                <a:solidFill>
                  <a:srgbClr val="DEF1F1"/>
                </a:solidFill>
                <a:latin typeface="Montserrat"/>
                <a:cs typeface="Montserrat"/>
              </a:rPr>
              <a:t>systems</a:t>
            </a:r>
            <a:r>
              <a:rPr dirty="0" sz="1400" spc="-20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and</a:t>
            </a:r>
            <a:r>
              <a:rPr dirty="0" sz="1400" spc="-20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other</a:t>
            </a:r>
            <a:r>
              <a:rPr dirty="0" sz="1400" spc="-25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digital</a:t>
            </a:r>
            <a:r>
              <a:rPr dirty="0" sz="1400" spc="-20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 spc="-10">
                <a:solidFill>
                  <a:srgbClr val="DEF1F1"/>
                </a:solidFill>
                <a:latin typeface="Montserrat"/>
                <a:cs typeface="Montserrat"/>
              </a:rPr>
              <a:t>technologies,</a:t>
            </a:r>
            <a:r>
              <a:rPr dirty="0" sz="1400" spc="-25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as</a:t>
            </a:r>
            <a:r>
              <a:rPr dirty="0" sz="1400" spc="-20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well</a:t>
            </a:r>
            <a:r>
              <a:rPr dirty="0" sz="1400" spc="-20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as</a:t>
            </a:r>
            <a:r>
              <a:rPr dirty="0" sz="1400" spc="-25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an</a:t>
            </a:r>
            <a:r>
              <a:rPr dirty="0" sz="1400" spc="-20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ardent</a:t>
            </a:r>
            <a:r>
              <a:rPr dirty="0" sz="1400" spc="-20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desire</a:t>
            </a:r>
            <a:r>
              <a:rPr dirty="0" sz="1400" spc="-25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to</a:t>
            </a:r>
            <a:r>
              <a:rPr dirty="0" sz="1400" spc="-20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 spc="-10">
                <a:solidFill>
                  <a:srgbClr val="DEF1F1"/>
                </a:solidFill>
                <a:latin typeface="Montserrat"/>
                <a:cs typeface="Montserrat"/>
              </a:rPr>
              <a:t>advance</a:t>
            </a:r>
            <a:r>
              <a:rPr dirty="0" sz="1400" spc="-25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patient</a:t>
            </a:r>
            <a:r>
              <a:rPr dirty="0" sz="1400" spc="-20">
                <a:solidFill>
                  <a:srgbClr val="DEF1F1"/>
                </a:solidFill>
                <a:latin typeface="Montserrat"/>
                <a:cs typeface="Montserrat"/>
              </a:rPr>
              <a:t> care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through</a:t>
            </a:r>
            <a:r>
              <a:rPr dirty="0" sz="1400" spc="-60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 spc="-10">
                <a:solidFill>
                  <a:srgbClr val="DEF1F1"/>
                </a:solidFill>
                <a:latin typeface="Montserrat"/>
                <a:cs typeface="Montserrat"/>
              </a:rPr>
              <a:t>technology.</a:t>
            </a:r>
            <a:endParaRPr sz="1400">
              <a:latin typeface="Montserrat"/>
              <a:cs typeface="Montserrat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1400">
              <a:latin typeface="Montserrat"/>
              <a:cs typeface="Montserrat"/>
            </a:endParaRPr>
          </a:p>
          <a:p>
            <a:pPr marL="12700" marR="831850">
              <a:lnSpc>
                <a:spcPct val="114999"/>
              </a:lnSpc>
            </a:pP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Our</a:t>
            </a:r>
            <a:r>
              <a:rPr dirty="0" sz="1400" spc="-35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 spc="-10">
                <a:solidFill>
                  <a:srgbClr val="DEF1F1"/>
                </a:solidFill>
                <a:latin typeface="Montserrat"/>
                <a:cs typeface="Montserrat"/>
              </a:rPr>
              <a:t>savants</a:t>
            </a:r>
            <a:r>
              <a:rPr dirty="0" sz="1400" spc="-30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are</a:t>
            </a:r>
            <a:r>
              <a:rPr dirty="0" sz="1400" spc="-35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specialists</a:t>
            </a:r>
            <a:r>
              <a:rPr dirty="0" sz="1400" spc="-30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in</a:t>
            </a:r>
            <a:r>
              <a:rPr dirty="0" sz="1400" spc="-35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their</a:t>
            </a:r>
            <a:r>
              <a:rPr dirty="0" sz="1400" spc="-30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distinct</a:t>
            </a:r>
            <a:r>
              <a:rPr dirty="0" sz="1400" spc="-30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areas</a:t>
            </a:r>
            <a:r>
              <a:rPr dirty="0" sz="1400" spc="-35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of</a:t>
            </a:r>
            <a:r>
              <a:rPr dirty="0" sz="1400" spc="-30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healthcare</a:t>
            </a:r>
            <a:r>
              <a:rPr dirty="0" sz="1400" spc="-35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IT,</a:t>
            </a:r>
            <a:r>
              <a:rPr dirty="0" sz="1400" spc="-30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which</a:t>
            </a:r>
            <a:r>
              <a:rPr dirty="0" sz="1400" spc="-30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include</a:t>
            </a:r>
            <a:r>
              <a:rPr dirty="0" sz="1400" spc="-35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EHR</a:t>
            </a:r>
            <a:r>
              <a:rPr dirty="0" sz="1400" spc="-30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 spc="-10">
                <a:solidFill>
                  <a:srgbClr val="DEF1F1"/>
                </a:solidFill>
                <a:latin typeface="Montserrat"/>
                <a:cs typeface="Montserrat"/>
              </a:rPr>
              <a:t>implementation,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optimization,</a:t>
            </a:r>
            <a:r>
              <a:rPr dirty="0" sz="1400" spc="-35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and</a:t>
            </a:r>
            <a:r>
              <a:rPr dirty="0" sz="1400" spc="-30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support,</a:t>
            </a:r>
            <a:r>
              <a:rPr dirty="0" sz="1400" spc="-30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along</a:t>
            </a:r>
            <a:r>
              <a:rPr dirty="0" sz="1400" spc="-35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with</a:t>
            </a:r>
            <a:r>
              <a:rPr dirty="0" sz="1400" spc="-30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 spc="-10">
                <a:solidFill>
                  <a:srgbClr val="DEF1F1"/>
                </a:solidFill>
                <a:latin typeface="Montserrat"/>
                <a:cs typeface="Montserrat"/>
              </a:rPr>
              <a:t>interoperability,</a:t>
            </a:r>
            <a:r>
              <a:rPr dirty="0" sz="1400" spc="-30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clinical</a:t>
            </a:r>
            <a:r>
              <a:rPr dirty="0" sz="1400" spc="-30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analytics,</a:t>
            </a:r>
            <a:r>
              <a:rPr dirty="0" sz="1400" spc="-35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and</a:t>
            </a:r>
            <a:r>
              <a:rPr dirty="0" sz="1400" spc="-30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 spc="-10">
                <a:solidFill>
                  <a:srgbClr val="DEF1F1"/>
                </a:solidFill>
                <a:latin typeface="Montserrat"/>
                <a:cs typeface="Montserrat"/>
              </a:rPr>
              <a:t>revenue</a:t>
            </a:r>
            <a:r>
              <a:rPr dirty="0" sz="1400" spc="-30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DEF1F1"/>
                </a:solidFill>
                <a:latin typeface="Montserrat"/>
                <a:cs typeface="Montserrat"/>
              </a:rPr>
              <a:t>cycle</a:t>
            </a:r>
            <a:r>
              <a:rPr dirty="0" sz="1400" spc="-30">
                <a:solidFill>
                  <a:srgbClr val="DEF1F1"/>
                </a:solidFill>
                <a:latin typeface="Montserrat"/>
                <a:cs typeface="Montserrat"/>
              </a:rPr>
              <a:t> </a:t>
            </a:r>
            <a:r>
              <a:rPr dirty="0" sz="1400" spc="-10">
                <a:solidFill>
                  <a:srgbClr val="DEF1F1"/>
                </a:solidFill>
                <a:latin typeface="Montserrat"/>
                <a:cs typeface="Montserrat"/>
              </a:rPr>
              <a:t>management.</a:t>
            </a:r>
            <a:endParaRPr sz="1400">
              <a:latin typeface="Montserrat"/>
              <a:cs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016549" y="6341600"/>
            <a:ext cx="10159365" cy="9525"/>
          </a:xfrm>
          <a:custGeom>
            <a:avLst/>
            <a:gdLst/>
            <a:ahLst/>
            <a:cxnLst/>
            <a:rect l="l" t="t" r="r" b="b"/>
            <a:pathLst>
              <a:path w="10159365" h="9525">
                <a:moveTo>
                  <a:pt x="10158899" y="8999"/>
                </a:moveTo>
                <a:lnTo>
                  <a:pt x="0" y="8999"/>
                </a:lnTo>
                <a:lnTo>
                  <a:pt x="0" y="0"/>
                </a:lnTo>
                <a:lnTo>
                  <a:pt x="10158899" y="0"/>
                </a:lnTo>
                <a:lnTo>
                  <a:pt x="10158899" y="8999"/>
                </a:lnTo>
                <a:close/>
              </a:path>
            </a:pathLst>
          </a:custGeom>
          <a:solidFill>
            <a:srgbClr val="5EB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81075" y="700532"/>
            <a:ext cx="4993640" cy="665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0"/>
              </a:spcBef>
            </a:pPr>
            <a:r>
              <a:rPr dirty="0" spc="130">
                <a:latin typeface="Arial"/>
                <a:cs typeface="Arial"/>
              </a:rPr>
              <a:t>National</a:t>
            </a:r>
            <a:r>
              <a:rPr dirty="0" spc="65">
                <a:latin typeface="Arial"/>
                <a:cs typeface="Arial"/>
              </a:rPr>
              <a:t> </a:t>
            </a:r>
            <a:r>
              <a:rPr dirty="0" spc="170">
                <a:latin typeface="Arial"/>
                <a:cs typeface="Arial"/>
              </a:rPr>
              <a:t>Independent</a:t>
            </a:r>
            <a:r>
              <a:rPr dirty="0" spc="70">
                <a:latin typeface="Arial"/>
                <a:cs typeface="Arial"/>
              </a:rPr>
              <a:t> </a:t>
            </a:r>
            <a:r>
              <a:rPr dirty="0" spc="110">
                <a:latin typeface="Arial"/>
                <a:cs typeface="Arial"/>
              </a:rPr>
              <a:t>Consultants </a:t>
            </a:r>
            <a:r>
              <a:rPr dirty="0" spc="140">
                <a:latin typeface="Arial"/>
                <a:cs typeface="Arial"/>
              </a:rPr>
              <a:t>Of</a:t>
            </a:r>
            <a:r>
              <a:rPr dirty="0" spc="25">
                <a:latin typeface="Arial"/>
                <a:cs typeface="Arial"/>
              </a:rPr>
              <a:t> </a:t>
            </a:r>
            <a:r>
              <a:rPr dirty="0" spc="65">
                <a:latin typeface="Arial"/>
                <a:cs typeface="Arial"/>
              </a:rPr>
              <a:t>EHR</a:t>
            </a:r>
            <a:r>
              <a:rPr dirty="0" baseline="31746" sz="2100" spc="97">
                <a:latin typeface="Arial"/>
                <a:cs typeface="Arial"/>
              </a:rPr>
              <a:t>®</a:t>
            </a:r>
            <a:r>
              <a:rPr dirty="0" baseline="31746" sz="2100" spc="322">
                <a:latin typeface="Arial"/>
                <a:cs typeface="Arial"/>
              </a:rPr>
              <a:t> </a:t>
            </a:r>
            <a:r>
              <a:rPr dirty="0" sz="2100" spc="120">
                <a:latin typeface="Arial"/>
                <a:cs typeface="Arial"/>
              </a:rPr>
              <a:t>Founder</a:t>
            </a:r>
            <a:endParaRPr sz="21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006475" y="1673860"/>
            <a:ext cx="8035290" cy="16027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As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a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seasoned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professional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in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the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realm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of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Electronic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Health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Records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(EHR),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I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bring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over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25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years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of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expertise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and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knowledge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25">
                <a:solidFill>
                  <a:srgbClr val="D3DCE4"/>
                </a:solidFill>
                <a:latin typeface="Montserrat"/>
                <a:cs typeface="Montserrat"/>
              </a:rPr>
              <a:t>to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the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table.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Throughout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my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career,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I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have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continuously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expanded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my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skill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set,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acquiring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proﬁciency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in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various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EHR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systems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such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as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Eclipsys,then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Allscripts,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now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Veradigm,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Epic,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Cerner,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ECW,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Meditech,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McKesson,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Athena,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Ge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Centricity,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among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others.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With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50">
                <a:solidFill>
                  <a:srgbClr val="D3DCE4"/>
                </a:solidFill>
                <a:latin typeface="Montserrat"/>
                <a:cs typeface="Montserrat"/>
              </a:rPr>
              <a:t>a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proven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track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record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in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successfully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implementing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EHR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systems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and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providing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comprehensive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training,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I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have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become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a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highly sought-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after</a:t>
            </a:r>
            <a:r>
              <a:rPr dirty="0" sz="1000" spc="4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consultant.</a:t>
            </a:r>
            <a:endParaRPr sz="1000">
              <a:latin typeface="Montserrat"/>
              <a:cs typeface="Montserrat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000">
              <a:latin typeface="Montserrat"/>
              <a:cs typeface="Montserrat"/>
            </a:endParaRPr>
          </a:p>
          <a:p>
            <a:pPr algn="just" marL="12700" marR="248920">
              <a:lnSpc>
                <a:spcPct val="114999"/>
              </a:lnSpc>
            </a:pP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Recognizing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the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need</a:t>
            </a:r>
            <a:r>
              <a:rPr dirty="0" sz="1000" spc="-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for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enhanced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understanding</a:t>
            </a:r>
            <a:r>
              <a:rPr dirty="0" sz="1000" spc="-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and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expertise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in</a:t>
            </a:r>
            <a:r>
              <a:rPr dirty="0" sz="1000" spc="-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the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business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side</a:t>
            </a:r>
            <a:r>
              <a:rPr dirty="0" sz="1000" spc="-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of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EHR,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I</a:t>
            </a:r>
            <a:r>
              <a:rPr dirty="0" sz="1000" spc="-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invested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time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and</a:t>
            </a:r>
            <a:r>
              <a:rPr dirty="0" sz="1000" spc="-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effort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25">
                <a:solidFill>
                  <a:srgbClr val="D3DCE4"/>
                </a:solidFill>
                <a:latin typeface="Montserrat"/>
                <a:cs typeface="Montserrat"/>
              </a:rPr>
              <a:t>in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studying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and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observing</a:t>
            </a:r>
            <a:r>
              <a:rPr dirty="0" sz="1000" spc="-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the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industry.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This</a:t>
            </a:r>
            <a:r>
              <a:rPr dirty="0" sz="1000" spc="-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dedication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enabled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me</a:t>
            </a:r>
            <a:r>
              <a:rPr dirty="0" sz="1000" spc="-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to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develop</a:t>
            </a:r>
            <a:r>
              <a:rPr dirty="0" sz="1000" spc="-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a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holistic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understanding</a:t>
            </a:r>
            <a:r>
              <a:rPr dirty="0" sz="1000" spc="-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of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all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aspects</a:t>
            </a:r>
            <a:r>
              <a:rPr dirty="0" sz="1000" spc="-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of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EHR, 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ranging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from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sales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and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system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development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to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analysis,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training,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and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support.</a:t>
            </a:r>
            <a:endParaRPr sz="1000">
              <a:latin typeface="Montserrat"/>
              <a:cs typeface="Montserra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006475" y="3426459"/>
            <a:ext cx="8133715" cy="726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In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2012,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I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founded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The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NICEHR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Group,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an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acronym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representing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the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National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Independent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Consultants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Of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Electronic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Health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Records.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Fueled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by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the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gaps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I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identiﬁed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in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the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market,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particularly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in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terms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of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knowledge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and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expertise,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I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set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out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to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bridge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these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divides.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Since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its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establishment,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The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NICEHR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Group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has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strived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to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cultivate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a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network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of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reputable,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certiﬁed,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and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elite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savants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who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share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my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unwavering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commitment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to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excellence.</a:t>
            </a:r>
            <a:endParaRPr sz="1000">
              <a:latin typeface="Montserrat"/>
              <a:cs typeface="Montserra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006475" y="4302759"/>
            <a:ext cx="8145780" cy="1252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At</a:t>
            </a:r>
            <a:r>
              <a:rPr dirty="0" sz="1000" spc="-3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The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NICEHR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Group,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we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take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immense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pride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in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delivering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top-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notch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service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to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our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clients.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Our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team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of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savants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consists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25">
                <a:solidFill>
                  <a:srgbClr val="D3DCE4"/>
                </a:solidFill>
                <a:latin typeface="Montserrat"/>
                <a:cs typeface="Montserrat"/>
              </a:rPr>
              <a:t>of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industry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experts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who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are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dedicated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to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ensuring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the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success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of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every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endeavor.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We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recognize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the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challenges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inherent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in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the</a:t>
            </a:r>
            <a:r>
              <a:rPr dirty="0" sz="1000" spc="-4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ﬁeld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and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work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closely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with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our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clients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to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identify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their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unique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needs,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crafting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tailored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solutions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that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align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with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their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objectives.</a:t>
            </a:r>
            <a:endParaRPr sz="1000">
              <a:latin typeface="Montserrat"/>
              <a:cs typeface="Montserrat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000">
              <a:latin typeface="Montserrat"/>
              <a:cs typeface="Montserrat"/>
            </a:endParaRPr>
          </a:p>
          <a:p>
            <a:pPr marL="12700" marR="17145">
              <a:lnSpc>
                <a:spcPct val="114999"/>
              </a:lnSpc>
            </a:pP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By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partnering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with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The</a:t>
            </a:r>
            <a:r>
              <a:rPr dirty="0" sz="1000" spc="-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NICEHR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Group,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you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can</a:t>
            </a:r>
            <a:r>
              <a:rPr dirty="0" sz="1000" spc="-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have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conﬁdence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in</a:t>
            </a:r>
            <a:r>
              <a:rPr dirty="0" sz="1000" spc="-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collaborating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with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a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team</a:t>
            </a:r>
            <a:r>
              <a:rPr dirty="0" sz="1000" spc="-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of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consummate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professionals</a:t>
            </a:r>
            <a:r>
              <a:rPr dirty="0" sz="1000" spc="-3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25">
                <a:solidFill>
                  <a:srgbClr val="D3DCE4"/>
                </a:solidFill>
                <a:latin typeface="Montserrat"/>
                <a:cs typeface="Montserrat"/>
              </a:rPr>
              <a:t>who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place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a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premium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on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excellence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and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boast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an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impressive</a:t>
            </a:r>
            <a:r>
              <a:rPr dirty="0" sz="1000" spc="-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track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record.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I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am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honored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to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be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part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of</a:t>
            </a:r>
            <a:r>
              <a:rPr dirty="0" sz="1000" spc="-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this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distinguished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team,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25">
                <a:solidFill>
                  <a:srgbClr val="D3DCE4"/>
                </a:solidFill>
                <a:latin typeface="Montserrat"/>
                <a:cs typeface="Montserrat"/>
              </a:rPr>
              <a:t>and</a:t>
            </a:r>
            <a:r>
              <a:rPr dirty="0" sz="1000" spc="50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we</a:t>
            </a:r>
            <a:r>
              <a:rPr dirty="0" sz="1000" spc="-2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are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excited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to</a:t>
            </a:r>
            <a:r>
              <a:rPr dirty="0" sz="1000" spc="-2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contribute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to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your</a:t>
            </a:r>
            <a:r>
              <a:rPr dirty="0" sz="1000" spc="-2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achievements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in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the</a:t>
            </a:r>
            <a:r>
              <a:rPr dirty="0" sz="1000" spc="-2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realm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of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Electronic</a:t>
            </a:r>
            <a:r>
              <a:rPr dirty="0" sz="1000" spc="-2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Health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Records.</a:t>
            </a:r>
            <a:endParaRPr sz="1000">
              <a:latin typeface="Montserrat"/>
              <a:cs typeface="Montserrat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98174" y="1372170"/>
            <a:ext cx="1576349" cy="2302576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9581170" y="3800018"/>
            <a:ext cx="1266825" cy="446405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dirty="0" sz="1200" b="1">
                <a:solidFill>
                  <a:srgbClr val="D3DCE4"/>
                </a:solidFill>
                <a:latin typeface="Archivo"/>
                <a:cs typeface="Archivo"/>
              </a:rPr>
              <a:t>Rafael</a:t>
            </a:r>
            <a:r>
              <a:rPr dirty="0" sz="1200" spc="-55" b="1">
                <a:solidFill>
                  <a:srgbClr val="D3DCE4"/>
                </a:solidFill>
                <a:latin typeface="Archivo"/>
                <a:cs typeface="Archivo"/>
              </a:rPr>
              <a:t> </a:t>
            </a:r>
            <a:r>
              <a:rPr dirty="0" sz="1200" spc="-10" b="1">
                <a:solidFill>
                  <a:srgbClr val="D3DCE4"/>
                </a:solidFill>
                <a:latin typeface="Archivo"/>
                <a:cs typeface="Archivo"/>
              </a:rPr>
              <a:t>Rodriguez</a:t>
            </a:r>
            <a:endParaRPr sz="1200">
              <a:latin typeface="Archivo"/>
              <a:cs typeface="Archivo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dirty="0" sz="1200">
                <a:solidFill>
                  <a:srgbClr val="D3DCE4"/>
                </a:solidFill>
                <a:latin typeface="Arial"/>
                <a:cs typeface="Arial"/>
              </a:rPr>
              <a:t>CEO</a:t>
            </a:r>
            <a:r>
              <a:rPr dirty="0" sz="1200" spc="-60">
                <a:solidFill>
                  <a:srgbClr val="D3DCE4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D3DCE4"/>
                </a:solidFill>
                <a:latin typeface="Arial"/>
                <a:cs typeface="Arial"/>
              </a:rPr>
              <a:t>&amp;</a:t>
            </a:r>
            <a:r>
              <a:rPr dirty="0" sz="1200" spc="-60">
                <a:solidFill>
                  <a:srgbClr val="D3DCE4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D3DCE4"/>
                </a:solidFill>
                <a:latin typeface="Arial"/>
                <a:cs typeface="Arial"/>
              </a:rPr>
              <a:t>Founder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 spc="-25"/>
              <a:t>13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016549" y="6341600"/>
            <a:ext cx="10159365" cy="9525"/>
          </a:xfrm>
          <a:custGeom>
            <a:avLst/>
            <a:gdLst/>
            <a:ahLst/>
            <a:cxnLst/>
            <a:rect l="l" t="t" r="r" b="b"/>
            <a:pathLst>
              <a:path w="10159365" h="9525">
                <a:moveTo>
                  <a:pt x="10158899" y="8999"/>
                </a:moveTo>
                <a:lnTo>
                  <a:pt x="0" y="8999"/>
                </a:lnTo>
                <a:lnTo>
                  <a:pt x="0" y="0"/>
                </a:lnTo>
                <a:lnTo>
                  <a:pt x="10158899" y="0"/>
                </a:lnTo>
                <a:lnTo>
                  <a:pt x="10158899" y="8999"/>
                </a:lnTo>
                <a:close/>
              </a:path>
            </a:pathLst>
          </a:custGeom>
          <a:solidFill>
            <a:srgbClr val="5EB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5797100" y="1515474"/>
            <a:ext cx="1764030" cy="982980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dirty="0" sz="1200" b="1">
                <a:solidFill>
                  <a:srgbClr val="83E6E0"/>
                </a:solidFill>
                <a:latin typeface="Montserrat"/>
                <a:cs typeface="Montserrat"/>
              </a:rPr>
              <a:t>Victor</a:t>
            </a:r>
            <a:r>
              <a:rPr dirty="0" sz="1200" spc="-60" b="1">
                <a:solidFill>
                  <a:srgbClr val="83E6E0"/>
                </a:solidFill>
                <a:latin typeface="Montserrat"/>
                <a:cs typeface="Montserrat"/>
              </a:rPr>
              <a:t> </a:t>
            </a:r>
            <a:r>
              <a:rPr dirty="0" sz="1200" spc="-10" b="1">
                <a:solidFill>
                  <a:srgbClr val="83E6E0"/>
                </a:solidFill>
                <a:latin typeface="Montserrat"/>
                <a:cs typeface="Montserrat"/>
              </a:rPr>
              <a:t>Roiter</a:t>
            </a:r>
            <a:endParaRPr sz="1200">
              <a:latin typeface="Montserrat"/>
              <a:cs typeface="Montserrat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DIRECTOR</a:t>
            </a:r>
            <a:r>
              <a:rPr dirty="0" sz="900" spc="-3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OF</a:t>
            </a:r>
            <a:r>
              <a:rPr dirty="0" sz="900" spc="-2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SALES</a:t>
            </a:r>
            <a:endParaRPr sz="900">
              <a:latin typeface="Montserrat"/>
              <a:cs typeface="Montserrat"/>
            </a:endParaRPr>
          </a:p>
          <a:p>
            <a:pPr marL="12700" marR="5080">
              <a:lnSpc>
                <a:spcPts val="1440"/>
              </a:lnSpc>
              <a:spcBef>
                <a:spcPts val="90"/>
              </a:spcBef>
            </a:pPr>
            <a:r>
              <a:rPr dirty="0" sz="800" spc="-10">
                <a:solidFill>
                  <a:srgbClr val="FFFFFF"/>
                </a:solidFill>
                <a:latin typeface="Montserrat"/>
                <a:cs typeface="Montserrat"/>
              </a:rPr>
              <a:t>Spearheading</a:t>
            </a:r>
            <a:r>
              <a:rPr dirty="0" sz="800" spc="2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800" spc="-10">
                <a:solidFill>
                  <a:srgbClr val="FFFFFF"/>
                </a:solidFill>
                <a:latin typeface="Montserrat"/>
                <a:cs typeface="Montserrat"/>
              </a:rPr>
              <a:t>revenue</a:t>
            </a:r>
            <a:r>
              <a:rPr dirty="0" sz="800" spc="3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800" spc="-10">
                <a:solidFill>
                  <a:srgbClr val="FFFFFF"/>
                </a:solidFill>
                <a:latin typeface="Montserrat"/>
                <a:cs typeface="Montserrat"/>
              </a:rPr>
              <a:t>generation </a:t>
            </a:r>
            <a:r>
              <a:rPr dirty="0" sz="800">
                <a:solidFill>
                  <a:srgbClr val="FFFFFF"/>
                </a:solidFill>
                <a:latin typeface="Montserrat"/>
                <a:cs typeface="Montserrat"/>
              </a:rPr>
              <a:t>and</a:t>
            </a:r>
            <a:r>
              <a:rPr dirty="0" sz="800" spc="-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800">
                <a:solidFill>
                  <a:srgbClr val="FFFFFF"/>
                </a:solidFill>
                <a:latin typeface="Montserrat"/>
                <a:cs typeface="Montserrat"/>
              </a:rPr>
              <a:t>driving</a:t>
            </a:r>
            <a:r>
              <a:rPr dirty="0" sz="800" spc="-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800">
                <a:solidFill>
                  <a:srgbClr val="FFFFFF"/>
                </a:solidFill>
                <a:latin typeface="Montserrat"/>
                <a:cs typeface="Montserrat"/>
              </a:rPr>
              <a:t>business </a:t>
            </a:r>
            <a:r>
              <a:rPr dirty="0" sz="800" spc="-10">
                <a:solidFill>
                  <a:srgbClr val="FFFFFF"/>
                </a:solidFill>
                <a:latin typeface="Montserrat"/>
                <a:cs typeface="Montserrat"/>
              </a:rPr>
              <a:t>growth </a:t>
            </a:r>
            <a:r>
              <a:rPr dirty="0" sz="800">
                <a:solidFill>
                  <a:srgbClr val="FFFFFF"/>
                </a:solidFill>
                <a:latin typeface="Montserrat"/>
                <a:cs typeface="Montserrat"/>
              </a:rPr>
              <a:t>through</a:t>
            </a:r>
            <a:r>
              <a:rPr dirty="0" sz="800" spc="-1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800" spc="-10">
                <a:solidFill>
                  <a:srgbClr val="FFFFFF"/>
                </a:solidFill>
                <a:latin typeface="Montserrat"/>
                <a:cs typeface="Montserrat"/>
              </a:rPr>
              <a:t>strategic </a:t>
            </a:r>
            <a:r>
              <a:rPr dirty="0" sz="800">
                <a:solidFill>
                  <a:srgbClr val="FFFFFF"/>
                </a:solidFill>
                <a:latin typeface="Montserrat"/>
                <a:cs typeface="Montserrat"/>
              </a:rPr>
              <a:t>sales</a:t>
            </a:r>
            <a:r>
              <a:rPr dirty="0" sz="800" spc="-10">
                <a:solidFill>
                  <a:srgbClr val="FFFFFF"/>
                </a:solidFill>
                <a:latin typeface="Montserrat"/>
                <a:cs typeface="Montserrat"/>
              </a:rPr>
              <a:t> initiatives.</a:t>
            </a:r>
            <a:endParaRPr sz="800">
              <a:latin typeface="Montserrat"/>
              <a:cs typeface="Montserra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797195" y="3551994"/>
            <a:ext cx="1758314" cy="1145540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dirty="0" sz="1200" b="1">
                <a:solidFill>
                  <a:srgbClr val="83E6E0"/>
                </a:solidFill>
                <a:latin typeface="Montserrat"/>
                <a:cs typeface="Montserrat"/>
              </a:rPr>
              <a:t>Lori</a:t>
            </a:r>
            <a:r>
              <a:rPr dirty="0" sz="1200" spc="-30" b="1">
                <a:solidFill>
                  <a:srgbClr val="83E6E0"/>
                </a:solidFill>
                <a:latin typeface="Montserrat"/>
                <a:cs typeface="Montserrat"/>
              </a:rPr>
              <a:t> </a:t>
            </a:r>
            <a:r>
              <a:rPr dirty="0" sz="1200" spc="-10" b="1">
                <a:solidFill>
                  <a:srgbClr val="83E6E0"/>
                </a:solidFill>
                <a:latin typeface="Montserrat"/>
                <a:cs typeface="Montserrat"/>
              </a:rPr>
              <a:t>Mathieu</a:t>
            </a:r>
            <a:endParaRPr sz="1200">
              <a:latin typeface="Montserrat"/>
              <a:cs typeface="Montserrat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DIRECTOR</a:t>
            </a:r>
            <a:r>
              <a:rPr dirty="0" sz="900" spc="-3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OF</a:t>
            </a:r>
            <a:r>
              <a:rPr dirty="0" sz="900" spc="-2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ACQUISITIONS</a:t>
            </a:r>
            <a:endParaRPr sz="900">
              <a:latin typeface="Montserrat"/>
              <a:cs typeface="Montserrat"/>
            </a:endParaRPr>
          </a:p>
          <a:p>
            <a:pPr marL="12700" marR="214629">
              <a:lnSpc>
                <a:spcPct val="150000"/>
              </a:lnSpc>
              <a:spcBef>
                <a:spcPts val="25"/>
              </a:spcBef>
            </a:pPr>
            <a:r>
              <a:rPr dirty="0" sz="800">
                <a:solidFill>
                  <a:srgbClr val="FFFFFF"/>
                </a:solidFill>
                <a:latin typeface="Montserrat"/>
                <a:cs typeface="Montserrat"/>
              </a:rPr>
              <a:t>Leading</a:t>
            </a:r>
            <a:r>
              <a:rPr dirty="0" sz="800" spc="-2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800" spc="-10">
                <a:solidFill>
                  <a:srgbClr val="FFFFFF"/>
                </a:solidFill>
                <a:latin typeface="Montserrat"/>
                <a:cs typeface="Montserrat"/>
              </a:rPr>
              <a:t>strategic</a:t>
            </a:r>
            <a:r>
              <a:rPr dirty="0" sz="800" spc="-2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800">
                <a:solidFill>
                  <a:srgbClr val="FFFFFF"/>
                </a:solidFill>
                <a:latin typeface="Montserrat"/>
                <a:cs typeface="Montserrat"/>
              </a:rPr>
              <a:t>initiatives</a:t>
            </a:r>
            <a:r>
              <a:rPr dirty="0" sz="800" spc="-2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800" spc="-25">
                <a:solidFill>
                  <a:srgbClr val="FFFFFF"/>
                </a:solidFill>
                <a:latin typeface="Montserrat"/>
                <a:cs typeface="Montserrat"/>
              </a:rPr>
              <a:t>to</a:t>
            </a:r>
            <a:r>
              <a:rPr dirty="0" sz="800">
                <a:solidFill>
                  <a:srgbClr val="FFFFFF"/>
                </a:solidFill>
                <a:latin typeface="Montserrat"/>
                <a:cs typeface="Montserrat"/>
              </a:rPr>
              <a:t> identify</a:t>
            </a:r>
            <a:r>
              <a:rPr dirty="0" sz="800" spc="-1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800">
                <a:solidFill>
                  <a:srgbClr val="FFFFFF"/>
                </a:solidFill>
                <a:latin typeface="Montserrat"/>
                <a:cs typeface="Montserrat"/>
              </a:rPr>
              <a:t>and</a:t>
            </a:r>
            <a:r>
              <a:rPr dirty="0" sz="800" spc="-1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800">
                <a:solidFill>
                  <a:srgbClr val="FFFFFF"/>
                </a:solidFill>
                <a:latin typeface="Montserrat"/>
                <a:cs typeface="Montserrat"/>
              </a:rPr>
              <a:t>secure</a:t>
            </a:r>
            <a:r>
              <a:rPr dirty="0" sz="800" spc="-1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800" spc="-25">
                <a:solidFill>
                  <a:srgbClr val="FFFFFF"/>
                </a:solidFill>
                <a:latin typeface="Montserrat"/>
                <a:cs typeface="Montserrat"/>
              </a:rPr>
              <a:t>key</a:t>
            </a:r>
            <a:r>
              <a:rPr dirty="0" sz="800">
                <a:solidFill>
                  <a:srgbClr val="FFFFFF"/>
                </a:solidFill>
                <a:latin typeface="Montserrat"/>
                <a:cs typeface="Montserrat"/>
              </a:rPr>
              <a:t> opportunities</a:t>
            </a:r>
            <a:r>
              <a:rPr dirty="0" sz="800" spc="-1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800">
                <a:solidFill>
                  <a:srgbClr val="FFFFFF"/>
                </a:solidFill>
                <a:latin typeface="Montserrat"/>
                <a:cs typeface="Montserrat"/>
              </a:rPr>
              <a:t>for</a:t>
            </a:r>
            <a:r>
              <a:rPr dirty="0" sz="800" spc="-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800" spc="-10">
                <a:solidFill>
                  <a:srgbClr val="FFFFFF"/>
                </a:solidFill>
                <a:latin typeface="Montserrat"/>
                <a:cs typeface="Montserrat"/>
              </a:rPr>
              <a:t>business </a:t>
            </a:r>
            <a:r>
              <a:rPr dirty="0" sz="800">
                <a:solidFill>
                  <a:srgbClr val="FFFFFF"/>
                </a:solidFill>
                <a:latin typeface="Montserrat"/>
                <a:cs typeface="Montserrat"/>
              </a:rPr>
              <a:t>expansion</a:t>
            </a:r>
            <a:r>
              <a:rPr dirty="0" sz="800" spc="-1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800">
                <a:solidFill>
                  <a:srgbClr val="FFFFFF"/>
                </a:solidFill>
                <a:latin typeface="Montserrat"/>
                <a:cs typeface="Montserrat"/>
              </a:rPr>
              <a:t>and</a:t>
            </a:r>
            <a:r>
              <a:rPr dirty="0" sz="800" spc="-10">
                <a:solidFill>
                  <a:srgbClr val="FFFFFF"/>
                </a:solidFill>
                <a:latin typeface="Montserrat"/>
                <a:cs typeface="Montserrat"/>
              </a:rPr>
              <a:t> growth.</a:t>
            </a:r>
            <a:endParaRPr sz="800">
              <a:latin typeface="Montserrat"/>
              <a:cs typeface="Montserra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072075" y="1515466"/>
            <a:ext cx="2115185" cy="1348740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dirty="0" sz="1200" b="1">
                <a:solidFill>
                  <a:srgbClr val="83E6E0"/>
                </a:solidFill>
                <a:latin typeface="Montserrat"/>
                <a:cs typeface="Montserrat"/>
              </a:rPr>
              <a:t>Marcos</a:t>
            </a:r>
            <a:r>
              <a:rPr dirty="0" sz="1200" spc="-55" b="1">
                <a:solidFill>
                  <a:srgbClr val="83E6E0"/>
                </a:solidFill>
                <a:latin typeface="Montserrat"/>
                <a:cs typeface="Montserrat"/>
              </a:rPr>
              <a:t> </a:t>
            </a:r>
            <a:r>
              <a:rPr dirty="0" sz="1200" spc="-10" b="1">
                <a:solidFill>
                  <a:srgbClr val="83E6E0"/>
                </a:solidFill>
                <a:latin typeface="Montserrat"/>
                <a:cs typeface="Montserrat"/>
              </a:rPr>
              <a:t>Fermin</a:t>
            </a:r>
            <a:endParaRPr sz="1200">
              <a:latin typeface="Montserrat"/>
              <a:cs typeface="Montserrat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PRINCIPAL</a:t>
            </a:r>
            <a:r>
              <a:rPr dirty="0" sz="900" spc="-2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DIRECTOR</a:t>
            </a:r>
            <a:r>
              <a:rPr dirty="0" sz="900" spc="-2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OF</a:t>
            </a:r>
            <a:r>
              <a:rPr dirty="0" sz="900" spc="-2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HUMANS</a:t>
            </a:r>
            <a:endParaRPr sz="900">
              <a:latin typeface="Montserrat"/>
              <a:cs typeface="Montserrat"/>
            </a:endParaRPr>
          </a:p>
          <a:p>
            <a:pPr marL="13970" marR="397510">
              <a:lnSpc>
                <a:spcPts val="1440"/>
              </a:lnSpc>
              <a:spcBef>
                <a:spcPts val="90"/>
              </a:spcBef>
            </a:pPr>
            <a:r>
              <a:rPr dirty="0" sz="800">
                <a:solidFill>
                  <a:srgbClr val="FFFFFF"/>
                </a:solidFill>
                <a:latin typeface="Montserrat"/>
                <a:cs typeface="Montserrat"/>
              </a:rPr>
              <a:t>Guiding and </a:t>
            </a:r>
            <a:r>
              <a:rPr dirty="0" sz="800" spc="-10">
                <a:solidFill>
                  <a:srgbClr val="FFFFFF"/>
                </a:solidFill>
                <a:latin typeface="Montserrat"/>
                <a:cs typeface="Montserrat"/>
              </a:rPr>
              <a:t>empowering </a:t>
            </a:r>
            <a:r>
              <a:rPr dirty="0" sz="800">
                <a:solidFill>
                  <a:srgbClr val="FFFFFF"/>
                </a:solidFill>
                <a:latin typeface="Montserrat"/>
                <a:cs typeface="Montserrat"/>
              </a:rPr>
              <a:t>individuals</a:t>
            </a:r>
            <a:r>
              <a:rPr dirty="0" sz="800" spc="-1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800">
                <a:solidFill>
                  <a:srgbClr val="FFFFFF"/>
                </a:solidFill>
                <a:latin typeface="Montserrat"/>
                <a:cs typeface="Montserrat"/>
              </a:rPr>
              <a:t>to</a:t>
            </a:r>
            <a:r>
              <a:rPr dirty="0" sz="800" spc="-1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800">
                <a:solidFill>
                  <a:srgbClr val="FFFFFF"/>
                </a:solidFill>
                <a:latin typeface="Montserrat"/>
                <a:cs typeface="Montserrat"/>
              </a:rPr>
              <a:t>unlock</a:t>
            </a:r>
            <a:r>
              <a:rPr dirty="0" sz="800" spc="-1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800">
                <a:solidFill>
                  <a:srgbClr val="FFFFFF"/>
                </a:solidFill>
                <a:latin typeface="Montserrat"/>
                <a:cs typeface="Montserrat"/>
              </a:rPr>
              <a:t>their</a:t>
            </a:r>
            <a:r>
              <a:rPr dirty="0" sz="800" spc="-1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800" spc="-20">
                <a:solidFill>
                  <a:srgbClr val="FFFFFF"/>
                </a:solidFill>
                <a:latin typeface="Montserrat"/>
                <a:cs typeface="Montserrat"/>
              </a:rPr>
              <a:t>full</a:t>
            </a:r>
            <a:r>
              <a:rPr dirty="0" sz="800">
                <a:solidFill>
                  <a:srgbClr val="FFFFFF"/>
                </a:solidFill>
                <a:latin typeface="Montserrat"/>
                <a:cs typeface="Montserrat"/>
              </a:rPr>
              <a:t> potential</a:t>
            </a:r>
            <a:r>
              <a:rPr dirty="0" sz="800" spc="-1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800">
                <a:solidFill>
                  <a:srgbClr val="FFFFFF"/>
                </a:solidFill>
                <a:latin typeface="Montserrat"/>
                <a:cs typeface="Montserrat"/>
              </a:rPr>
              <a:t>within</a:t>
            </a:r>
            <a:r>
              <a:rPr dirty="0" sz="800" spc="-1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800">
                <a:solidFill>
                  <a:srgbClr val="FFFFFF"/>
                </a:solidFill>
                <a:latin typeface="Montserrat"/>
                <a:cs typeface="Montserrat"/>
              </a:rPr>
              <a:t>the</a:t>
            </a:r>
            <a:r>
              <a:rPr dirty="0" sz="800" spc="-10">
                <a:solidFill>
                  <a:srgbClr val="FFFFFF"/>
                </a:solidFill>
                <a:latin typeface="Montserrat"/>
                <a:cs typeface="Montserrat"/>
              </a:rPr>
              <a:t> organization, fostering </a:t>
            </a:r>
            <a:r>
              <a:rPr dirty="0" sz="800">
                <a:solidFill>
                  <a:srgbClr val="FFFFFF"/>
                </a:solidFill>
                <a:latin typeface="Montserrat"/>
                <a:cs typeface="Montserrat"/>
              </a:rPr>
              <a:t>a</a:t>
            </a:r>
            <a:r>
              <a:rPr dirty="0" sz="800" spc="-1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800">
                <a:solidFill>
                  <a:srgbClr val="FFFFFF"/>
                </a:solidFill>
                <a:latin typeface="Montserrat"/>
                <a:cs typeface="Montserrat"/>
              </a:rPr>
              <a:t>culture</a:t>
            </a:r>
            <a:r>
              <a:rPr dirty="0" sz="800" spc="-1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800">
                <a:solidFill>
                  <a:srgbClr val="FFFFFF"/>
                </a:solidFill>
                <a:latin typeface="Montserrat"/>
                <a:cs typeface="Montserrat"/>
              </a:rPr>
              <a:t>of</a:t>
            </a:r>
            <a:r>
              <a:rPr dirty="0" sz="800" spc="-1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800">
                <a:solidFill>
                  <a:srgbClr val="FFFFFF"/>
                </a:solidFill>
                <a:latin typeface="Montserrat"/>
                <a:cs typeface="Montserrat"/>
              </a:rPr>
              <a:t>growth</a:t>
            </a:r>
            <a:r>
              <a:rPr dirty="0" sz="800" spc="-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800" spc="-25">
                <a:solidFill>
                  <a:srgbClr val="FFFFFF"/>
                </a:solidFill>
                <a:latin typeface="Montserrat"/>
                <a:cs typeface="Montserrat"/>
              </a:rPr>
              <a:t>and</a:t>
            </a:r>
            <a:r>
              <a:rPr dirty="0" sz="800" spc="-10">
                <a:solidFill>
                  <a:srgbClr val="FFFFFF"/>
                </a:solidFill>
                <a:latin typeface="Montserrat"/>
                <a:cs typeface="Montserrat"/>
              </a:rPr>
              <a:t> excellence.</a:t>
            </a:r>
            <a:endParaRPr sz="800">
              <a:latin typeface="Montserrat"/>
              <a:cs typeface="Montserra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9072050" y="3551994"/>
            <a:ext cx="1737995" cy="1328420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dirty="0" sz="1200" b="1">
                <a:solidFill>
                  <a:srgbClr val="83E6E0"/>
                </a:solidFill>
                <a:latin typeface="Montserrat"/>
                <a:cs typeface="Montserrat"/>
              </a:rPr>
              <a:t>Billy</a:t>
            </a:r>
            <a:r>
              <a:rPr dirty="0" sz="1200" spc="-5" b="1">
                <a:solidFill>
                  <a:srgbClr val="83E6E0"/>
                </a:solidFill>
                <a:latin typeface="Montserrat"/>
                <a:cs typeface="Montserrat"/>
              </a:rPr>
              <a:t> </a:t>
            </a:r>
            <a:r>
              <a:rPr dirty="0" sz="1200" spc="-25" b="1">
                <a:solidFill>
                  <a:srgbClr val="83E6E0"/>
                </a:solidFill>
                <a:latin typeface="Montserrat"/>
                <a:cs typeface="Montserrat"/>
              </a:rPr>
              <a:t>Duc</a:t>
            </a:r>
            <a:endParaRPr sz="1200">
              <a:latin typeface="Montserrat"/>
              <a:cs typeface="Montserrat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NETWORK MANAGER</a:t>
            </a:r>
            <a:endParaRPr sz="900">
              <a:latin typeface="Montserrat"/>
              <a:cs typeface="Montserrat"/>
            </a:endParaRPr>
          </a:p>
          <a:p>
            <a:pPr marL="12700" marR="5080">
              <a:lnSpc>
                <a:spcPct val="150000"/>
              </a:lnSpc>
              <a:spcBef>
                <a:spcPts val="25"/>
              </a:spcBef>
            </a:pPr>
            <a:r>
              <a:rPr dirty="0" sz="800" spc="-10">
                <a:solidFill>
                  <a:srgbClr val="FFFFFF"/>
                </a:solidFill>
                <a:latin typeface="Montserrat"/>
                <a:cs typeface="Montserrat"/>
              </a:rPr>
              <a:t>Orchestrating</a:t>
            </a:r>
            <a:r>
              <a:rPr dirty="0" sz="800" spc="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800">
                <a:solidFill>
                  <a:srgbClr val="FFFFFF"/>
                </a:solidFill>
                <a:latin typeface="Montserrat"/>
                <a:cs typeface="Montserrat"/>
              </a:rPr>
              <a:t>a</a:t>
            </a:r>
            <a:r>
              <a:rPr dirty="0" sz="800" spc="1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800">
                <a:solidFill>
                  <a:srgbClr val="FFFFFF"/>
                </a:solidFill>
                <a:latin typeface="Montserrat"/>
                <a:cs typeface="Montserrat"/>
              </a:rPr>
              <a:t>dynamic</a:t>
            </a:r>
            <a:r>
              <a:rPr dirty="0" sz="800" spc="1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800" spc="-10">
                <a:solidFill>
                  <a:srgbClr val="FFFFFF"/>
                </a:solidFill>
                <a:latin typeface="Montserrat"/>
                <a:cs typeface="Montserrat"/>
              </a:rPr>
              <a:t>network </a:t>
            </a:r>
            <a:r>
              <a:rPr dirty="0" sz="800">
                <a:solidFill>
                  <a:srgbClr val="FFFFFF"/>
                </a:solidFill>
                <a:latin typeface="Montserrat"/>
                <a:cs typeface="Montserrat"/>
              </a:rPr>
              <a:t>of</a:t>
            </a:r>
            <a:r>
              <a:rPr dirty="0" sz="800" spc="-10">
                <a:solidFill>
                  <a:srgbClr val="FFFFFF"/>
                </a:solidFill>
                <a:latin typeface="Montserrat"/>
                <a:cs typeface="Montserrat"/>
              </a:rPr>
              <a:t> healthcare </a:t>
            </a:r>
            <a:r>
              <a:rPr dirty="0" sz="800">
                <a:solidFill>
                  <a:srgbClr val="FFFFFF"/>
                </a:solidFill>
                <a:latin typeface="Montserrat"/>
                <a:cs typeface="Montserrat"/>
              </a:rPr>
              <a:t>IT</a:t>
            </a:r>
            <a:r>
              <a:rPr dirty="0" sz="800" spc="-1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800">
                <a:solidFill>
                  <a:srgbClr val="FFFFFF"/>
                </a:solidFill>
                <a:latin typeface="Montserrat"/>
                <a:cs typeface="Montserrat"/>
              </a:rPr>
              <a:t>savants</a:t>
            </a:r>
            <a:r>
              <a:rPr dirty="0" sz="800" spc="-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800">
                <a:solidFill>
                  <a:srgbClr val="FFFFFF"/>
                </a:solidFill>
                <a:latin typeface="Montserrat"/>
                <a:cs typeface="Montserrat"/>
              </a:rPr>
              <a:t>to</a:t>
            </a:r>
            <a:r>
              <a:rPr dirty="0" sz="800" spc="-10">
                <a:solidFill>
                  <a:srgbClr val="FFFFFF"/>
                </a:solidFill>
                <a:latin typeface="Montserrat"/>
                <a:cs typeface="Montserrat"/>
              </a:rPr>
              <a:t> deliver </a:t>
            </a:r>
            <a:r>
              <a:rPr dirty="0" sz="800">
                <a:solidFill>
                  <a:srgbClr val="FFFFFF"/>
                </a:solidFill>
                <a:latin typeface="Montserrat"/>
                <a:cs typeface="Montserrat"/>
              </a:rPr>
              <a:t>seamless</a:t>
            </a:r>
            <a:r>
              <a:rPr dirty="0" sz="800" spc="-4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800">
                <a:solidFill>
                  <a:srgbClr val="FFFFFF"/>
                </a:solidFill>
                <a:latin typeface="Montserrat"/>
                <a:cs typeface="Montserrat"/>
              </a:rPr>
              <a:t>collaboration</a:t>
            </a:r>
            <a:r>
              <a:rPr dirty="0" sz="800" spc="-3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800" spc="-25">
                <a:solidFill>
                  <a:srgbClr val="FFFFFF"/>
                </a:solidFill>
                <a:latin typeface="Montserrat"/>
                <a:cs typeface="Montserrat"/>
              </a:rPr>
              <a:t>and</a:t>
            </a:r>
            <a:r>
              <a:rPr dirty="0" sz="800">
                <a:solidFill>
                  <a:srgbClr val="FFFFFF"/>
                </a:solidFill>
                <a:latin typeface="Montserrat"/>
                <a:cs typeface="Montserrat"/>
              </a:rPr>
              <a:t> expertise</a:t>
            </a:r>
            <a:r>
              <a:rPr dirty="0" sz="800" spc="-3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800">
                <a:solidFill>
                  <a:srgbClr val="FFFFFF"/>
                </a:solidFill>
                <a:latin typeface="Montserrat"/>
                <a:cs typeface="Montserrat"/>
              </a:rPr>
              <a:t>for</a:t>
            </a:r>
            <a:r>
              <a:rPr dirty="0" sz="800" spc="-2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800" spc="-10">
                <a:solidFill>
                  <a:srgbClr val="FFFFFF"/>
                </a:solidFill>
                <a:latin typeface="Montserrat"/>
                <a:cs typeface="Montserrat"/>
              </a:rPr>
              <a:t>transformative </a:t>
            </a:r>
            <a:r>
              <a:rPr dirty="0" sz="800">
                <a:solidFill>
                  <a:srgbClr val="FFFFFF"/>
                </a:solidFill>
                <a:latin typeface="Montserrat"/>
                <a:cs typeface="Montserrat"/>
              </a:rPr>
              <a:t>consulting</a:t>
            </a:r>
            <a:r>
              <a:rPr dirty="0" sz="800" spc="-10">
                <a:solidFill>
                  <a:srgbClr val="FFFFFF"/>
                </a:solidFill>
                <a:latin typeface="Montserrat"/>
                <a:cs typeface="Montserrat"/>
              </a:rPr>
              <a:t> solutions.</a:t>
            </a:r>
            <a:endParaRPr sz="800">
              <a:latin typeface="Montserrat"/>
              <a:cs typeface="Montserrat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29196" y="1627760"/>
            <a:ext cx="731400" cy="73140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006475" y="700532"/>
            <a:ext cx="784225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5"/>
              <a:t>Team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1006475" y="1193291"/>
            <a:ext cx="3453129" cy="779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1100">
                <a:solidFill>
                  <a:srgbClr val="E0FAFC"/>
                </a:solidFill>
                <a:latin typeface="Montserrat"/>
                <a:cs typeface="Montserrat"/>
              </a:rPr>
              <a:t>This</a:t>
            </a:r>
            <a:r>
              <a:rPr dirty="0" sz="1100" spc="-30">
                <a:solidFill>
                  <a:srgbClr val="E0FAFC"/>
                </a:solidFill>
                <a:latin typeface="Montserrat"/>
                <a:cs typeface="Montserrat"/>
              </a:rPr>
              <a:t> </a:t>
            </a:r>
            <a:r>
              <a:rPr dirty="0" sz="1100" spc="-10">
                <a:solidFill>
                  <a:srgbClr val="E0FAFC"/>
                </a:solidFill>
                <a:latin typeface="Montserrat"/>
                <a:cs typeface="Montserrat"/>
              </a:rPr>
              <a:t>exceptional</a:t>
            </a:r>
            <a:r>
              <a:rPr dirty="0" sz="1100" spc="-30">
                <a:solidFill>
                  <a:srgbClr val="E0FAFC"/>
                </a:solidFill>
                <a:latin typeface="Montserrat"/>
                <a:cs typeface="Montserrat"/>
              </a:rPr>
              <a:t> </a:t>
            </a:r>
            <a:r>
              <a:rPr dirty="0" sz="1100">
                <a:solidFill>
                  <a:srgbClr val="E0FAFC"/>
                </a:solidFill>
                <a:latin typeface="Montserrat"/>
                <a:cs typeface="Montserrat"/>
              </a:rPr>
              <a:t>team</a:t>
            </a:r>
            <a:r>
              <a:rPr dirty="0" sz="1100" spc="-30">
                <a:solidFill>
                  <a:srgbClr val="E0FAFC"/>
                </a:solidFill>
                <a:latin typeface="Montserrat"/>
                <a:cs typeface="Montserrat"/>
              </a:rPr>
              <a:t> </a:t>
            </a:r>
            <a:r>
              <a:rPr dirty="0" sz="1100">
                <a:solidFill>
                  <a:srgbClr val="E0FAFC"/>
                </a:solidFill>
                <a:latin typeface="Montserrat"/>
                <a:cs typeface="Montserrat"/>
              </a:rPr>
              <a:t>at</a:t>
            </a:r>
            <a:r>
              <a:rPr dirty="0" sz="1100" spc="-30">
                <a:solidFill>
                  <a:srgbClr val="E0FAFC"/>
                </a:solidFill>
                <a:latin typeface="Montserrat"/>
                <a:cs typeface="Montserrat"/>
              </a:rPr>
              <a:t> </a:t>
            </a:r>
            <a:r>
              <a:rPr dirty="0" sz="1100">
                <a:solidFill>
                  <a:srgbClr val="E0FAFC"/>
                </a:solidFill>
                <a:latin typeface="Montserrat"/>
                <a:cs typeface="Montserrat"/>
              </a:rPr>
              <a:t>TNG</a:t>
            </a:r>
            <a:r>
              <a:rPr dirty="0" sz="1100" spc="-30">
                <a:solidFill>
                  <a:srgbClr val="E0FAFC"/>
                </a:solidFill>
                <a:latin typeface="Montserrat"/>
                <a:cs typeface="Montserrat"/>
              </a:rPr>
              <a:t> </a:t>
            </a:r>
            <a:r>
              <a:rPr dirty="0" sz="1100">
                <a:solidFill>
                  <a:srgbClr val="E0FAFC"/>
                </a:solidFill>
                <a:latin typeface="Montserrat"/>
                <a:cs typeface="Montserrat"/>
              </a:rPr>
              <a:t>specializes</a:t>
            </a:r>
            <a:r>
              <a:rPr dirty="0" sz="1100" spc="-30">
                <a:solidFill>
                  <a:srgbClr val="E0FAFC"/>
                </a:solidFill>
                <a:latin typeface="Montserrat"/>
                <a:cs typeface="Montserrat"/>
              </a:rPr>
              <a:t> </a:t>
            </a:r>
            <a:r>
              <a:rPr dirty="0" sz="1100" spc="-25">
                <a:solidFill>
                  <a:srgbClr val="E0FAFC"/>
                </a:solidFill>
                <a:latin typeface="Montserrat"/>
                <a:cs typeface="Montserrat"/>
              </a:rPr>
              <a:t>in </a:t>
            </a:r>
            <a:r>
              <a:rPr dirty="0" sz="1100">
                <a:solidFill>
                  <a:srgbClr val="E0FAFC"/>
                </a:solidFill>
                <a:latin typeface="Montserrat"/>
                <a:cs typeface="Montserrat"/>
              </a:rPr>
              <a:t>catering</a:t>
            </a:r>
            <a:r>
              <a:rPr dirty="0" sz="1100" spc="-30">
                <a:solidFill>
                  <a:srgbClr val="E0FAFC"/>
                </a:solidFill>
                <a:latin typeface="Montserrat"/>
                <a:cs typeface="Montserrat"/>
              </a:rPr>
              <a:t> </a:t>
            </a:r>
            <a:r>
              <a:rPr dirty="0" sz="1100" spc="-10">
                <a:solidFill>
                  <a:srgbClr val="E0FAFC"/>
                </a:solidFill>
                <a:latin typeface="Montserrat"/>
                <a:cs typeface="Montserrat"/>
              </a:rPr>
              <a:t>exclusively</a:t>
            </a:r>
            <a:r>
              <a:rPr dirty="0" sz="1100" spc="-30">
                <a:solidFill>
                  <a:srgbClr val="E0FAFC"/>
                </a:solidFill>
                <a:latin typeface="Montserrat"/>
                <a:cs typeface="Montserrat"/>
              </a:rPr>
              <a:t> </a:t>
            </a:r>
            <a:r>
              <a:rPr dirty="0" sz="1100">
                <a:solidFill>
                  <a:srgbClr val="E0FAFC"/>
                </a:solidFill>
                <a:latin typeface="Montserrat"/>
                <a:cs typeface="Montserrat"/>
              </a:rPr>
              <a:t>to</a:t>
            </a:r>
            <a:r>
              <a:rPr dirty="0" sz="1100" spc="-30">
                <a:solidFill>
                  <a:srgbClr val="E0FAFC"/>
                </a:solidFill>
                <a:latin typeface="Montserrat"/>
                <a:cs typeface="Montserrat"/>
              </a:rPr>
              <a:t> </a:t>
            </a:r>
            <a:r>
              <a:rPr dirty="0" sz="1100" spc="-20">
                <a:solidFill>
                  <a:srgbClr val="E0FAFC"/>
                </a:solidFill>
                <a:latin typeface="Montserrat"/>
                <a:cs typeface="Montserrat"/>
              </a:rPr>
              <a:t>top-</a:t>
            </a:r>
            <a:r>
              <a:rPr dirty="0" sz="1100">
                <a:solidFill>
                  <a:srgbClr val="E0FAFC"/>
                </a:solidFill>
                <a:latin typeface="Montserrat"/>
                <a:cs typeface="Montserrat"/>
              </a:rPr>
              <a:t>level</a:t>
            </a:r>
            <a:r>
              <a:rPr dirty="0" sz="1100" spc="-30">
                <a:solidFill>
                  <a:srgbClr val="E0FAFC"/>
                </a:solidFill>
                <a:latin typeface="Montserrat"/>
                <a:cs typeface="Montserrat"/>
              </a:rPr>
              <a:t> </a:t>
            </a:r>
            <a:r>
              <a:rPr dirty="0" sz="1100" spc="-10">
                <a:solidFill>
                  <a:srgbClr val="E0FAFC"/>
                </a:solidFill>
                <a:latin typeface="Montserrat"/>
                <a:cs typeface="Montserrat"/>
              </a:rPr>
              <a:t>executives</a:t>
            </a:r>
            <a:r>
              <a:rPr dirty="0" sz="1100" spc="-50">
                <a:solidFill>
                  <a:srgbClr val="E0FAFC"/>
                </a:solidFill>
                <a:latin typeface="Montserrat"/>
                <a:cs typeface="Montserrat"/>
              </a:rPr>
              <a:t> </a:t>
            </a:r>
            <a:r>
              <a:rPr dirty="0" sz="1100" spc="-10">
                <a:solidFill>
                  <a:srgbClr val="E0FAFC"/>
                </a:solidFill>
                <a:latin typeface="Montserrat"/>
                <a:cs typeface="Montserrat"/>
              </a:rPr>
              <a:t>within </a:t>
            </a:r>
            <a:r>
              <a:rPr dirty="0" sz="1100">
                <a:solidFill>
                  <a:srgbClr val="E0FAFC"/>
                </a:solidFill>
                <a:latin typeface="Montserrat"/>
                <a:cs typeface="Montserrat"/>
              </a:rPr>
              <a:t>the</a:t>
            </a:r>
            <a:r>
              <a:rPr dirty="0" sz="1100" spc="-5">
                <a:solidFill>
                  <a:srgbClr val="E0FAFC"/>
                </a:solidFill>
                <a:latin typeface="Montserrat"/>
                <a:cs typeface="Montserrat"/>
              </a:rPr>
              <a:t> </a:t>
            </a:r>
            <a:r>
              <a:rPr dirty="0" sz="1100" spc="-10">
                <a:solidFill>
                  <a:srgbClr val="E0FAFC"/>
                </a:solidFill>
                <a:latin typeface="Montserrat"/>
                <a:cs typeface="Montserrat"/>
              </a:rPr>
              <a:t>healthcare</a:t>
            </a:r>
            <a:r>
              <a:rPr dirty="0" sz="1100" spc="-5">
                <a:solidFill>
                  <a:srgbClr val="E0FAFC"/>
                </a:solidFill>
                <a:latin typeface="Montserrat"/>
                <a:cs typeface="Montserrat"/>
              </a:rPr>
              <a:t> </a:t>
            </a:r>
            <a:r>
              <a:rPr dirty="0" sz="1100" spc="-10">
                <a:solidFill>
                  <a:srgbClr val="E0FAFC"/>
                </a:solidFill>
                <a:latin typeface="Montserrat"/>
                <a:cs typeface="Montserrat"/>
              </a:rPr>
              <a:t>industry.</a:t>
            </a:r>
            <a:endParaRPr sz="1100">
              <a:latin typeface="Montserrat"/>
              <a:cs typeface="Montserra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006475" y="2199132"/>
            <a:ext cx="3378835" cy="1282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1100">
                <a:solidFill>
                  <a:srgbClr val="E0FAFC"/>
                </a:solidFill>
                <a:latin typeface="Montserrat"/>
                <a:cs typeface="Montserrat"/>
              </a:rPr>
              <a:t>Equipped</a:t>
            </a:r>
            <a:r>
              <a:rPr dirty="0" sz="1100" spc="-35">
                <a:solidFill>
                  <a:srgbClr val="E0FAFC"/>
                </a:solidFill>
                <a:latin typeface="Montserrat"/>
                <a:cs typeface="Montserrat"/>
              </a:rPr>
              <a:t> </a:t>
            </a:r>
            <a:r>
              <a:rPr dirty="0" sz="1100">
                <a:solidFill>
                  <a:srgbClr val="E0FAFC"/>
                </a:solidFill>
                <a:latin typeface="Montserrat"/>
                <a:cs typeface="Montserrat"/>
              </a:rPr>
              <a:t>with</a:t>
            </a:r>
            <a:r>
              <a:rPr dirty="0" sz="1100" spc="-30">
                <a:solidFill>
                  <a:srgbClr val="E0FAFC"/>
                </a:solidFill>
                <a:latin typeface="Montserrat"/>
                <a:cs typeface="Montserrat"/>
              </a:rPr>
              <a:t> </a:t>
            </a:r>
            <a:r>
              <a:rPr dirty="0" sz="1100" spc="-10">
                <a:solidFill>
                  <a:srgbClr val="E0FAFC"/>
                </a:solidFill>
                <a:latin typeface="Montserrat"/>
                <a:cs typeface="Montserrat"/>
              </a:rPr>
              <a:t>extensive</a:t>
            </a:r>
            <a:r>
              <a:rPr dirty="0" sz="1100" spc="-35">
                <a:solidFill>
                  <a:srgbClr val="E0FAFC"/>
                </a:solidFill>
                <a:latin typeface="Montserrat"/>
                <a:cs typeface="Montserrat"/>
              </a:rPr>
              <a:t> </a:t>
            </a:r>
            <a:r>
              <a:rPr dirty="0" sz="1100">
                <a:solidFill>
                  <a:srgbClr val="E0FAFC"/>
                </a:solidFill>
                <a:latin typeface="Montserrat"/>
                <a:cs typeface="Montserrat"/>
              </a:rPr>
              <a:t>experience</a:t>
            </a:r>
            <a:r>
              <a:rPr dirty="0" sz="1100" spc="-30">
                <a:solidFill>
                  <a:srgbClr val="E0FAFC"/>
                </a:solidFill>
                <a:latin typeface="Montserrat"/>
                <a:cs typeface="Montserrat"/>
              </a:rPr>
              <a:t> </a:t>
            </a:r>
            <a:r>
              <a:rPr dirty="0" sz="1100">
                <a:solidFill>
                  <a:srgbClr val="E0FAFC"/>
                </a:solidFill>
                <a:latin typeface="Montserrat"/>
                <a:cs typeface="Montserrat"/>
              </a:rPr>
              <a:t>and</a:t>
            </a:r>
            <a:r>
              <a:rPr dirty="0" sz="1100" spc="-35">
                <a:solidFill>
                  <a:srgbClr val="E0FAFC"/>
                </a:solidFill>
                <a:latin typeface="Montserrat"/>
                <a:cs typeface="Montserrat"/>
              </a:rPr>
              <a:t> </a:t>
            </a:r>
            <a:r>
              <a:rPr dirty="0" sz="1100">
                <a:solidFill>
                  <a:srgbClr val="E0FAFC"/>
                </a:solidFill>
                <a:latin typeface="Montserrat"/>
                <a:cs typeface="Montserrat"/>
              </a:rPr>
              <a:t>a</a:t>
            </a:r>
            <a:r>
              <a:rPr dirty="0" sz="1100" spc="-30">
                <a:solidFill>
                  <a:srgbClr val="E0FAFC"/>
                </a:solidFill>
                <a:latin typeface="Montserrat"/>
                <a:cs typeface="Montserrat"/>
              </a:rPr>
              <a:t> </a:t>
            </a:r>
            <a:r>
              <a:rPr dirty="0" sz="1100" spc="-20">
                <a:solidFill>
                  <a:srgbClr val="E0FAFC"/>
                </a:solidFill>
                <a:latin typeface="Montserrat"/>
                <a:cs typeface="Montserrat"/>
              </a:rPr>
              <a:t>deep </a:t>
            </a:r>
            <a:r>
              <a:rPr dirty="0" sz="1100" spc="-10">
                <a:solidFill>
                  <a:srgbClr val="E0FAFC"/>
                </a:solidFill>
                <a:latin typeface="Montserrat"/>
                <a:cs typeface="Montserrat"/>
              </a:rPr>
              <a:t>understanding</a:t>
            </a:r>
            <a:r>
              <a:rPr dirty="0" sz="1100" spc="-5">
                <a:solidFill>
                  <a:srgbClr val="E0FAFC"/>
                </a:solidFill>
                <a:latin typeface="Montserrat"/>
                <a:cs typeface="Montserrat"/>
              </a:rPr>
              <a:t> </a:t>
            </a:r>
            <a:r>
              <a:rPr dirty="0" sz="1100">
                <a:solidFill>
                  <a:srgbClr val="E0FAFC"/>
                </a:solidFill>
                <a:latin typeface="Montserrat"/>
                <a:cs typeface="Montserrat"/>
              </a:rPr>
              <a:t>of</a:t>
            </a:r>
            <a:r>
              <a:rPr dirty="0" sz="1100" spc="-5">
                <a:solidFill>
                  <a:srgbClr val="E0FAFC"/>
                </a:solidFill>
                <a:latin typeface="Montserrat"/>
                <a:cs typeface="Montserrat"/>
              </a:rPr>
              <a:t> </a:t>
            </a:r>
            <a:r>
              <a:rPr dirty="0" sz="1100">
                <a:solidFill>
                  <a:srgbClr val="E0FAFC"/>
                </a:solidFill>
                <a:latin typeface="Montserrat"/>
                <a:cs typeface="Montserrat"/>
              </a:rPr>
              <a:t>the</a:t>
            </a:r>
            <a:r>
              <a:rPr dirty="0" sz="1100" spc="-5">
                <a:solidFill>
                  <a:srgbClr val="E0FAFC"/>
                </a:solidFill>
                <a:latin typeface="Montserrat"/>
                <a:cs typeface="Montserrat"/>
              </a:rPr>
              <a:t> </a:t>
            </a:r>
            <a:r>
              <a:rPr dirty="0" sz="1100" spc="-10">
                <a:solidFill>
                  <a:srgbClr val="E0FAFC"/>
                </a:solidFill>
                <a:latin typeface="Montserrat"/>
                <a:cs typeface="Montserrat"/>
              </a:rPr>
              <a:t>healthcare</a:t>
            </a:r>
            <a:r>
              <a:rPr dirty="0" sz="1100" spc="-5">
                <a:solidFill>
                  <a:srgbClr val="E0FAFC"/>
                </a:solidFill>
                <a:latin typeface="Montserrat"/>
                <a:cs typeface="Montserrat"/>
              </a:rPr>
              <a:t> </a:t>
            </a:r>
            <a:r>
              <a:rPr dirty="0" sz="1100">
                <a:solidFill>
                  <a:srgbClr val="E0FAFC"/>
                </a:solidFill>
                <a:latin typeface="Montserrat"/>
                <a:cs typeface="Montserrat"/>
              </a:rPr>
              <a:t>landscape,</a:t>
            </a:r>
            <a:r>
              <a:rPr dirty="0" sz="1100" spc="-5">
                <a:solidFill>
                  <a:srgbClr val="E0FAFC"/>
                </a:solidFill>
                <a:latin typeface="Montserrat"/>
                <a:cs typeface="Montserrat"/>
              </a:rPr>
              <a:t> </a:t>
            </a:r>
            <a:r>
              <a:rPr dirty="0" sz="1100" spc="-25">
                <a:solidFill>
                  <a:srgbClr val="E0FAFC"/>
                </a:solidFill>
                <a:latin typeface="Montserrat"/>
                <a:cs typeface="Montserrat"/>
              </a:rPr>
              <a:t>our </a:t>
            </a:r>
            <a:r>
              <a:rPr dirty="0" sz="1100">
                <a:solidFill>
                  <a:srgbClr val="E0FAFC"/>
                </a:solidFill>
                <a:latin typeface="Montserrat"/>
                <a:cs typeface="Montserrat"/>
              </a:rPr>
              <a:t>highly</a:t>
            </a:r>
            <a:r>
              <a:rPr dirty="0" sz="1100" spc="-25">
                <a:solidFill>
                  <a:srgbClr val="E0FAFC"/>
                </a:solidFill>
                <a:latin typeface="Montserrat"/>
                <a:cs typeface="Montserrat"/>
              </a:rPr>
              <a:t> </a:t>
            </a:r>
            <a:r>
              <a:rPr dirty="0" sz="1100">
                <a:solidFill>
                  <a:srgbClr val="E0FAFC"/>
                </a:solidFill>
                <a:latin typeface="Montserrat"/>
                <a:cs typeface="Montserrat"/>
              </a:rPr>
              <a:t>skilled</a:t>
            </a:r>
            <a:r>
              <a:rPr dirty="0" sz="1100" spc="-25">
                <a:solidFill>
                  <a:srgbClr val="E0FAFC"/>
                </a:solidFill>
                <a:latin typeface="Montserrat"/>
                <a:cs typeface="Montserrat"/>
              </a:rPr>
              <a:t> </a:t>
            </a:r>
            <a:r>
              <a:rPr dirty="0" sz="1100" spc="-10">
                <a:solidFill>
                  <a:srgbClr val="E0FAFC"/>
                </a:solidFill>
                <a:latin typeface="Montserrat"/>
                <a:cs typeface="Montserrat"/>
              </a:rPr>
              <a:t>professionals</a:t>
            </a:r>
            <a:r>
              <a:rPr dirty="0" sz="1100" spc="-25">
                <a:solidFill>
                  <a:srgbClr val="E0FAFC"/>
                </a:solidFill>
                <a:latin typeface="Montserrat"/>
                <a:cs typeface="Montserrat"/>
              </a:rPr>
              <a:t> </a:t>
            </a:r>
            <a:r>
              <a:rPr dirty="0" sz="1100">
                <a:solidFill>
                  <a:srgbClr val="E0FAFC"/>
                </a:solidFill>
                <a:latin typeface="Montserrat"/>
                <a:cs typeface="Montserrat"/>
              </a:rPr>
              <a:t>provide</a:t>
            </a:r>
            <a:r>
              <a:rPr dirty="0" sz="1100" spc="-25">
                <a:solidFill>
                  <a:srgbClr val="E0FAFC"/>
                </a:solidFill>
                <a:latin typeface="Montserrat"/>
                <a:cs typeface="Montserrat"/>
              </a:rPr>
              <a:t> </a:t>
            </a:r>
            <a:r>
              <a:rPr dirty="0" sz="1100" spc="-10">
                <a:solidFill>
                  <a:srgbClr val="E0FAFC"/>
                </a:solidFill>
                <a:latin typeface="Montserrat"/>
                <a:cs typeface="Montserrat"/>
              </a:rPr>
              <a:t>strategic </a:t>
            </a:r>
            <a:r>
              <a:rPr dirty="0" sz="1100">
                <a:solidFill>
                  <a:srgbClr val="E0FAFC"/>
                </a:solidFill>
                <a:latin typeface="Montserrat"/>
                <a:cs typeface="Montserrat"/>
              </a:rPr>
              <a:t>guidance</a:t>
            </a:r>
            <a:r>
              <a:rPr dirty="0" sz="1100" spc="-45">
                <a:solidFill>
                  <a:srgbClr val="E0FAFC"/>
                </a:solidFill>
                <a:latin typeface="Montserrat"/>
                <a:cs typeface="Montserrat"/>
              </a:rPr>
              <a:t> </a:t>
            </a:r>
            <a:r>
              <a:rPr dirty="0" sz="1100">
                <a:solidFill>
                  <a:srgbClr val="E0FAFC"/>
                </a:solidFill>
                <a:latin typeface="Montserrat"/>
                <a:cs typeface="Montserrat"/>
              </a:rPr>
              <a:t>and</a:t>
            </a:r>
            <a:r>
              <a:rPr dirty="0" sz="1100" spc="-40">
                <a:solidFill>
                  <a:srgbClr val="E0FAFC"/>
                </a:solidFill>
                <a:latin typeface="Montserrat"/>
                <a:cs typeface="Montserrat"/>
              </a:rPr>
              <a:t> </a:t>
            </a:r>
            <a:r>
              <a:rPr dirty="0" sz="1100">
                <a:solidFill>
                  <a:srgbClr val="E0FAFC"/>
                </a:solidFill>
                <a:latin typeface="Montserrat"/>
                <a:cs typeface="Montserrat"/>
              </a:rPr>
              <a:t>deliver</a:t>
            </a:r>
            <a:r>
              <a:rPr dirty="0" sz="1100" spc="-40">
                <a:solidFill>
                  <a:srgbClr val="E0FAFC"/>
                </a:solidFill>
                <a:latin typeface="Montserrat"/>
                <a:cs typeface="Montserrat"/>
              </a:rPr>
              <a:t> </a:t>
            </a:r>
            <a:r>
              <a:rPr dirty="0" sz="1100">
                <a:solidFill>
                  <a:srgbClr val="E0FAFC"/>
                </a:solidFill>
                <a:latin typeface="Montserrat"/>
                <a:cs typeface="Montserrat"/>
              </a:rPr>
              <a:t>tailored</a:t>
            </a:r>
            <a:r>
              <a:rPr dirty="0" sz="1100" spc="-45">
                <a:solidFill>
                  <a:srgbClr val="E0FAFC"/>
                </a:solidFill>
                <a:latin typeface="Montserrat"/>
                <a:cs typeface="Montserrat"/>
              </a:rPr>
              <a:t> </a:t>
            </a:r>
            <a:r>
              <a:rPr dirty="0" sz="1100">
                <a:solidFill>
                  <a:srgbClr val="E0FAFC"/>
                </a:solidFill>
                <a:latin typeface="Montserrat"/>
                <a:cs typeface="Montserrat"/>
              </a:rPr>
              <a:t>IT</a:t>
            </a:r>
            <a:r>
              <a:rPr dirty="0" sz="1100" spc="-40">
                <a:solidFill>
                  <a:srgbClr val="E0FAFC"/>
                </a:solidFill>
                <a:latin typeface="Montserrat"/>
                <a:cs typeface="Montserrat"/>
              </a:rPr>
              <a:t> </a:t>
            </a:r>
            <a:r>
              <a:rPr dirty="0" sz="1100">
                <a:solidFill>
                  <a:srgbClr val="E0FAFC"/>
                </a:solidFill>
                <a:latin typeface="Montserrat"/>
                <a:cs typeface="Montserrat"/>
              </a:rPr>
              <a:t>solutions</a:t>
            </a:r>
            <a:r>
              <a:rPr dirty="0" sz="1100" spc="-40">
                <a:solidFill>
                  <a:srgbClr val="E0FAFC"/>
                </a:solidFill>
                <a:latin typeface="Montserrat"/>
                <a:cs typeface="Montserrat"/>
              </a:rPr>
              <a:t> </a:t>
            </a:r>
            <a:r>
              <a:rPr dirty="0" sz="1100" spc="-20">
                <a:solidFill>
                  <a:srgbClr val="E0FAFC"/>
                </a:solidFill>
                <a:latin typeface="Montserrat"/>
                <a:cs typeface="Montserrat"/>
              </a:rPr>
              <a:t>that </a:t>
            </a:r>
            <a:r>
              <a:rPr dirty="0" sz="1100">
                <a:solidFill>
                  <a:srgbClr val="E0FAFC"/>
                </a:solidFill>
                <a:latin typeface="Montserrat"/>
                <a:cs typeface="Montserrat"/>
              </a:rPr>
              <a:t>align</a:t>
            </a:r>
            <a:r>
              <a:rPr dirty="0" sz="1100" spc="-15">
                <a:solidFill>
                  <a:srgbClr val="E0FAFC"/>
                </a:solidFill>
                <a:latin typeface="Montserrat"/>
                <a:cs typeface="Montserrat"/>
              </a:rPr>
              <a:t> </a:t>
            </a:r>
            <a:r>
              <a:rPr dirty="0" sz="1100">
                <a:solidFill>
                  <a:srgbClr val="E0FAFC"/>
                </a:solidFill>
                <a:latin typeface="Montserrat"/>
                <a:cs typeface="Montserrat"/>
              </a:rPr>
              <a:t>with</a:t>
            </a:r>
            <a:r>
              <a:rPr dirty="0" sz="1100" spc="-10">
                <a:solidFill>
                  <a:srgbClr val="E0FAFC"/>
                </a:solidFill>
                <a:latin typeface="Montserrat"/>
                <a:cs typeface="Montserrat"/>
              </a:rPr>
              <a:t> </a:t>
            </a:r>
            <a:r>
              <a:rPr dirty="0" sz="1100">
                <a:solidFill>
                  <a:srgbClr val="E0FAFC"/>
                </a:solidFill>
                <a:latin typeface="Montserrat"/>
                <a:cs typeface="Montserrat"/>
              </a:rPr>
              <a:t>your</a:t>
            </a:r>
            <a:r>
              <a:rPr dirty="0" sz="1100" spc="-15">
                <a:solidFill>
                  <a:srgbClr val="E0FAFC"/>
                </a:solidFill>
                <a:latin typeface="Montserrat"/>
                <a:cs typeface="Montserrat"/>
              </a:rPr>
              <a:t> </a:t>
            </a:r>
            <a:r>
              <a:rPr dirty="0" sz="1100" spc="-10">
                <a:solidFill>
                  <a:srgbClr val="E0FAFC"/>
                </a:solidFill>
                <a:latin typeface="Montserrat"/>
                <a:cs typeface="Montserrat"/>
              </a:rPr>
              <a:t>organization's </a:t>
            </a:r>
            <a:r>
              <a:rPr dirty="0" sz="1100">
                <a:solidFill>
                  <a:srgbClr val="E0FAFC"/>
                </a:solidFill>
                <a:latin typeface="Montserrat"/>
                <a:cs typeface="Montserrat"/>
              </a:rPr>
              <a:t>vision</a:t>
            </a:r>
            <a:r>
              <a:rPr dirty="0" sz="1100" spc="-15">
                <a:solidFill>
                  <a:srgbClr val="E0FAFC"/>
                </a:solidFill>
                <a:latin typeface="Montserrat"/>
                <a:cs typeface="Montserrat"/>
              </a:rPr>
              <a:t> </a:t>
            </a:r>
            <a:r>
              <a:rPr dirty="0" sz="1100">
                <a:solidFill>
                  <a:srgbClr val="E0FAFC"/>
                </a:solidFill>
                <a:latin typeface="Montserrat"/>
                <a:cs typeface="Montserrat"/>
              </a:rPr>
              <a:t>and</a:t>
            </a:r>
            <a:r>
              <a:rPr dirty="0" sz="1100" spc="-10">
                <a:solidFill>
                  <a:srgbClr val="E0FAFC"/>
                </a:solidFill>
                <a:latin typeface="Montserrat"/>
                <a:cs typeface="Montserrat"/>
              </a:rPr>
              <a:t> goals.</a:t>
            </a:r>
            <a:endParaRPr sz="1100">
              <a:latin typeface="Montserrat"/>
              <a:cs typeface="Montserra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006475" y="3707891"/>
            <a:ext cx="3404870" cy="1785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1100">
                <a:solidFill>
                  <a:srgbClr val="E0FAFC"/>
                </a:solidFill>
                <a:latin typeface="Montserrat"/>
                <a:cs typeface="Montserrat"/>
              </a:rPr>
              <a:t>With</a:t>
            </a:r>
            <a:r>
              <a:rPr dirty="0" sz="1100" spc="-15">
                <a:solidFill>
                  <a:srgbClr val="E0FAFC"/>
                </a:solidFill>
                <a:latin typeface="Montserrat"/>
                <a:cs typeface="Montserrat"/>
              </a:rPr>
              <a:t> </a:t>
            </a:r>
            <a:r>
              <a:rPr dirty="0" sz="1100">
                <a:solidFill>
                  <a:srgbClr val="E0FAFC"/>
                </a:solidFill>
                <a:latin typeface="Montserrat"/>
                <a:cs typeface="Montserrat"/>
              </a:rPr>
              <a:t>their</a:t>
            </a:r>
            <a:r>
              <a:rPr dirty="0" sz="1100" spc="-15">
                <a:solidFill>
                  <a:srgbClr val="E0FAFC"/>
                </a:solidFill>
                <a:latin typeface="Montserrat"/>
                <a:cs typeface="Montserrat"/>
              </a:rPr>
              <a:t> </a:t>
            </a:r>
            <a:r>
              <a:rPr dirty="0" sz="1100">
                <a:solidFill>
                  <a:srgbClr val="E0FAFC"/>
                </a:solidFill>
                <a:latin typeface="Montserrat"/>
                <a:cs typeface="Montserrat"/>
              </a:rPr>
              <a:t>expertise,</a:t>
            </a:r>
            <a:r>
              <a:rPr dirty="0" sz="1100" spc="-10">
                <a:solidFill>
                  <a:srgbClr val="E0FAFC"/>
                </a:solidFill>
                <a:latin typeface="Montserrat"/>
                <a:cs typeface="Montserrat"/>
              </a:rPr>
              <a:t> professionalism,</a:t>
            </a:r>
            <a:r>
              <a:rPr dirty="0" sz="1100" spc="-15">
                <a:solidFill>
                  <a:srgbClr val="E0FAFC"/>
                </a:solidFill>
                <a:latin typeface="Montserrat"/>
                <a:cs typeface="Montserrat"/>
              </a:rPr>
              <a:t> </a:t>
            </a:r>
            <a:r>
              <a:rPr dirty="0" sz="1100">
                <a:solidFill>
                  <a:srgbClr val="E0FAFC"/>
                </a:solidFill>
                <a:latin typeface="Montserrat"/>
                <a:cs typeface="Montserrat"/>
              </a:rPr>
              <a:t>and</a:t>
            </a:r>
            <a:r>
              <a:rPr dirty="0" sz="1100" spc="-15">
                <a:solidFill>
                  <a:srgbClr val="E0FAFC"/>
                </a:solidFill>
                <a:latin typeface="Montserrat"/>
                <a:cs typeface="Montserrat"/>
              </a:rPr>
              <a:t> </a:t>
            </a:r>
            <a:r>
              <a:rPr dirty="0" sz="1100" spc="-10">
                <a:solidFill>
                  <a:srgbClr val="E0FAFC"/>
                </a:solidFill>
                <a:latin typeface="Montserrat"/>
                <a:cs typeface="Montserrat"/>
              </a:rPr>
              <a:t>strong communication</a:t>
            </a:r>
            <a:r>
              <a:rPr dirty="0" sz="1100" spc="-15">
                <a:solidFill>
                  <a:srgbClr val="E0FAFC"/>
                </a:solidFill>
                <a:latin typeface="Montserrat"/>
                <a:cs typeface="Montserrat"/>
              </a:rPr>
              <a:t> </a:t>
            </a:r>
            <a:r>
              <a:rPr dirty="0" sz="1100">
                <a:solidFill>
                  <a:srgbClr val="E0FAFC"/>
                </a:solidFill>
                <a:latin typeface="Montserrat"/>
                <a:cs typeface="Montserrat"/>
              </a:rPr>
              <a:t>skills,</a:t>
            </a:r>
            <a:r>
              <a:rPr dirty="0" sz="1100" spc="-10">
                <a:solidFill>
                  <a:srgbClr val="E0FAFC"/>
                </a:solidFill>
                <a:latin typeface="Montserrat"/>
                <a:cs typeface="Montserrat"/>
              </a:rPr>
              <a:t> </a:t>
            </a:r>
            <a:r>
              <a:rPr dirty="0" sz="1100">
                <a:solidFill>
                  <a:srgbClr val="E0FAFC"/>
                </a:solidFill>
                <a:latin typeface="Montserrat"/>
                <a:cs typeface="Montserrat"/>
              </a:rPr>
              <a:t>our</a:t>
            </a:r>
            <a:r>
              <a:rPr dirty="0" sz="1100" spc="-15">
                <a:solidFill>
                  <a:srgbClr val="E0FAFC"/>
                </a:solidFill>
                <a:latin typeface="Montserrat"/>
                <a:cs typeface="Montserrat"/>
              </a:rPr>
              <a:t> </a:t>
            </a:r>
            <a:r>
              <a:rPr dirty="0" sz="1100">
                <a:solidFill>
                  <a:srgbClr val="E0FAFC"/>
                </a:solidFill>
                <a:latin typeface="Montserrat"/>
                <a:cs typeface="Montserrat"/>
              </a:rPr>
              <a:t>team</a:t>
            </a:r>
            <a:r>
              <a:rPr dirty="0" sz="1100" spc="-10">
                <a:solidFill>
                  <a:srgbClr val="E0FAFC"/>
                </a:solidFill>
                <a:latin typeface="Montserrat"/>
                <a:cs typeface="Montserrat"/>
              </a:rPr>
              <a:t> empowers executives</a:t>
            </a:r>
            <a:r>
              <a:rPr dirty="0" sz="1100" spc="-35">
                <a:solidFill>
                  <a:srgbClr val="E0FAFC"/>
                </a:solidFill>
                <a:latin typeface="Montserrat"/>
                <a:cs typeface="Montserrat"/>
              </a:rPr>
              <a:t> </a:t>
            </a:r>
            <a:r>
              <a:rPr dirty="0" sz="1100">
                <a:solidFill>
                  <a:srgbClr val="E0FAFC"/>
                </a:solidFill>
                <a:latin typeface="Montserrat"/>
                <a:cs typeface="Montserrat"/>
              </a:rPr>
              <a:t>to</a:t>
            </a:r>
            <a:r>
              <a:rPr dirty="0" sz="1100" spc="-30">
                <a:solidFill>
                  <a:srgbClr val="E0FAFC"/>
                </a:solidFill>
                <a:latin typeface="Montserrat"/>
                <a:cs typeface="Montserrat"/>
              </a:rPr>
              <a:t> </a:t>
            </a:r>
            <a:r>
              <a:rPr dirty="0" sz="1100">
                <a:solidFill>
                  <a:srgbClr val="E0FAFC"/>
                </a:solidFill>
                <a:latin typeface="Montserrat"/>
                <a:cs typeface="Montserrat"/>
              </a:rPr>
              <a:t>make</a:t>
            </a:r>
            <a:r>
              <a:rPr dirty="0" sz="1100" spc="-30">
                <a:solidFill>
                  <a:srgbClr val="E0FAFC"/>
                </a:solidFill>
                <a:latin typeface="Montserrat"/>
                <a:cs typeface="Montserrat"/>
              </a:rPr>
              <a:t> </a:t>
            </a:r>
            <a:r>
              <a:rPr dirty="0" sz="1100">
                <a:solidFill>
                  <a:srgbClr val="E0FAFC"/>
                </a:solidFill>
                <a:latin typeface="Montserrat"/>
                <a:cs typeface="Montserrat"/>
              </a:rPr>
              <a:t>informed</a:t>
            </a:r>
            <a:r>
              <a:rPr dirty="0" sz="1100" spc="-35">
                <a:solidFill>
                  <a:srgbClr val="E0FAFC"/>
                </a:solidFill>
                <a:latin typeface="Montserrat"/>
                <a:cs typeface="Montserrat"/>
              </a:rPr>
              <a:t> </a:t>
            </a:r>
            <a:r>
              <a:rPr dirty="0" sz="1100">
                <a:solidFill>
                  <a:srgbClr val="E0FAFC"/>
                </a:solidFill>
                <a:latin typeface="Montserrat"/>
                <a:cs typeface="Montserrat"/>
              </a:rPr>
              <a:t>decisions,</a:t>
            </a:r>
            <a:r>
              <a:rPr dirty="0" sz="1100" spc="-30">
                <a:solidFill>
                  <a:srgbClr val="E0FAFC"/>
                </a:solidFill>
                <a:latin typeface="Montserrat"/>
                <a:cs typeface="Montserrat"/>
              </a:rPr>
              <a:t> </a:t>
            </a:r>
            <a:r>
              <a:rPr dirty="0" sz="1100" spc="-20">
                <a:solidFill>
                  <a:srgbClr val="E0FAFC"/>
                </a:solidFill>
                <a:latin typeface="Montserrat"/>
                <a:cs typeface="Montserrat"/>
              </a:rPr>
              <a:t>drive </a:t>
            </a:r>
            <a:r>
              <a:rPr dirty="0" sz="1100" spc="-10">
                <a:solidFill>
                  <a:srgbClr val="E0FAFC"/>
                </a:solidFill>
                <a:latin typeface="Montserrat"/>
                <a:cs typeface="Montserrat"/>
              </a:rPr>
              <a:t>innovation, </a:t>
            </a:r>
            <a:r>
              <a:rPr dirty="0" sz="1100">
                <a:solidFill>
                  <a:srgbClr val="E0FAFC"/>
                </a:solidFill>
                <a:latin typeface="Montserrat"/>
                <a:cs typeface="Montserrat"/>
              </a:rPr>
              <a:t>and</a:t>
            </a:r>
            <a:r>
              <a:rPr dirty="0" sz="1100" spc="-10">
                <a:solidFill>
                  <a:srgbClr val="E0FAFC"/>
                </a:solidFill>
                <a:latin typeface="Montserrat"/>
                <a:cs typeface="Montserrat"/>
              </a:rPr>
              <a:t> achieve excellence </a:t>
            </a:r>
            <a:r>
              <a:rPr dirty="0" sz="1100">
                <a:solidFill>
                  <a:srgbClr val="E0FAFC"/>
                </a:solidFill>
                <a:latin typeface="Montserrat"/>
                <a:cs typeface="Montserrat"/>
              </a:rPr>
              <a:t>in</a:t>
            </a:r>
            <a:r>
              <a:rPr dirty="0" sz="1100" spc="-5">
                <a:solidFill>
                  <a:srgbClr val="E0FAFC"/>
                </a:solidFill>
                <a:latin typeface="Montserrat"/>
                <a:cs typeface="Montserrat"/>
              </a:rPr>
              <a:t> </a:t>
            </a:r>
            <a:r>
              <a:rPr dirty="0" sz="1100" spc="-10">
                <a:solidFill>
                  <a:srgbClr val="E0FAFC"/>
                </a:solidFill>
                <a:latin typeface="Montserrat"/>
                <a:cs typeface="Montserrat"/>
              </a:rPr>
              <a:t>patient </a:t>
            </a:r>
            <a:r>
              <a:rPr dirty="0" sz="1100">
                <a:solidFill>
                  <a:srgbClr val="E0FAFC"/>
                </a:solidFill>
                <a:latin typeface="Montserrat"/>
                <a:cs typeface="Montserrat"/>
              </a:rPr>
              <a:t>charting.</a:t>
            </a:r>
            <a:r>
              <a:rPr dirty="0" sz="1100" spc="-35">
                <a:solidFill>
                  <a:srgbClr val="E0FAFC"/>
                </a:solidFill>
                <a:latin typeface="Montserrat"/>
                <a:cs typeface="Montserrat"/>
              </a:rPr>
              <a:t> </a:t>
            </a:r>
            <a:r>
              <a:rPr dirty="0" sz="1100">
                <a:solidFill>
                  <a:srgbClr val="E0FAFC"/>
                </a:solidFill>
                <a:latin typeface="Montserrat"/>
                <a:cs typeface="Montserrat"/>
              </a:rPr>
              <a:t>By</a:t>
            </a:r>
            <a:r>
              <a:rPr dirty="0" sz="1100" spc="-30">
                <a:solidFill>
                  <a:srgbClr val="E0FAFC"/>
                </a:solidFill>
                <a:latin typeface="Montserrat"/>
                <a:cs typeface="Montserrat"/>
              </a:rPr>
              <a:t> </a:t>
            </a:r>
            <a:r>
              <a:rPr dirty="0" sz="1100">
                <a:solidFill>
                  <a:srgbClr val="E0FAFC"/>
                </a:solidFill>
                <a:latin typeface="Montserrat"/>
                <a:cs typeface="Montserrat"/>
              </a:rPr>
              <a:t>enhancing</a:t>
            </a:r>
            <a:r>
              <a:rPr dirty="0" sz="1100" spc="-35">
                <a:solidFill>
                  <a:srgbClr val="E0FAFC"/>
                </a:solidFill>
                <a:latin typeface="Montserrat"/>
                <a:cs typeface="Montserrat"/>
              </a:rPr>
              <a:t> </a:t>
            </a:r>
            <a:r>
              <a:rPr dirty="0" sz="1100">
                <a:solidFill>
                  <a:srgbClr val="E0FAFC"/>
                </a:solidFill>
                <a:latin typeface="Montserrat"/>
                <a:cs typeface="Montserrat"/>
              </a:rPr>
              <a:t>the</a:t>
            </a:r>
            <a:r>
              <a:rPr dirty="0" sz="1100" spc="-30">
                <a:solidFill>
                  <a:srgbClr val="E0FAFC"/>
                </a:solidFill>
                <a:latin typeface="Montserrat"/>
                <a:cs typeface="Montserrat"/>
              </a:rPr>
              <a:t> </a:t>
            </a:r>
            <a:r>
              <a:rPr dirty="0" sz="1100">
                <a:solidFill>
                  <a:srgbClr val="E0FAFC"/>
                </a:solidFill>
                <a:latin typeface="Montserrat"/>
                <a:cs typeface="Montserrat"/>
              </a:rPr>
              <a:t>ease</a:t>
            </a:r>
            <a:r>
              <a:rPr dirty="0" sz="1100" spc="-35">
                <a:solidFill>
                  <a:srgbClr val="E0FAFC"/>
                </a:solidFill>
                <a:latin typeface="Montserrat"/>
                <a:cs typeface="Montserrat"/>
              </a:rPr>
              <a:t> </a:t>
            </a:r>
            <a:r>
              <a:rPr dirty="0" sz="1100">
                <a:solidFill>
                  <a:srgbClr val="E0FAFC"/>
                </a:solidFill>
                <a:latin typeface="Montserrat"/>
                <a:cs typeface="Montserrat"/>
              </a:rPr>
              <a:t>and</a:t>
            </a:r>
            <a:r>
              <a:rPr dirty="0" sz="1100" spc="-30">
                <a:solidFill>
                  <a:srgbClr val="E0FAFC"/>
                </a:solidFill>
                <a:latin typeface="Montserrat"/>
                <a:cs typeface="Montserrat"/>
              </a:rPr>
              <a:t> </a:t>
            </a:r>
            <a:r>
              <a:rPr dirty="0" sz="1100">
                <a:solidFill>
                  <a:srgbClr val="E0FAFC"/>
                </a:solidFill>
                <a:latin typeface="Montserrat"/>
                <a:cs typeface="Montserrat"/>
              </a:rPr>
              <a:t>quality</a:t>
            </a:r>
            <a:r>
              <a:rPr dirty="0" sz="1100" spc="-35">
                <a:solidFill>
                  <a:srgbClr val="E0FAFC"/>
                </a:solidFill>
                <a:latin typeface="Montserrat"/>
                <a:cs typeface="Montserrat"/>
              </a:rPr>
              <a:t> of </a:t>
            </a:r>
            <a:r>
              <a:rPr dirty="0" sz="1100">
                <a:solidFill>
                  <a:srgbClr val="E0FAFC"/>
                </a:solidFill>
                <a:latin typeface="Montserrat"/>
                <a:cs typeface="Montserrat"/>
              </a:rPr>
              <a:t>patient</a:t>
            </a:r>
            <a:r>
              <a:rPr dirty="0" sz="1100" spc="-30">
                <a:solidFill>
                  <a:srgbClr val="E0FAFC"/>
                </a:solidFill>
                <a:latin typeface="Montserrat"/>
                <a:cs typeface="Montserrat"/>
              </a:rPr>
              <a:t> </a:t>
            </a:r>
            <a:r>
              <a:rPr dirty="0" sz="1100">
                <a:solidFill>
                  <a:srgbClr val="E0FAFC"/>
                </a:solidFill>
                <a:latin typeface="Montserrat"/>
                <a:cs typeface="Montserrat"/>
              </a:rPr>
              <a:t>care,</a:t>
            </a:r>
            <a:r>
              <a:rPr dirty="0" sz="1100" spc="-25">
                <a:solidFill>
                  <a:srgbClr val="E0FAFC"/>
                </a:solidFill>
                <a:latin typeface="Montserrat"/>
                <a:cs typeface="Montserrat"/>
              </a:rPr>
              <a:t> </a:t>
            </a:r>
            <a:r>
              <a:rPr dirty="0" sz="1100">
                <a:solidFill>
                  <a:srgbClr val="E0FAFC"/>
                </a:solidFill>
                <a:latin typeface="Montserrat"/>
                <a:cs typeface="Montserrat"/>
              </a:rPr>
              <a:t>our</a:t>
            </a:r>
            <a:r>
              <a:rPr dirty="0" sz="1100" spc="-25">
                <a:solidFill>
                  <a:srgbClr val="E0FAFC"/>
                </a:solidFill>
                <a:latin typeface="Montserrat"/>
                <a:cs typeface="Montserrat"/>
              </a:rPr>
              <a:t> </a:t>
            </a:r>
            <a:r>
              <a:rPr dirty="0" sz="1100">
                <a:solidFill>
                  <a:srgbClr val="E0FAFC"/>
                </a:solidFill>
                <a:latin typeface="Montserrat"/>
                <a:cs typeface="Montserrat"/>
              </a:rPr>
              <a:t>solutions</a:t>
            </a:r>
            <a:r>
              <a:rPr dirty="0" sz="1100" spc="-30">
                <a:solidFill>
                  <a:srgbClr val="E0FAFC"/>
                </a:solidFill>
                <a:latin typeface="Montserrat"/>
                <a:cs typeface="Montserrat"/>
              </a:rPr>
              <a:t> </a:t>
            </a:r>
            <a:r>
              <a:rPr dirty="0" sz="1100">
                <a:solidFill>
                  <a:srgbClr val="E0FAFC"/>
                </a:solidFill>
                <a:latin typeface="Montserrat"/>
                <a:cs typeface="Montserrat"/>
              </a:rPr>
              <a:t>ensure</a:t>
            </a:r>
            <a:r>
              <a:rPr dirty="0" sz="1100" spc="-25">
                <a:solidFill>
                  <a:srgbClr val="E0FAFC"/>
                </a:solidFill>
                <a:latin typeface="Montserrat"/>
                <a:cs typeface="Montserrat"/>
              </a:rPr>
              <a:t> </a:t>
            </a:r>
            <a:r>
              <a:rPr dirty="0" sz="1100">
                <a:solidFill>
                  <a:srgbClr val="E0FAFC"/>
                </a:solidFill>
                <a:latin typeface="Montserrat"/>
                <a:cs typeface="Montserrat"/>
              </a:rPr>
              <a:t>a</a:t>
            </a:r>
            <a:r>
              <a:rPr dirty="0" sz="1100" spc="-25">
                <a:solidFill>
                  <a:srgbClr val="E0FAFC"/>
                </a:solidFill>
                <a:latin typeface="Montserrat"/>
                <a:cs typeface="Montserrat"/>
              </a:rPr>
              <a:t> </a:t>
            </a:r>
            <a:r>
              <a:rPr dirty="0" sz="1100" spc="-10">
                <a:solidFill>
                  <a:srgbClr val="E0FAFC"/>
                </a:solidFill>
                <a:latin typeface="Montserrat"/>
                <a:cs typeface="Montserrat"/>
              </a:rPr>
              <a:t>seamless </a:t>
            </a:r>
            <a:r>
              <a:rPr dirty="0" sz="1100">
                <a:solidFill>
                  <a:srgbClr val="E0FAFC"/>
                </a:solidFill>
                <a:latin typeface="Montserrat"/>
                <a:cs typeface="Montserrat"/>
              </a:rPr>
              <a:t>and</a:t>
            </a:r>
            <a:r>
              <a:rPr dirty="0" sz="1100" spc="-20">
                <a:solidFill>
                  <a:srgbClr val="E0FAFC"/>
                </a:solidFill>
                <a:latin typeface="Montserrat"/>
                <a:cs typeface="Montserrat"/>
              </a:rPr>
              <a:t> efﬁcient</a:t>
            </a:r>
            <a:r>
              <a:rPr dirty="0" sz="1100" spc="-15">
                <a:solidFill>
                  <a:srgbClr val="E0FAFC"/>
                </a:solidFill>
                <a:latin typeface="Montserrat"/>
                <a:cs typeface="Montserrat"/>
              </a:rPr>
              <a:t> </a:t>
            </a:r>
            <a:r>
              <a:rPr dirty="0" sz="1100">
                <a:solidFill>
                  <a:srgbClr val="E0FAFC"/>
                </a:solidFill>
                <a:latin typeface="Montserrat"/>
                <a:cs typeface="Montserrat"/>
              </a:rPr>
              <a:t>experience</a:t>
            </a:r>
            <a:r>
              <a:rPr dirty="0" sz="1100" spc="-15">
                <a:solidFill>
                  <a:srgbClr val="E0FAFC"/>
                </a:solidFill>
                <a:latin typeface="Montserrat"/>
                <a:cs typeface="Montserrat"/>
              </a:rPr>
              <a:t> </a:t>
            </a:r>
            <a:r>
              <a:rPr dirty="0" sz="1100">
                <a:solidFill>
                  <a:srgbClr val="E0FAFC"/>
                </a:solidFill>
                <a:latin typeface="Montserrat"/>
                <a:cs typeface="Montserrat"/>
              </a:rPr>
              <a:t>for</a:t>
            </a:r>
            <a:r>
              <a:rPr dirty="0" sz="1100" spc="-15">
                <a:solidFill>
                  <a:srgbClr val="E0FAFC"/>
                </a:solidFill>
                <a:latin typeface="Montserrat"/>
                <a:cs typeface="Montserrat"/>
              </a:rPr>
              <a:t> </a:t>
            </a:r>
            <a:r>
              <a:rPr dirty="0" sz="1100" spc="-10">
                <a:solidFill>
                  <a:srgbClr val="E0FAFC"/>
                </a:solidFill>
                <a:latin typeface="Montserrat"/>
                <a:cs typeface="Montserrat"/>
              </a:rPr>
              <a:t>healthcare</a:t>
            </a:r>
            <a:r>
              <a:rPr dirty="0" sz="1100" spc="-15">
                <a:solidFill>
                  <a:srgbClr val="E0FAFC"/>
                </a:solidFill>
                <a:latin typeface="Montserrat"/>
                <a:cs typeface="Montserrat"/>
              </a:rPr>
              <a:t> </a:t>
            </a:r>
            <a:r>
              <a:rPr dirty="0" sz="1100" spc="-10">
                <a:solidFill>
                  <a:srgbClr val="E0FAFC"/>
                </a:solidFill>
                <a:latin typeface="Montserrat"/>
                <a:cs typeface="Montserrat"/>
              </a:rPr>
              <a:t>leaders.</a:t>
            </a:r>
            <a:endParaRPr sz="1100">
              <a:latin typeface="Montserrat"/>
              <a:cs typeface="Montserrat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04084" y="1627760"/>
            <a:ext cx="731400" cy="731400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29196" y="3636757"/>
            <a:ext cx="731400" cy="731400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204084" y="3636757"/>
            <a:ext cx="731400" cy="731400"/>
          </a:xfrm>
          <a:prstGeom prst="rect">
            <a:avLst/>
          </a:prstGeom>
        </p:spPr>
      </p:pic>
      <p:sp>
        <p:nvSpPr>
          <p:cNvPr id="15" name="object 1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 spc="-25"/>
              <a:t>13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016549" y="6341600"/>
            <a:ext cx="10159365" cy="9525"/>
          </a:xfrm>
          <a:custGeom>
            <a:avLst/>
            <a:gdLst/>
            <a:ahLst/>
            <a:cxnLst/>
            <a:rect l="l" t="t" r="r" b="b"/>
            <a:pathLst>
              <a:path w="10159365" h="9525">
                <a:moveTo>
                  <a:pt x="10158899" y="8999"/>
                </a:moveTo>
                <a:lnTo>
                  <a:pt x="0" y="8999"/>
                </a:lnTo>
                <a:lnTo>
                  <a:pt x="0" y="0"/>
                </a:lnTo>
                <a:lnTo>
                  <a:pt x="10158899" y="0"/>
                </a:lnTo>
                <a:lnTo>
                  <a:pt x="10158899" y="8999"/>
                </a:lnTo>
                <a:close/>
              </a:path>
            </a:pathLst>
          </a:custGeom>
          <a:solidFill>
            <a:srgbClr val="5EB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3841088" y="1930699"/>
            <a:ext cx="509714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D3DCE4"/>
                </a:solidFill>
                <a:latin typeface="Montserrat"/>
                <a:cs typeface="Montserrat"/>
              </a:rPr>
              <a:t>Lack</a:t>
            </a:r>
            <a:r>
              <a:rPr dirty="0" sz="1600" spc="-5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600">
                <a:solidFill>
                  <a:srgbClr val="D3DCE4"/>
                </a:solidFill>
                <a:latin typeface="Montserrat"/>
                <a:cs typeface="Montserrat"/>
              </a:rPr>
              <a:t>an</a:t>
            </a:r>
            <a:r>
              <a:rPr dirty="0" sz="1600" spc="-4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600">
                <a:solidFill>
                  <a:srgbClr val="D3DCE4"/>
                </a:solidFill>
                <a:latin typeface="Montserrat"/>
                <a:cs typeface="Montserrat"/>
              </a:rPr>
              <a:t>understanding</a:t>
            </a:r>
            <a:r>
              <a:rPr dirty="0" sz="1600" spc="-5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600">
                <a:solidFill>
                  <a:srgbClr val="D3DCE4"/>
                </a:solidFill>
                <a:latin typeface="Montserrat"/>
                <a:cs typeface="Montserrat"/>
              </a:rPr>
              <a:t>of</a:t>
            </a:r>
            <a:r>
              <a:rPr dirty="0" sz="1600" spc="-4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600">
                <a:solidFill>
                  <a:srgbClr val="D3DCE4"/>
                </a:solidFill>
                <a:latin typeface="Montserrat"/>
                <a:cs typeface="Montserrat"/>
              </a:rPr>
              <a:t>the</a:t>
            </a:r>
            <a:r>
              <a:rPr dirty="0" sz="1600" spc="-5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600">
                <a:solidFill>
                  <a:srgbClr val="D3DCE4"/>
                </a:solidFill>
                <a:latin typeface="Montserrat"/>
                <a:cs typeface="Montserrat"/>
              </a:rPr>
              <a:t>Healthcare</a:t>
            </a:r>
            <a:r>
              <a:rPr dirty="0" sz="1600" spc="-4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600" spc="-10">
                <a:solidFill>
                  <a:srgbClr val="D3DCE4"/>
                </a:solidFill>
                <a:latin typeface="Montserrat"/>
                <a:cs typeface="Montserrat"/>
              </a:rPr>
              <a:t>industry</a:t>
            </a:r>
            <a:endParaRPr sz="1600">
              <a:latin typeface="Montserrat"/>
              <a:cs typeface="Montserrat"/>
            </a:endParaRPr>
          </a:p>
        </p:txBody>
      </p:sp>
      <p:sp>
        <p:nvSpPr>
          <p:cNvPr id="16" name="object 1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 spc="-25"/>
              <a:t>13</a:t>
            </a:fld>
          </a:p>
        </p:txBody>
      </p:sp>
      <p:sp>
        <p:nvSpPr>
          <p:cNvPr id="4" name="object 4" descr=""/>
          <p:cNvSpPr txBox="1"/>
          <p:nvPr/>
        </p:nvSpPr>
        <p:spPr>
          <a:xfrm>
            <a:off x="3841088" y="2511552"/>
            <a:ext cx="453898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D3DCE4"/>
                </a:solidFill>
                <a:latin typeface="Montserrat"/>
                <a:cs typeface="Montserrat"/>
              </a:rPr>
              <a:t>Have</a:t>
            </a:r>
            <a:r>
              <a:rPr dirty="0" sz="1600" spc="-5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600" spc="-10">
                <a:solidFill>
                  <a:srgbClr val="D3DCE4"/>
                </a:solidFill>
                <a:latin typeface="Montserrat"/>
                <a:cs typeface="Montserrat"/>
              </a:rPr>
              <a:t>insufﬁcient</a:t>
            </a:r>
            <a:r>
              <a:rPr dirty="0" sz="1600" spc="-5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600">
                <a:solidFill>
                  <a:srgbClr val="D3DCE4"/>
                </a:solidFill>
                <a:latin typeface="Montserrat"/>
                <a:cs typeface="Montserrat"/>
              </a:rPr>
              <a:t>knowledge</a:t>
            </a:r>
            <a:r>
              <a:rPr dirty="0" sz="1600" spc="-5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600">
                <a:solidFill>
                  <a:srgbClr val="D3DCE4"/>
                </a:solidFill>
                <a:latin typeface="Montserrat"/>
                <a:cs typeface="Montserrat"/>
              </a:rPr>
              <a:t>of</a:t>
            </a:r>
            <a:r>
              <a:rPr dirty="0" sz="1600" spc="-5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600">
                <a:solidFill>
                  <a:srgbClr val="D3DCE4"/>
                </a:solidFill>
                <a:latin typeface="Montserrat"/>
                <a:cs typeface="Montserrat"/>
              </a:rPr>
              <a:t>EHR</a:t>
            </a:r>
            <a:r>
              <a:rPr dirty="0" sz="1600" spc="-5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600" spc="-10">
                <a:solidFill>
                  <a:srgbClr val="D3DCE4"/>
                </a:solidFill>
                <a:latin typeface="Montserrat"/>
                <a:cs typeface="Montserrat"/>
              </a:rPr>
              <a:t>systems</a:t>
            </a:r>
            <a:endParaRPr sz="1600">
              <a:latin typeface="Montserrat"/>
              <a:cs typeface="Montserra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841088" y="3092405"/>
            <a:ext cx="435038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D3DCE4"/>
                </a:solidFill>
                <a:latin typeface="Montserrat"/>
                <a:cs typeface="Montserrat"/>
              </a:rPr>
              <a:t>Have</a:t>
            </a:r>
            <a:r>
              <a:rPr dirty="0" sz="1600" spc="-3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600">
                <a:solidFill>
                  <a:srgbClr val="D3DCE4"/>
                </a:solidFill>
                <a:latin typeface="Montserrat"/>
                <a:cs typeface="Montserrat"/>
              </a:rPr>
              <a:t>a</a:t>
            </a:r>
            <a:r>
              <a:rPr dirty="0" sz="1600" spc="-3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600">
                <a:solidFill>
                  <a:srgbClr val="D3DCE4"/>
                </a:solidFill>
                <a:latin typeface="Montserrat"/>
                <a:cs typeface="Montserrat"/>
              </a:rPr>
              <a:t>limited</a:t>
            </a:r>
            <a:r>
              <a:rPr dirty="0" sz="1600" spc="-3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600">
                <a:solidFill>
                  <a:srgbClr val="D3DCE4"/>
                </a:solidFill>
                <a:latin typeface="Montserrat"/>
                <a:cs typeface="Montserrat"/>
              </a:rPr>
              <a:t>pool</a:t>
            </a:r>
            <a:r>
              <a:rPr dirty="0" sz="1600" spc="-3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600">
                <a:solidFill>
                  <a:srgbClr val="D3DCE4"/>
                </a:solidFill>
                <a:latin typeface="Montserrat"/>
                <a:cs typeface="Montserrat"/>
              </a:rPr>
              <a:t>of</a:t>
            </a:r>
            <a:r>
              <a:rPr dirty="0" sz="1600" spc="-3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600" spc="-10">
                <a:solidFill>
                  <a:srgbClr val="D3DCE4"/>
                </a:solidFill>
                <a:latin typeface="Montserrat"/>
                <a:cs typeface="Montserrat"/>
              </a:rPr>
              <a:t>qualiﬁed</a:t>
            </a:r>
            <a:r>
              <a:rPr dirty="0" sz="1600" spc="-2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600" spc="-10">
                <a:solidFill>
                  <a:srgbClr val="D3DCE4"/>
                </a:solidFill>
                <a:latin typeface="Montserrat"/>
                <a:cs typeface="Montserrat"/>
              </a:rPr>
              <a:t>candidates</a:t>
            </a:r>
            <a:endParaRPr sz="1600">
              <a:latin typeface="Montserrat"/>
              <a:cs typeface="Montserra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841088" y="3673257"/>
            <a:ext cx="570801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D3DCE4"/>
                </a:solidFill>
                <a:latin typeface="Montserrat"/>
                <a:cs typeface="Montserrat"/>
              </a:rPr>
              <a:t>Lack</a:t>
            </a:r>
            <a:r>
              <a:rPr dirty="0" sz="1600" spc="-3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600" spc="-10">
                <a:solidFill>
                  <a:srgbClr val="D3DCE4"/>
                </a:solidFill>
                <a:latin typeface="Montserrat"/>
                <a:cs typeface="Montserrat"/>
              </a:rPr>
              <a:t>awareness</a:t>
            </a:r>
            <a:r>
              <a:rPr dirty="0" sz="1600" spc="-3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600">
                <a:solidFill>
                  <a:srgbClr val="D3DCE4"/>
                </a:solidFill>
                <a:latin typeface="Montserrat"/>
                <a:cs typeface="Montserrat"/>
              </a:rPr>
              <a:t>of</a:t>
            </a:r>
            <a:r>
              <a:rPr dirty="0" sz="1600" spc="-3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600">
                <a:solidFill>
                  <a:srgbClr val="D3DCE4"/>
                </a:solidFill>
                <a:latin typeface="Montserrat"/>
                <a:cs typeface="Montserrat"/>
              </a:rPr>
              <a:t>the</a:t>
            </a:r>
            <a:r>
              <a:rPr dirty="0" sz="1600" spc="-3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600" spc="-10">
                <a:solidFill>
                  <a:srgbClr val="D3DCE4"/>
                </a:solidFill>
                <a:latin typeface="Montserrat"/>
                <a:cs typeface="Montserrat"/>
              </a:rPr>
              <a:t>candidate's</a:t>
            </a:r>
            <a:r>
              <a:rPr dirty="0" sz="1600" spc="-3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600">
                <a:solidFill>
                  <a:srgbClr val="D3DCE4"/>
                </a:solidFill>
                <a:latin typeface="Montserrat"/>
                <a:cs typeface="Montserrat"/>
              </a:rPr>
              <a:t>true</a:t>
            </a:r>
            <a:r>
              <a:rPr dirty="0" sz="1600" spc="-3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600">
                <a:solidFill>
                  <a:srgbClr val="D3DCE4"/>
                </a:solidFill>
                <a:latin typeface="Montserrat"/>
                <a:cs typeface="Montserrat"/>
              </a:rPr>
              <a:t>level</a:t>
            </a:r>
            <a:r>
              <a:rPr dirty="0" sz="1600" spc="-3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600">
                <a:solidFill>
                  <a:srgbClr val="D3DCE4"/>
                </a:solidFill>
                <a:latin typeface="Montserrat"/>
                <a:cs typeface="Montserrat"/>
              </a:rPr>
              <a:t>of</a:t>
            </a:r>
            <a:r>
              <a:rPr dirty="0" sz="1600" spc="-3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600" spc="-10">
                <a:solidFill>
                  <a:srgbClr val="D3DCE4"/>
                </a:solidFill>
                <a:latin typeface="Montserrat"/>
                <a:cs typeface="Montserrat"/>
              </a:rPr>
              <a:t>expertise</a:t>
            </a:r>
            <a:endParaRPr sz="1600">
              <a:latin typeface="Montserrat"/>
              <a:cs typeface="Montserra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841088" y="4254109"/>
            <a:ext cx="432308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D3DCE4"/>
                </a:solidFill>
                <a:latin typeface="Montserrat"/>
                <a:cs typeface="Montserrat"/>
              </a:rPr>
              <a:t>Lack</a:t>
            </a:r>
            <a:r>
              <a:rPr dirty="0" sz="1600" spc="-5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600">
                <a:solidFill>
                  <a:srgbClr val="D3DCE4"/>
                </a:solidFill>
                <a:latin typeface="Montserrat"/>
                <a:cs typeface="Montserrat"/>
              </a:rPr>
              <a:t>personal</a:t>
            </a:r>
            <a:r>
              <a:rPr dirty="0" sz="1600" spc="-5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600">
                <a:solidFill>
                  <a:srgbClr val="D3DCE4"/>
                </a:solidFill>
                <a:latin typeface="Montserrat"/>
                <a:cs typeface="Montserrat"/>
              </a:rPr>
              <a:t>connection</a:t>
            </a:r>
            <a:r>
              <a:rPr dirty="0" sz="1600" spc="-5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600">
                <a:solidFill>
                  <a:srgbClr val="D3DCE4"/>
                </a:solidFill>
                <a:latin typeface="Montserrat"/>
                <a:cs typeface="Montserrat"/>
              </a:rPr>
              <a:t>with</a:t>
            </a:r>
            <a:r>
              <a:rPr dirty="0" sz="1600" spc="-5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600" spc="-10">
                <a:solidFill>
                  <a:srgbClr val="D3DCE4"/>
                </a:solidFill>
                <a:latin typeface="Montserrat"/>
                <a:cs typeface="Montserrat"/>
              </a:rPr>
              <a:t>candidates</a:t>
            </a:r>
            <a:endParaRPr sz="1600">
              <a:latin typeface="Montserrat"/>
              <a:cs typeface="Montserra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841088" y="4834961"/>
            <a:ext cx="580009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D3DCE4"/>
                </a:solidFill>
                <a:latin typeface="Montserrat"/>
                <a:cs typeface="Montserrat"/>
              </a:rPr>
              <a:t>Experience</a:t>
            </a:r>
            <a:r>
              <a:rPr dirty="0" sz="1600" spc="-2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600" spc="-10">
                <a:solidFill>
                  <a:srgbClr val="D3DCE4"/>
                </a:solidFill>
                <a:latin typeface="Montserrat"/>
                <a:cs typeface="Montserrat"/>
              </a:rPr>
              <a:t>communication</a:t>
            </a:r>
            <a:r>
              <a:rPr dirty="0" sz="16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600">
                <a:solidFill>
                  <a:srgbClr val="D3DCE4"/>
                </a:solidFill>
                <a:latin typeface="Montserrat"/>
                <a:cs typeface="Montserrat"/>
              </a:rPr>
              <a:t>and</a:t>
            </a:r>
            <a:r>
              <a:rPr dirty="0" sz="1600" spc="-2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600" spc="-10">
                <a:solidFill>
                  <a:srgbClr val="D3DCE4"/>
                </a:solidFill>
                <a:latin typeface="Montserrat"/>
                <a:cs typeface="Montserrat"/>
              </a:rPr>
              <a:t>coordination</a:t>
            </a:r>
            <a:r>
              <a:rPr dirty="0" sz="16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600" spc="-10">
                <a:solidFill>
                  <a:srgbClr val="D3DCE4"/>
                </a:solidFill>
                <a:latin typeface="Montserrat"/>
                <a:cs typeface="Montserrat"/>
              </a:rPr>
              <a:t>challenges</a:t>
            </a:r>
            <a:endParaRPr sz="1600">
              <a:latin typeface="Montserrat"/>
              <a:cs typeface="Montserrat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3900" rIns="0" bIns="0" rtlCol="0" vert="horz">
            <a:spAutoFit/>
          </a:bodyPr>
          <a:lstStyle/>
          <a:p>
            <a:pPr marL="3528060">
              <a:lnSpc>
                <a:spcPct val="100000"/>
              </a:lnSpc>
              <a:spcBef>
                <a:spcPts val="100"/>
              </a:spcBef>
            </a:pPr>
            <a:r>
              <a:rPr dirty="0"/>
              <a:t>Areas</a:t>
            </a:r>
            <a:r>
              <a:rPr dirty="0" spc="-45"/>
              <a:t> </a:t>
            </a:r>
            <a:r>
              <a:rPr dirty="0"/>
              <a:t>of</a:t>
            </a:r>
            <a:r>
              <a:rPr dirty="0" spc="-45"/>
              <a:t> </a:t>
            </a:r>
            <a:r>
              <a:rPr dirty="0" spc="-10"/>
              <a:t>Opportunities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3317459" y="1946307"/>
            <a:ext cx="92075" cy="2286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300" spc="-50" b="1">
                <a:solidFill>
                  <a:srgbClr val="5EBEBB"/>
                </a:solidFill>
                <a:latin typeface="Montserrat"/>
                <a:cs typeface="Montserrat"/>
              </a:rPr>
              <a:t>1</a:t>
            </a:r>
            <a:endParaRPr sz="1300">
              <a:latin typeface="Montserrat"/>
              <a:cs typeface="Montserra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283954" y="2527159"/>
            <a:ext cx="125730" cy="2286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300" spc="-50" b="1">
                <a:solidFill>
                  <a:srgbClr val="5EBEBB"/>
                </a:solidFill>
                <a:latin typeface="Montserrat"/>
                <a:cs typeface="Montserrat"/>
              </a:rPr>
              <a:t>2</a:t>
            </a:r>
            <a:endParaRPr sz="1300">
              <a:latin typeface="Montserrat"/>
              <a:cs typeface="Montserra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3283615" y="3108012"/>
            <a:ext cx="125730" cy="2286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300" spc="-50" b="1">
                <a:solidFill>
                  <a:srgbClr val="5EBEBB"/>
                </a:solidFill>
                <a:latin typeface="Montserrat"/>
                <a:cs typeface="Montserrat"/>
              </a:rPr>
              <a:t>3</a:t>
            </a:r>
            <a:endParaRPr sz="1300">
              <a:latin typeface="Montserrat"/>
              <a:cs typeface="Montserra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3267201" y="3688864"/>
            <a:ext cx="142240" cy="2286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300" spc="-50" b="1">
                <a:solidFill>
                  <a:srgbClr val="5EBEBB"/>
                </a:solidFill>
                <a:latin typeface="Montserrat"/>
                <a:cs typeface="Montserrat"/>
              </a:rPr>
              <a:t>4</a:t>
            </a:r>
            <a:endParaRPr sz="1300">
              <a:latin typeface="Montserrat"/>
              <a:cs typeface="Montserra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3283108" y="4269717"/>
            <a:ext cx="126364" cy="2286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300" spc="-50" b="1">
                <a:solidFill>
                  <a:srgbClr val="5EBEBB"/>
                </a:solidFill>
                <a:latin typeface="Montserrat"/>
                <a:cs typeface="Montserrat"/>
              </a:rPr>
              <a:t>5</a:t>
            </a:r>
            <a:endParaRPr sz="1300">
              <a:latin typeface="Montserrat"/>
              <a:cs typeface="Montserra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3276001" y="4850569"/>
            <a:ext cx="133350" cy="2286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300" spc="-50" b="1">
                <a:solidFill>
                  <a:srgbClr val="5EBEBB"/>
                </a:solidFill>
                <a:latin typeface="Montserrat"/>
                <a:cs typeface="Montserrat"/>
              </a:rPr>
              <a:t>6</a:t>
            </a:r>
            <a:endParaRPr sz="1300">
              <a:latin typeface="Montserrat"/>
              <a:cs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016549" y="6341600"/>
            <a:ext cx="10159365" cy="9525"/>
          </a:xfrm>
          <a:custGeom>
            <a:avLst/>
            <a:gdLst/>
            <a:ahLst/>
            <a:cxnLst/>
            <a:rect l="l" t="t" r="r" b="b"/>
            <a:pathLst>
              <a:path w="10159365" h="9525">
                <a:moveTo>
                  <a:pt x="10158899" y="8999"/>
                </a:moveTo>
                <a:lnTo>
                  <a:pt x="0" y="8999"/>
                </a:lnTo>
                <a:lnTo>
                  <a:pt x="0" y="0"/>
                </a:lnTo>
                <a:lnTo>
                  <a:pt x="10158899" y="0"/>
                </a:lnTo>
                <a:lnTo>
                  <a:pt x="10158899" y="8999"/>
                </a:lnTo>
                <a:close/>
              </a:path>
            </a:pathLst>
          </a:custGeom>
          <a:solidFill>
            <a:srgbClr val="5EB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3377492" y="1940610"/>
            <a:ext cx="92075" cy="2286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300" spc="-50" b="1">
                <a:solidFill>
                  <a:srgbClr val="5EBEBB"/>
                </a:solidFill>
                <a:latin typeface="Montserrat"/>
                <a:cs typeface="Montserrat"/>
              </a:rPr>
              <a:t>1</a:t>
            </a:r>
            <a:endParaRPr sz="1300">
              <a:latin typeface="Montserrat"/>
              <a:cs typeface="Montserrat"/>
            </a:endParaRPr>
          </a:p>
        </p:txBody>
      </p:sp>
      <p:sp>
        <p:nvSpPr>
          <p:cNvPr id="16" name="object 1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 spc="-25"/>
              <a:t>13</a:t>
            </a:fld>
          </a:p>
        </p:txBody>
      </p:sp>
      <p:sp>
        <p:nvSpPr>
          <p:cNvPr id="4" name="object 4" descr=""/>
          <p:cNvSpPr txBox="1"/>
          <p:nvPr/>
        </p:nvSpPr>
        <p:spPr>
          <a:xfrm>
            <a:off x="3901121" y="1925003"/>
            <a:ext cx="378206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D3DCE4"/>
                </a:solidFill>
                <a:latin typeface="Montserrat"/>
                <a:cs typeface="Montserrat"/>
              </a:rPr>
              <a:t>Knowledge</a:t>
            </a:r>
            <a:r>
              <a:rPr dirty="0" sz="1600" spc="-3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600">
                <a:solidFill>
                  <a:srgbClr val="D3DCE4"/>
                </a:solidFill>
                <a:latin typeface="Montserrat"/>
                <a:cs typeface="Montserrat"/>
              </a:rPr>
              <a:t>of</a:t>
            </a:r>
            <a:r>
              <a:rPr dirty="0" sz="1600" spc="-3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600" spc="-10">
                <a:solidFill>
                  <a:srgbClr val="D3DCE4"/>
                </a:solidFill>
                <a:latin typeface="Montserrat"/>
                <a:cs typeface="Montserrat"/>
              </a:rPr>
              <a:t>healthcare</a:t>
            </a:r>
            <a:r>
              <a:rPr dirty="0" sz="1600" spc="-3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600" spc="-10">
                <a:solidFill>
                  <a:srgbClr val="D3DCE4"/>
                </a:solidFill>
                <a:latin typeface="Montserrat"/>
                <a:cs typeface="Montserrat"/>
              </a:rPr>
              <a:t>regulations</a:t>
            </a:r>
            <a:endParaRPr sz="1600">
              <a:latin typeface="Montserrat"/>
              <a:cs typeface="Montserra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343987" y="2521453"/>
            <a:ext cx="125730" cy="2286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300" spc="-50" b="1">
                <a:solidFill>
                  <a:srgbClr val="5EBEBB"/>
                </a:solidFill>
                <a:latin typeface="Montserrat"/>
                <a:cs typeface="Montserrat"/>
              </a:rPr>
              <a:t>2</a:t>
            </a:r>
            <a:endParaRPr sz="1300">
              <a:latin typeface="Montserrat"/>
              <a:cs typeface="Montserra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901126" y="2505845"/>
            <a:ext cx="517271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D3DCE4"/>
                </a:solidFill>
                <a:latin typeface="Montserrat"/>
                <a:cs typeface="Montserrat"/>
              </a:rPr>
              <a:t>Experience</a:t>
            </a:r>
            <a:r>
              <a:rPr dirty="0" sz="1600" spc="-4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600">
                <a:solidFill>
                  <a:srgbClr val="D3DCE4"/>
                </a:solidFill>
                <a:latin typeface="Montserrat"/>
                <a:cs typeface="Montserrat"/>
              </a:rPr>
              <a:t>and</a:t>
            </a:r>
            <a:r>
              <a:rPr dirty="0" sz="1600" spc="-4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600">
                <a:solidFill>
                  <a:srgbClr val="D3DCE4"/>
                </a:solidFill>
                <a:latin typeface="Montserrat"/>
                <a:cs typeface="Montserrat"/>
              </a:rPr>
              <a:t>knowledge</a:t>
            </a:r>
            <a:r>
              <a:rPr dirty="0" sz="1600" spc="-4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600">
                <a:solidFill>
                  <a:srgbClr val="D3DCE4"/>
                </a:solidFill>
                <a:latin typeface="Montserrat"/>
                <a:cs typeface="Montserrat"/>
              </a:rPr>
              <a:t>of</a:t>
            </a:r>
            <a:r>
              <a:rPr dirty="0" sz="1600" spc="-3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600">
                <a:solidFill>
                  <a:srgbClr val="D3DCE4"/>
                </a:solidFill>
                <a:latin typeface="Montserrat"/>
                <a:cs typeface="Montserrat"/>
              </a:rPr>
              <a:t>over</a:t>
            </a:r>
            <a:r>
              <a:rPr dirty="0" sz="1600" spc="-4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600">
                <a:solidFill>
                  <a:srgbClr val="D3DCE4"/>
                </a:solidFill>
                <a:latin typeface="Montserrat"/>
                <a:cs typeface="Montserrat"/>
              </a:rPr>
              <a:t>10</a:t>
            </a:r>
            <a:r>
              <a:rPr dirty="0" sz="1600" spc="-4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600">
                <a:solidFill>
                  <a:srgbClr val="D3DCE4"/>
                </a:solidFill>
                <a:latin typeface="Montserrat"/>
                <a:cs typeface="Montserrat"/>
              </a:rPr>
              <a:t>EHR</a:t>
            </a:r>
            <a:r>
              <a:rPr dirty="0" sz="1600" spc="-3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600" spc="-10">
                <a:solidFill>
                  <a:srgbClr val="D3DCE4"/>
                </a:solidFill>
                <a:latin typeface="Montserrat"/>
                <a:cs typeface="Montserrat"/>
              </a:rPr>
              <a:t>systems</a:t>
            </a:r>
            <a:endParaRPr sz="1600">
              <a:latin typeface="Montserrat"/>
              <a:cs typeface="Montserra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343649" y="3102315"/>
            <a:ext cx="125730" cy="2286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300" spc="-50" b="1">
                <a:solidFill>
                  <a:srgbClr val="5EBEBB"/>
                </a:solidFill>
                <a:latin typeface="Montserrat"/>
                <a:cs typeface="Montserrat"/>
              </a:rPr>
              <a:t>3</a:t>
            </a:r>
            <a:endParaRPr sz="1300">
              <a:latin typeface="Montserrat"/>
              <a:cs typeface="Montserra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901121" y="3086708"/>
            <a:ext cx="272669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D3DCE4"/>
                </a:solidFill>
                <a:latin typeface="Montserrat"/>
                <a:cs typeface="Montserrat"/>
              </a:rPr>
              <a:t>Network</a:t>
            </a:r>
            <a:r>
              <a:rPr dirty="0" sz="1600" spc="-5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600">
                <a:solidFill>
                  <a:srgbClr val="D3DCE4"/>
                </a:solidFill>
                <a:latin typeface="Montserrat"/>
                <a:cs typeface="Montserrat"/>
              </a:rPr>
              <a:t>1000</a:t>
            </a:r>
            <a:r>
              <a:rPr dirty="0" sz="1600" spc="-5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600">
                <a:solidFill>
                  <a:srgbClr val="D3DCE4"/>
                </a:solidFill>
                <a:latin typeface="Montserrat"/>
                <a:cs typeface="Montserrat"/>
              </a:rPr>
              <a:t>plus</a:t>
            </a:r>
            <a:r>
              <a:rPr dirty="0" sz="1600" spc="-5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600" spc="-10">
                <a:solidFill>
                  <a:srgbClr val="D3DCE4"/>
                </a:solidFill>
                <a:latin typeface="Montserrat"/>
                <a:cs typeface="Montserrat"/>
              </a:rPr>
              <a:t>savants</a:t>
            </a:r>
            <a:endParaRPr sz="1600">
              <a:latin typeface="Montserrat"/>
              <a:cs typeface="Montserra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327234" y="3683167"/>
            <a:ext cx="142240" cy="2286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300" spc="-50" b="1">
                <a:solidFill>
                  <a:srgbClr val="5EBEBB"/>
                </a:solidFill>
                <a:latin typeface="Montserrat"/>
                <a:cs typeface="Montserrat"/>
              </a:rPr>
              <a:t>4</a:t>
            </a:r>
            <a:endParaRPr sz="1300">
              <a:latin typeface="Montserrat"/>
              <a:cs typeface="Montserra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901121" y="3667559"/>
            <a:ext cx="3300729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0">
                <a:solidFill>
                  <a:srgbClr val="D3DCE4"/>
                </a:solidFill>
                <a:latin typeface="Montserrat"/>
                <a:cs typeface="Montserrat"/>
              </a:rPr>
              <a:t>HIPAA</a:t>
            </a:r>
            <a:r>
              <a:rPr dirty="0" sz="1600" spc="-4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600">
                <a:solidFill>
                  <a:srgbClr val="D3DCE4"/>
                </a:solidFill>
                <a:latin typeface="Montserrat"/>
                <a:cs typeface="Montserrat"/>
              </a:rPr>
              <a:t>Data</a:t>
            </a:r>
            <a:r>
              <a:rPr dirty="0" sz="1600" spc="-4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600">
                <a:solidFill>
                  <a:srgbClr val="D3DCE4"/>
                </a:solidFill>
                <a:latin typeface="Montserrat"/>
                <a:cs typeface="Montserrat"/>
              </a:rPr>
              <a:t>security</a:t>
            </a:r>
            <a:r>
              <a:rPr dirty="0" sz="1600" spc="-4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600">
                <a:solidFill>
                  <a:srgbClr val="D3DCE4"/>
                </a:solidFill>
                <a:latin typeface="Montserrat"/>
                <a:cs typeface="Montserrat"/>
              </a:rPr>
              <a:t>and</a:t>
            </a:r>
            <a:r>
              <a:rPr dirty="0" sz="1600" spc="-4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600" spc="-10">
                <a:solidFill>
                  <a:srgbClr val="D3DCE4"/>
                </a:solidFill>
                <a:latin typeface="Montserrat"/>
                <a:cs typeface="Montserrat"/>
              </a:rPr>
              <a:t>privacy</a:t>
            </a:r>
            <a:endParaRPr sz="1600">
              <a:latin typeface="Montserrat"/>
              <a:cs typeface="Montserra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343141" y="4264020"/>
            <a:ext cx="126364" cy="2286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300" spc="-50" b="1">
                <a:solidFill>
                  <a:srgbClr val="5EBEBB"/>
                </a:solidFill>
                <a:latin typeface="Montserrat"/>
                <a:cs typeface="Montserrat"/>
              </a:rPr>
              <a:t>5</a:t>
            </a:r>
            <a:endParaRPr sz="1300">
              <a:latin typeface="Montserrat"/>
              <a:cs typeface="Montserra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3901121" y="4248412"/>
            <a:ext cx="352488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D3DCE4"/>
                </a:solidFill>
                <a:latin typeface="Montserrat"/>
                <a:cs typeface="Montserrat"/>
              </a:rPr>
              <a:t>Personal</a:t>
            </a:r>
            <a:r>
              <a:rPr dirty="0" sz="1600" spc="-6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600">
                <a:solidFill>
                  <a:srgbClr val="D3DCE4"/>
                </a:solidFill>
                <a:latin typeface="Montserrat"/>
                <a:cs typeface="Montserrat"/>
              </a:rPr>
              <a:t>connection</a:t>
            </a:r>
            <a:r>
              <a:rPr dirty="0" sz="1600" spc="-6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600">
                <a:solidFill>
                  <a:srgbClr val="D3DCE4"/>
                </a:solidFill>
                <a:latin typeface="Montserrat"/>
                <a:cs typeface="Montserrat"/>
              </a:rPr>
              <a:t>with</a:t>
            </a:r>
            <a:r>
              <a:rPr dirty="0" sz="1600" spc="-6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600" spc="-10">
                <a:solidFill>
                  <a:srgbClr val="D3DCE4"/>
                </a:solidFill>
                <a:latin typeface="Montserrat"/>
                <a:cs typeface="Montserrat"/>
              </a:rPr>
              <a:t>network</a:t>
            </a:r>
            <a:endParaRPr sz="1600">
              <a:latin typeface="Montserrat"/>
              <a:cs typeface="Montserra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3336034" y="4844872"/>
            <a:ext cx="133350" cy="2286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300" spc="-50" b="1">
                <a:solidFill>
                  <a:srgbClr val="5EBEBB"/>
                </a:solidFill>
                <a:latin typeface="Montserrat"/>
                <a:cs typeface="Montserrat"/>
              </a:rPr>
              <a:t>6</a:t>
            </a:r>
            <a:endParaRPr sz="1300">
              <a:latin typeface="Montserrat"/>
              <a:cs typeface="Montserra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3901123" y="4829264"/>
            <a:ext cx="418719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D3DCE4"/>
                </a:solidFill>
                <a:latin typeface="Montserrat"/>
                <a:cs typeface="Montserrat"/>
              </a:rPr>
              <a:t>Ongoing</a:t>
            </a:r>
            <a:r>
              <a:rPr dirty="0" sz="1600" spc="-4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600" spc="-10">
                <a:solidFill>
                  <a:srgbClr val="D3DCE4"/>
                </a:solidFill>
                <a:latin typeface="Montserrat"/>
                <a:cs typeface="Montserrat"/>
              </a:rPr>
              <a:t>hands-</a:t>
            </a:r>
            <a:r>
              <a:rPr dirty="0" sz="1600">
                <a:solidFill>
                  <a:srgbClr val="D3DCE4"/>
                </a:solidFill>
                <a:latin typeface="Montserrat"/>
                <a:cs typeface="Montserrat"/>
              </a:rPr>
              <a:t>on</a:t>
            </a:r>
            <a:r>
              <a:rPr dirty="0" sz="1600" spc="-4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600">
                <a:solidFill>
                  <a:srgbClr val="D3DCE4"/>
                </a:solidFill>
                <a:latin typeface="Montserrat"/>
                <a:cs typeface="Montserrat"/>
              </a:rPr>
              <a:t>EHR</a:t>
            </a:r>
            <a:r>
              <a:rPr dirty="0" sz="1600" spc="-4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600" spc="-10">
                <a:solidFill>
                  <a:srgbClr val="D3DCE4"/>
                </a:solidFill>
                <a:latin typeface="Montserrat"/>
                <a:cs typeface="Montserrat"/>
              </a:rPr>
              <a:t>systems</a:t>
            </a:r>
            <a:r>
              <a:rPr dirty="0" sz="1600" spc="-4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600" spc="-10">
                <a:solidFill>
                  <a:srgbClr val="D3DCE4"/>
                </a:solidFill>
                <a:latin typeface="Montserrat"/>
                <a:cs typeface="Montserrat"/>
              </a:rPr>
              <a:t>training</a:t>
            </a:r>
            <a:endParaRPr sz="1600">
              <a:latin typeface="Montserrat"/>
              <a:cs typeface="Montserra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3900" rIns="0" bIns="0" rtlCol="0" vert="horz">
            <a:spAutoFit/>
          </a:bodyPr>
          <a:lstStyle/>
          <a:p>
            <a:pPr marL="430657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Proposition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016549" y="6341600"/>
            <a:ext cx="10159365" cy="9525"/>
          </a:xfrm>
          <a:custGeom>
            <a:avLst/>
            <a:gdLst/>
            <a:ahLst/>
            <a:cxnLst/>
            <a:rect l="l" t="t" r="r" b="b"/>
            <a:pathLst>
              <a:path w="10159365" h="9525">
                <a:moveTo>
                  <a:pt x="10158899" y="8999"/>
                </a:moveTo>
                <a:lnTo>
                  <a:pt x="0" y="8999"/>
                </a:lnTo>
                <a:lnTo>
                  <a:pt x="0" y="0"/>
                </a:lnTo>
                <a:lnTo>
                  <a:pt x="10158899" y="0"/>
                </a:lnTo>
                <a:lnTo>
                  <a:pt x="10158899" y="8999"/>
                </a:lnTo>
                <a:close/>
              </a:path>
            </a:pathLst>
          </a:custGeom>
          <a:solidFill>
            <a:srgbClr val="5EB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4784267" y="1887574"/>
            <a:ext cx="144780" cy="88265"/>
          </a:xfrm>
          <a:custGeom>
            <a:avLst/>
            <a:gdLst/>
            <a:ahLst/>
            <a:cxnLst/>
            <a:rect l="l" t="t" r="r" b="b"/>
            <a:pathLst>
              <a:path w="144779" h="88264">
                <a:moveTo>
                  <a:pt x="0" y="44005"/>
                </a:moveTo>
                <a:lnTo>
                  <a:pt x="59150" y="88010"/>
                </a:lnTo>
                <a:lnTo>
                  <a:pt x="144588" y="0"/>
                </a:lnTo>
              </a:path>
            </a:pathLst>
          </a:custGeom>
          <a:ln w="28574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252494" y="3465962"/>
            <a:ext cx="43497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solidFill>
                  <a:srgbClr val="5EBEBB"/>
                </a:solidFill>
                <a:latin typeface="Montserrat"/>
                <a:cs typeface="Montserrat"/>
              </a:rPr>
              <a:t>KLIKs</a:t>
            </a:r>
            <a:endParaRPr sz="1100">
              <a:latin typeface="Montserrat"/>
              <a:cs typeface="Montserra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252494" y="3765682"/>
            <a:ext cx="2083435" cy="1214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0000"/>
              </a:lnSpc>
              <a:spcBef>
                <a:spcPts val="100"/>
              </a:spcBef>
            </a:pP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Revolutionary</a:t>
            </a:r>
            <a:r>
              <a:rPr dirty="0" sz="1000" spc="-4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Remote</a:t>
            </a:r>
            <a:r>
              <a:rPr dirty="0" sz="1000" spc="-4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Helpdesk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Support</a:t>
            </a:r>
            <a:r>
              <a:rPr dirty="0" sz="1000" spc="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with</a:t>
            </a:r>
            <a:r>
              <a:rPr dirty="0" sz="1000" spc="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Patented Technology,</a:t>
            </a:r>
            <a:r>
              <a:rPr dirty="0" sz="1000" spc="-3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allowing</a:t>
            </a:r>
            <a:r>
              <a:rPr dirty="0" sz="1000" spc="-3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you</a:t>
            </a:r>
            <a:r>
              <a:rPr dirty="0" sz="1000" spc="-25">
                <a:solidFill>
                  <a:srgbClr val="D3DCE4"/>
                </a:solidFill>
                <a:latin typeface="Montserrat"/>
                <a:cs typeface="Montserrat"/>
              </a:rPr>
              <a:t> to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keep</a:t>
            </a:r>
            <a:r>
              <a:rPr dirty="0" sz="1000" spc="-2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38%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of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ATE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remote,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resulting</a:t>
            </a:r>
            <a:r>
              <a:rPr dirty="0" sz="1000" spc="-2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in</a:t>
            </a:r>
            <a:r>
              <a:rPr dirty="0" sz="1000" spc="-2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signiﬁcant</a:t>
            </a:r>
            <a:r>
              <a:rPr dirty="0" sz="1000" spc="-2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cost 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savings.</a:t>
            </a:r>
            <a:endParaRPr sz="1000">
              <a:latin typeface="Montserrat"/>
              <a:cs typeface="Montserra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769128" y="3465962"/>
            <a:ext cx="178498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0" b="1">
                <a:solidFill>
                  <a:srgbClr val="5EBEBB"/>
                </a:solidFill>
                <a:latin typeface="Montserrat"/>
                <a:cs typeface="Montserrat"/>
              </a:rPr>
              <a:t>Veterans </a:t>
            </a:r>
            <a:r>
              <a:rPr dirty="0" sz="1100" b="1">
                <a:solidFill>
                  <a:srgbClr val="5EBEBB"/>
                </a:solidFill>
                <a:latin typeface="Montserrat"/>
                <a:cs typeface="Montserrat"/>
              </a:rPr>
              <a:t>&amp;</a:t>
            </a:r>
            <a:r>
              <a:rPr dirty="0" sz="1100" spc="-15" b="1">
                <a:solidFill>
                  <a:srgbClr val="5EBEBB"/>
                </a:solidFill>
                <a:latin typeface="Montserrat"/>
                <a:cs typeface="Montserrat"/>
              </a:rPr>
              <a:t> </a:t>
            </a:r>
            <a:r>
              <a:rPr dirty="0" sz="1100" spc="-10" b="1">
                <a:solidFill>
                  <a:srgbClr val="5EBEBB"/>
                </a:solidFill>
                <a:latin typeface="Montserrat"/>
                <a:cs typeface="Montserrat"/>
              </a:rPr>
              <a:t>Unemployed</a:t>
            </a:r>
            <a:endParaRPr sz="1100">
              <a:latin typeface="Montserrat"/>
              <a:cs typeface="Montserra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769128" y="3765682"/>
            <a:ext cx="2362200" cy="1016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0000"/>
              </a:lnSpc>
              <a:spcBef>
                <a:spcPts val="100"/>
              </a:spcBef>
            </a:pP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A</a:t>
            </a:r>
            <a:r>
              <a:rPr dirty="0" sz="1000" spc="2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transformative</a:t>
            </a:r>
            <a:r>
              <a:rPr dirty="0" sz="1000" spc="3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collaboration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between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The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NICEHR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Group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and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25">
                <a:solidFill>
                  <a:srgbClr val="D3DCE4"/>
                </a:solidFill>
                <a:latin typeface="Montserrat"/>
                <a:cs typeface="Montserrat"/>
              </a:rPr>
              <a:t>the 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Workforce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of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America,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an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innovative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Electronic</a:t>
            </a:r>
            <a:r>
              <a:rPr dirty="0" sz="1000" spc="-3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Health</a:t>
            </a:r>
            <a:r>
              <a:rPr dirty="0" sz="1000" spc="-3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Record</a:t>
            </a:r>
            <a:r>
              <a:rPr dirty="0" sz="1000" spc="-3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training program.</a:t>
            </a:r>
            <a:endParaRPr sz="1000">
              <a:latin typeface="Montserrat"/>
              <a:cs typeface="Montserra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769128" y="4883282"/>
            <a:ext cx="2345055" cy="619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0000"/>
              </a:lnSpc>
              <a:spcBef>
                <a:spcPts val="100"/>
              </a:spcBef>
            </a:pP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Designed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to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empower</a:t>
            </a:r>
            <a:r>
              <a:rPr dirty="0" sz="1000" spc="-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veterans, </a:t>
            </a:r>
            <a:r>
              <a:rPr dirty="0" sz="1000" spc="-25">
                <a:solidFill>
                  <a:srgbClr val="D3DCE4"/>
                </a:solidFill>
                <a:latin typeface="Montserrat"/>
                <a:cs typeface="Montserrat"/>
              </a:rPr>
              <a:t>the 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unemployed,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 and foster 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essential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healthcare</a:t>
            </a:r>
            <a:r>
              <a:rPr dirty="0" sz="1000" spc="-2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skills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for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a</a:t>
            </a:r>
            <a:r>
              <a:rPr dirty="0" sz="1000" spc="-2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thriving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career.</a:t>
            </a:r>
            <a:endParaRPr sz="1000">
              <a:latin typeface="Montserrat"/>
              <a:cs typeface="Montserra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622415" y="3465962"/>
            <a:ext cx="62674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solidFill>
                  <a:srgbClr val="5EBEBB"/>
                </a:solidFill>
                <a:latin typeface="Montserrat"/>
                <a:cs typeface="Montserrat"/>
              </a:rPr>
              <a:t>Training</a:t>
            </a:r>
            <a:endParaRPr sz="1100">
              <a:latin typeface="Montserrat"/>
              <a:cs typeface="Montserra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622415" y="3765682"/>
            <a:ext cx="1741170" cy="1214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0000"/>
              </a:lnSpc>
              <a:spcBef>
                <a:spcPts val="100"/>
              </a:spcBef>
            </a:pP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Our</a:t>
            </a:r>
            <a:r>
              <a:rPr dirty="0" sz="1000" spc="-3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expansive</a:t>
            </a:r>
            <a:r>
              <a:rPr dirty="0" sz="1000" spc="-3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savant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network</a:t>
            </a:r>
            <a:r>
              <a:rPr dirty="0" sz="1000" spc="-3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stays</a:t>
            </a:r>
            <a:r>
              <a:rPr dirty="0" sz="1000" spc="-3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current</a:t>
            </a:r>
            <a:r>
              <a:rPr dirty="0" sz="1000" spc="-3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with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comprehensive</a:t>
            </a:r>
            <a:r>
              <a:rPr dirty="0" sz="1000" spc="-2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training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25">
                <a:solidFill>
                  <a:srgbClr val="D3DCE4"/>
                </a:solidFill>
                <a:latin typeface="Montserrat"/>
                <a:cs typeface="Montserrat"/>
              </a:rPr>
              <a:t>on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the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latest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EHRs,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ensuring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their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expertise</a:t>
            </a:r>
            <a:r>
              <a:rPr dirty="0" sz="1000" spc="-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remains</a:t>
            </a:r>
            <a:r>
              <a:rPr dirty="0" sz="1000" spc="-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25">
                <a:solidFill>
                  <a:srgbClr val="D3DCE4"/>
                </a:solidFill>
                <a:latin typeface="Montserrat"/>
                <a:cs typeface="Montserrat"/>
              </a:rPr>
              <a:t>up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to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date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and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proﬁcient.</a:t>
            </a:r>
            <a:endParaRPr sz="1000">
              <a:latin typeface="Montserrat"/>
              <a:cs typeface="Montserra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8727726" y="3465962"/>
            <a:ext cx="1726564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5EBEBB"/>
                </a:solidFill>
                <a:latin typeface="Montserrat"/>
                <a:cs typeface="Montserrat"/>
              </a:rPr>
              <a:t>The</a:t>
            </a:r>
            <a:r>
              <a:rPr dirty="0" sz="1100" spc="-25" b="1">
                <a:solidFill>
                  <a:srgbClr val="5EBEBB"/>
                </a:solidFill>
                <a:latin typeface="Montserrat"/>
                <a:cs typeface="Montserrat"/>
              </a:rPr>
              <a:t> </a:t>
            </a:r>
            <a:r>
              <a:rPr dirty="0" sz="1100" b="1">
                <a:solidFill>
                  <a:srgbClr val="5EBEBB"/>
                </a:solidFill>
                <a:latin typeface="Montserrat"/>
                <a:cs typeface="Montserrat"/>
              </a:rPr>
              <a:t>NICEHR</a:t>
            </a:r>
            <a:r>
              <a:rPr dirty="0" sz="1100" spc="-20" b="1">
                <a:solidFill>
                  <a:srgbClr val="5EBEBB"/>
                </a:solidFill>
                <a:latin typeface="Montserrat"/>
                <a:cs typeface="Montserrat"/>
              </a:rPr>
              <a:t> </a:t>
            </a:r>
            <a:r>
              <a:rPr dirty="0" sz="1100" b="1">
                <a:solidFill>
                  <a:srgbClr val="5EBEBB"/>
                </a:solidFill>
                <a:latin typeface="Montserrat"/>
                <a:cs typeface="Montserrat"/>
              </a:rPr>
              <a:t>group</a:t>
            </a:r>
            <a:r>
              <a:rPr dirty="0" sz="1100" spc="-25" b="1">
                <a:solidFill>
                  <a:srgbClr val="5EBEBB"/>
                </a:solidFill>
                <a:latin typeface="Montserrat"/>
                <a:cs typeface="Montserrat"/>
              </a:rPr>
              <a:t> App</a:t>
            </a:r>
            <a:endParaRPr sz="1100">
              <a:latin typeface="Montserrat"/>
              <a:cs typeface="Montserra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8727726" y="3765682"/>
            <a:ext cx="2390775" cy="1412240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HIPPA</a:t>
            </a:r>
            <a:r>
              <a:rPr dirty="0" sz="1000" spc="-4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Compliant</a:t>
            </a:r>
            <a:r>
              <a:rPr dirty="0" sz="1000" spc="-4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app.</a:t>
            </a:r>
            <a:endParaRPr sz="1000">
              <a:latin typeface="Montserrat"/>
              <a:cs typeface="Montserrat"/>
            </a:endParaRPr>
          </a:p>
          <a:p>
            <a:pPr marL="12700" marR="5080">
              <a:lnSpc>
                <a:spcPct val="130000"/>
              </a:lnSpc>
            </a:pP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Secure</a:t>
            </a:r>
            <a:r>
              <a:rPr dirty="0" sz="1000" spc="-4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onboarding,</a:t>
            </a:r>
            <a:r>
              <a:rPr dirty="0" sz="1000" spc="-3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fraud</a:t>
            </a:r>
            <a:r>
              <a:rPr dirty="0" sz="1000" spc="-4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prevention,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robust</a:t>
            </a:r>
            <a:r>
              <a:rPr dirty="0" sz="1000" spc="-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training,</a:t>
            </a:r>
            <a:r>
              <a:rPr dirty="0" sz="1000" spc="-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streamlined communication,</a:t>
            </a:r>
            <a:r>
              <a:rPr dirty="0" sz="1000" spc="5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evaluation,</a:t>
            </a:r>
            <a:endParaRPr sz="1000">
              <a:latin typeface="Montserrat"/>
              <a:cs typeface="Montserrat"/>
            </a:endParaRPr>
          </a:p>
          <a:p>
            <a:pPr algn="just" marL="12700" marR="163830">
              <a:lnSpc>
                <a:spcPct val="130000"/>
              </a:lnSpc>
            </a:pP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geo-fencing,</a:t>
            </a:r>
            <a:r>
              <a:rPr dirty="0" sz="1000" spc="-3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scheduling,</a:t>
            </a:r>
            <a:r>
              <a:rPr dirty="0" sz="1000" spc="-3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and</a:t>
            </a:r>
            <a:r>
              <a:rPr dirty="0" sz="1000" spc="-3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time 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tracking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for</a:t>
            </a:r>
            <a:r>
              <a:rPr dirty="0" sz="1000" spc="-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enhanced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productivity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and 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collaboration.</a:t>
            </a:r>
            <a:endParaRPr sz="1000">
              <a:latin typeface="Montserrat"/>
              <a:cs typeface="Montserra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252500" y="1793087"/>
            <a:ext cx="266763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5EBEBB"/>
                </a:solidFill>
                <a:latin typeface="Montserrat"/>
                <a:cs typeface="Montserrat"/>
              </a:rPr>
              <a:t>Healthcare</a:t>
            </a:r>
            <a:r>
              <a:rPr dirty="0" sz="1100" spc="-10" b="1">
                <a:solidFill>
                  <a:srgbClr val="5EBEBB"/>
                </a:solidFill>
                <a:latin typeface="Montserrat"/>
                <a:cs typeface="Montserrat"/>
              </a:rPr>
              <a:t> </a:t>
            </a:r>
            <a:r>
              <a:rPr dirty="0" sz="1100" b="1">
                <a:solidFill>
                  <a:srgbClr val="5EBEBB"/>
                </a:solidFill>
                <a:latin typeface="Montserrat"/>
                <a:cs typeface="Montserrat"/>
              </a:rPr>
              <a:t>IT</a:t>
            </a:r>
            <a:r>
              <a:rPr dirty="0" sz="1100" spc="-5" b="1">
                <a:solidFill>
                  <a:srgbClr val="5EBEBB"/>
                </a:solidFill>
                <a:latin typeface="Montserrat"/>
                <a:cs typeface="Montserrat"/>
              </a:rPr>
              <a:t> </a:t>
            </a:r>
            <a:r>
              <a:rPr dirty="0" sz="1100" b="1">
                <a:solidFill>
                  <a:srgbClr val="5EBEBB"/>
                </a:solidFill>
                <a:latin typeface="Montserrat"/>
                <a:cs typeface="Montserrat"/>
              </a:rPr>
              <a:t>Consulting</a:t>
            </a:r>
            <a:r>
              <a:rPr dirty="0" sz="1100" spc="-10" b="1">
                <a:solidFill>
                  <a:srgbClr val="5EBEBB"/>
                </a:solidFill>
                <a:latin typeface="Montserrat"/>
                <a:cs typeface="Montserrat"/>
              </a:rPr>
              <a:t> Excellence</a:t>
            </a:r>
            <a:endParaRPr sz="1100">
              <a:latin typeface="Montserrat"/>
              <a:cs typeface="Montserra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252500" y="2092807"/>
            <a:ext cx="3080385" cy="619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0000"/>
              </a:lnSpc>
              <a:spcBef>
                <a:spcPts val="100"/>
              </a:spcBef>
            </a:pP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A</a:t>
            </a:r>
            <a:r>
              <a:rPr dirty="0" sz="1000" spc="3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Consultant-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Owned,</a:t>
            </a:r>
            <a:r>
              <a:rPr dirty="0" sz="1000" spc="3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Consultant-Operated,</a:t>
            </a:r>
            <a:r>
              <a:rPr dirty="0" sz="1000" spc="3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25">
                <a:solidFill>
                  <a:srgbClr val="D3DCE4"/>
                </a:solidFill>
                <a:latin typeface="Montserrat"/>
                <a:cs typeface="Montserrat"/>
              </a:rPr>
              <a:t>and 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Consultant-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Centric</a:t>
            </a:r>
            <a:r>
              <a:rPr dirty="0" sz="1000" spc="-3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Firm</a:t>
            </a:r>
            <a:r>
              <a:rPr dirty="0" sz="1000" spc="-2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driving</a:t>
            </a:r>
            <a:r>
              <a:rPr dirty="0" sz="1000" spc="-3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transformative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solutions</a:t>
            </a:r>
            <a:r>
              <a:rPr dirty="0" sz="1000" spc="-2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for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optimal</a:t>
            </a:r>
            <a:r>
              <a:rPr dirty="0" sz="1000" spc="-2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client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outcomes.</a:t>
            </a:r>
            <a:endParaRPr sz="1000">
              <a:latin typeface="Montserrat"/>
              <a:cs typeface="Montserrat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1035121" y="3560450"/>
            <a:ext cx="144780" cy="88265"/>
          </a:xfrm>
          <a:custGeom>
            <a:avLst/>
            <a:gdLst/>
            <a:ahLst/>
            <a:cxnLst/>
            <a:rect l="l" t="t" r="r" b="b"/>
            <a:pathLst>
              <a:path w="144780" h="88264">
                <a:moveTo>
                  <a:pt x="0" y="44005"/>
                </a:moveTo>
                <a:lnTo>
                  <a:pt x="59151" y="88010"/>
                </a:lnTo>
                <a:lnTo>
                  <a:pt x="144589" y="0"/>
                </a:lnTo>
              </a:path>
            </a:pathLst>
          </a:custGeom>
          <a:ln w="28574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4994129" y="1793087"/>
            <a:ext cx="222567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5EBEBB"/>
                </a:solidFill>
                <a:latin typeface="Montserrat"/>
                <a:cs typeface="Montserrat"/>
              </a:rPr>
              <a:t>1,000</a:t>
            </a:r>
            <a:r>
              <a:rPr dirty="0" sz="1100" spc="-35" b="1">
                <a:solidFill>
                  <a:srgbClr val="5EBEBB"/>
                </a:solidFill>
                <a:latin typeface="Montserrat"/>
                <a:cs typeface="Montserrat"/>
              </a:rPr>
              <a:t> </a:t>
            </a:r>
            <a:r>
              <a:rPr dirty="0" sz="1100" b="1">
                <a:solidFill>
                  <a:srgbClr val="5EBEBB"/>
                </a:solidFill>
                <a:latin typeface="Montserrat"/>
                <a:cs typeface="Montserrat"/>
              </a:rPr>
              <a:t>plus</a:t>
            </a:r>
            <a:r>
              <a:rPr dirty="0" sz="1100" spc="-30" b="1">
                <a:solidFill>
                  <a:srgbClr val="5EBEBB"/>
                </a:solidFill>
                <a:latin typeface="Montserrat"/>
                <a:cs typeface="Montserrat"/>
              </a:rPr>
              <a:t> </a:t>
            </a:r>
            <a:r>
              <a:rPr dirty="0" sz="1100" b="1">
                <a:solidFill>
                  <a:srgbClr val="5EBEBB"/>
                </a:solidFill>
                <a:latin typeface="Montserrat"/>
                <a:cs typeface="Montserrat"/>
              </a:rPr>
              <a:t>network</a:t>
            </a:r>
            <a:r>
              <a:rPr dirty="0" sz="1100" spc="-30" b="1">
                <a:solidFill>
                  <a:srgbClr val="5EBEBB"/>
                </a:solidFill>
                <a:latin typeface="Montserrat"/>
                <a:cs typeface="Montserrat"/>
              </a:rPr>
              <a:t> </a:t>
            </a:r>
            <a:r>
              <a:rPr dirty="0" sz="1100" b="1">
                <a:solidFill>
                  <a:srgbClr val="5EBEBB"/>
                </a:solidFill>
                <a:latin typeface="Montserrat"/>
                <a:cs typeface="Montserrat"/>
              </a:rPr>
              <a:t>of</a:t>
            </a:r>
            <a:r>
              <a:rPr dirty="0" sz="1100" spc="254" b="1">
                <a:solidFill>
                  <a:srgbClr val="5EBEBB"/>
                </a:solidFill>
                <a:latin typeface="Montserrat"/>
                <a:cs typeface="Montserrat"/>
              </a:rPr>
              <a:t> </a:t>
            </a:r>
            <a:r>
              <a:rPr dirty="0" sz="1100" spc="-10" b="1">
                <a:solidFill>
                  <a:srgbClr val="5EBEBB"/>
                </a:solidFill>
                <a:latin typeface="Montserrat"/>
                <a:cs typeface="Montserrat"/>
              </a:rPr>
              <a:t>savants</a:t>
            </a:r>
            <a:endParaRPr sz="1100">
              <a:latin typeface="Montserrat"/>
              <a:cs typeface="Montserrat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4994129" y="2092807"/>
            <a:ext cx="3186430" cy="619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0000"/>
              </a:lnSpc>
              <a:spcBef>
                <a:spcPts val="100"/>
              </a:spcBef>
            </a:pP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Unparalleled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Consulting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Power: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Harnessing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25">
                <a:solidFill>
                  <a:srgbClr val="D3DCE4"/>
                </a:solidFill>
                <a:latin typeface="Montserrat"/>
                <a:cs typeface="Montserrat"/>
              </a:rPr>
              <a:t>the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Strength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of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a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1,000+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Savants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Network,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eliminating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the need for 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traditional</a:t>
            </a:r>
            <a:r>
              <a:rPr dirty="0" sz="1000" spc="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recruitment.</a:t>
            </a:r>
            <a:endParaRPr sz="1000">
              <a:latin typeface="Montserrat"/>
              <a:cs typeface="Montserrat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1033287" y="1887574"/>
            <a:ext cx="146685" cy="89535"/>
          </a:xfrm>
          <a:custGeom>
            <a:avLst/>
            <a:gdLst/>
            <a:ahLst/>
            <a:cxnLst/>
            <a:rect l="l" t="t" r="r" b="b"/>
            <a:pathLst>
              <a:path w="146684" h="89535">
                <a:moveTo>
                  <a:pt x="0" y="44576"/>
                </a:moveTo>
                <a:lnTo>
                  <a:pt x="59901" y="89153"/>
                </a:lnTo>
                <a:lnTo>
                  <a:pt x="146422" y="0"/>
                </a:lnTo>
              </a:path>
            </a:pathLst>
          </a:custGeom>
          <a:ln w="28574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3550768" y="3560450"/>
            <a:ext cx="144780" cy="88265"/>
          </a:xfrm>
          <a:custGeom>
            <a:avLst/>
            <a:gdLst/>
            <a:ahLst/>
            <a:cxnLst/>
            <a:rect l="l" t="t" r="r" b="b"/>
            <a:pathLst>
              <a:path w="144779" h="88264">
                <a:moveTo>
                  <a:pt x="0" y="44005"/>
                </a:moveTo>
                <a:lnTo>
                  <a:pt x="59150" y="88010"/>
                </a:lnTo>
                <a:lnTo>
                  <a:pt x="144588" y="0"/>
                </a:lnTo>
              </a:path>
            </a:pathLst>
          </a:custGeom>
          <a:ln w="28574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8727726" y="1793087"/>
            <a:ext cx="94234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solidFill>
                  <a:srgbClr val="5EBEBB"/>
                </a:solidFill>
                <a:latin typeface="Montserrat"/>
                <a:cs typeface="Montserrat"/>
              </a:rPr>
              <a:t>*DiSChedule</a:t>
            </a:r>
            <a:endParaRPr sz="1100">
              <a:latin typeface="Montserrat"/>
              <a:cs typeface="Montserrat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8727726" y="2092807"/>
            <a:ext cx="2379345" cy="817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0000"/>
              </a:lnSpc>
              <a:spcBef>
                <a:spcPts val="100"/>
              </a:spcBef>
            </a:pPr>
            <a:r>
              <a:rPr dirty="0" sz="1000">
                <a:solidFill>
                  <a:srgbClr val="D3DCE4"/>
                </a:solidFill>
                <a:latin typeface="Arial"/>
                <a:cs typeface="Arial"/>
              </a:rPr>
              <a:t>A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utomated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Scheduler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that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partners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up end users</a:t>
            </a:r>
            <a:r>
              <a:rPr dirty="0" sz="1000" spc="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with support 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team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members</a:t>
            </a:r>
            <a:r>
              <a:rPr dirty="0" sz="1000" spc="-3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using</a:t>
            </a:r>
            <a:r>
              <a:rPr dirty="0" sz="1000" spc="-2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DiSC</a:t>
            </a:r>
            <a:r>
              <a:rPr dirty="0" sz="1000" spc="-2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predictor</a:t>
            </a:r>
            <a:r>
              <a:rPr dirty="0" sz="1000" spc="-25">
                <a:solidFill>
                  <a:srgbClr val="D3DCE4"/>
                </a:solidFill>
                <a:latin typeface="Montserrat"/>
                <a:cs typeface="Montserrat"/>
              </a:rPr>
              <a:t> to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ensure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optimal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learning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and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success.</a:t>
            </a:r>
            <a:endParaRPr sz="1000">
              <a:latin typeface="Montserrat"/>
              <a:cs typeface="Montserrat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6408835" y="3560450"/>
            <a:ext cx="144780" cy="88265"/>
          </a:xfrm>
          <a:custGeom>
            <a:avLst/>
            <a:gdLst/>
            <a:ahLst/>
            <a:cxnLst/>
            <a:rect l="l" t="t" r="r" b="b"/>
            <a:pathLst>
              <a:path w="144779" h="88264">
                <a:moveTo>
                  <a:pt x="0" y="44005"/>
                </a:moveTo>
                <a:lnTo>
                  <a:pt x="59150" y="88010"/>
                </a:lnTo>
                <a:lnTo>
                  <a:pt x="144588" y="0"/>
                </a:lnTo>
              </a:path>
            </a:pathLst>
          </a:custGeom>
          <a:ln w="28574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8511522" y="1887574"/>
            <a:ext cx="144780" cy="88265"/>
          </a:xfrm>
          <a:custGeom>
            <a:avLst/>
            <a:gdLst/>
            <a:ahLst/>
            <a:cxnLst/>
            <a:rect l="l" t="t" r="r" b="b"/>
            <a:pathLst>
              <a:path w="144779" h="88264">
                <a:moveTo>
                  <a:pt x="0" y="44005"/>
                </a:moveTo>
                <a:lnTo>
                  <a:pt x="59151" y="88010"/>
                </a:lnTo>
                <a:lnTo>
                  <a:pt x="144589" y="0"/>
                </a:lnTo>
              </a:path>
            </a:pathLst>
          </a:custGeom>
          <a:ln w="28574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 txBox="1"/>
          <p:nvPr/>
        </p:nvSpPr>
        <p:spPr>
          <a:xfrm>
            <a:off x="10099126" y="5949484"/>
            <a:ext cx="108839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80" i="1">
                <a:solidFill>
                  <a:srgbClr val="FFFFFF"/>
                </a:solidFill>
                <a:latin typeface="Arial"/>
                <a:cs typeface="Arial"/>
              </a:rPr>
              <a:t>*Patent</a:t>
            </a:r>
            <a:r>
              <a:rPr dirty="0" sz="1000" spc="-5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95" i="1">
                <a:solidFill>
                  <a:srgbClr val="FFFFFF"/>
                </a:solidFill>
                <a:latin typeface="Arial"/>
                <a:cs typeface="Arial"/>
              </a:rPr>
              <a:t>pending</a:t>
            </a:r>
            <a:endParaRPr sz="1000">
              <a:latin typeface="Arial"/>
              <a:cs typeface="Arial"/>
            </a:endParaRPr>
          </a:p>
        </p:txBody>
      </p:sp>
      <p:sp>
        <p:nvSpPr>
          <p:cNvPr id="25" name="object 25" descr=""/>
          <p:cNvSpPr/>
          <p:nvPr/>
        </p:nvSpPr>
        <p:spPr>
          <a:xfrm>
            <a:off x="8496822" y="3560450"/>
            <a:ext cx="144780" cy="88265"/>
          </a:xfrm>
          <a:custGeom>
            <a:avLst/>
            <a:gdLst/>
            <a:ahLst/>
            <a:cxnLst/>
            <a:rect l="l" t="t" r="r" b="b"/>
            <a:pathLst>
              <a:path w="144779" h="88264">
                <a:moveTo>
                  <a:pt x="0" y="44005"/>
                </a:moveTo>
                <a:lnTo>
                  <a:pt x="59151" y="88010"/>
                </a:lnTo>
                <a:lnTo>
                  <a:pt x="144590" y="0"/>
                </a:lnTo>
              </a:path>
            </a:pathLst>
          </a:custGeom>
          <a:ln w="28574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3900" rIns="0" bIns="0" rtlCol="0" vert="horz">
            <a:spAutoFit/>
          </a:bodyPr>
          <a:lstStyle/>
          <a:p>
            <a:pPr marL="409257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Differentiators</a:t>
            </a:r>
          </a:p>
        </p:txBody>
      </p:sp>
      <p:sp>
        <p:nvSpPr>
          <p:cNvPr id="27" name="object 2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 spc="-25"/>
              <a:t>13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016549" y="6341600"/>
            <a:ext cx="10159365" cy="9525"/>
          </a:xfrm>
          <a:custGeom>
            <a:avLst/>
            <a:gdLst/>
            <a:ahLst/>
            <a:cxnLst/>
            <a:rect l="l" t="t" r="r" b="b"/>
            <a:pathLst>
              <a:path w="10159365" h="9525">
                <a:moveTo>
                  <a:pt x="10158899" y="8999"/>
                </a:moveTo>
                <a:lnTo>
                  <a:pt x="0" y="8999"/>
                </a:lnTo>
                <a:lnTo>
                  <a:pt x="0" y="0"/>
                </a:lnTo>
                <a:lnTo>
                  <a:pt x="10158899" y="0"/>
                </a:lnTo>
                <a:lnTo>
                  <a:pt x="10158899" y="8999"/>
                </a:lnTo>
                <a:close/>
              </a:path>
            </a:pathLst>
          </a:custGeom>
          <a:solidFill>
            <a:srgbClr val="5EBEB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1383315" y="1483520"/>
            <a:ext cx="2291080" cy="4566285"/>
            <a:chOff x="1383315" y="1483520"/>
            <a:chExt cx="2291080" cy="456628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935" y="1618644"/>
              <a:ext cx="2006727" cy="4321127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1687904" y="3282353"/>
              <a:ext cx="1681480" cy="403225"/>
            </a:xfrm>
            <a:custGeom>
              <a:avLst/>
              <a:gdLst/>
              <a:ahLst/>
              <a:cxnLst/>
              <a:rect l="l" t="t" r="r" b="b"/>
              <a:pathLst>
                <a:path w="1681479" h="403225">
                  <a:moveTo>
                    <a:pt x="1680899" y="403199"/>
                  </a:moveTo>
                  <a:lnTo>
                    <a:pt x="0" y="403199"/>
                  </a:lnTo>
                  <a:lnTo>
                    <a:pt x="0" y="67201"/>
                  </a:lnTo>
                  <a:lnTo>
                    <a:pt x="5191" y="41484"/>
                  </a:lnTo>
                  <a:lnTo>
                    <a:pt x="5281" y="41043"/>
                  </a:lnTo>
                  <a:lnTo>
                    <a:pt x="19682" y="19682"/>
                  </a:lnTo>
                  <a:lnTo>
                    <a:pt x="41043" y="5281"/>
                  </a:lnTo>
                  <a:lnTo>
                    <a:pt x="67201" y="0"/>
                  </a:lnTo>
                  <a:lnTo>
                    <a:pt x="1613698" y="0"/>
                  </a:lnTo>
                  <a:lnTo>
                    <a:pt x="1650982" y="11290"/>
                  </a:lnTo>
                  <a:lnTo>
                    <a:pt x="1675784" y="41484"/>
                  </a:lnTo>
                  <a:lnTo>
                    <a:pt x="1680899" y="67201"/>
                  </a:lnTo>
                  <a:lnTo>
                    <a:pt x="1680899" y="403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687890" y="3282353"/>
              <a:ext cx="1681480" cy="403225"/>
            </a:xfrm>
            <a:custGeom>
              <a:avLst/>
              <a:gdLst/>
              <a:ahLst/>
              <a:cxnLst/>
              <a:rect l="l" t="t" r="r" b="b"/>
              <a:pathLst>
                <a:path w="1681479" h="403225">
                  <a:moveTo>
                    <a:pt x="67215" y="0"/>
                  </a:moveTo>
                  <a:lnTo>
                    <a:pt x="1613712" y="0"/>
                  </a:lnTo>
                  <a:lnTo>
                    <a:pt x="1626884" y="1303"/>
                  </a:lnTo>
                  <a:lnTo>
                    <a:pt x="1661231" y="19682"/>
                  </a:lnTo>
                  <a:lnTo>
                    <a:pt x="1679610" y="54029"/>
                  </a:lnTo>
                  <a:lnTo>
                    <a:pt x="1680913" y="67201"/>
                  </a:lnTo>
                  <a:lnTo>
                    <a:pt x="1680913" y="403199"/>
                  </a:lnTo>
                  <a:lnTo>
                    <a:pt x="13" y="403199"/>
                  </a:lnTo>
                  <a:lnTo>
                    <a:pt x="13" y="67201"/>
                  </a:lnTo>
                  <a:lnTo>
                    <a:pt x="5295" y="41043"/>
                  </a:lnTo>
                  <a:lnTo>
                    <a:pt x="19696" y="19682"/>
                  </a:lnTo>
                  <a:lnTo>
                    <a:pt x="41057" y="5281"/>
                  </a:lnTo>
                  <a:lnTo>
                    <a:pt x="67215" y="0"/>
                  </a:lnTo>
                  <a:close/>
                </a:path>
              </a:pathLst>
            </a:custGeom>
            <a:ln w="9524">
              <a:solidFill>
                <a:srgbClr val="AEAEB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398563" y="1483520"/>
              <a:ext cx="2258060" cy="4566285"/>
            </a:xfrm>
            <a:custGeom>
              <a:avLst/>
              <a:gdLst/>
              <a:ahLst/>
              <a:cxnLst/>
              <a:rect l="l" t="t" r="r" b="b"/>
              <a:pathLst>
                <a:path w="2258060" h="4566285">
                  <a:moveTo>
                    <a:pt x="1910654" y="4566096"/>
                  </a:moveTo>
                  <a:lnTo>
                    <a:pt x="348351" y="4566096"/>
                  </a:lnTo>
                  <a:lnTo>
                    <a:pt x="311991" y="4564924"/>
                  </a:lnTo>
                  <a:lnTo>
                    <a:pt x="245135" y="4550849"/>
                  </a:lnTo>
                  <a:lnTo>
                    <a:pt x="181799" y="4525045"/>
                  </a:lnTo>
                  <a:lnTo>
                    <a:pt x="126673" y="4487512"/>
                  </a:lnTo>
                  <a:lnTo>
                    <a:pt x="79757" y="4440596"/>
                  </a:lnTo>
                  <a:lnTo>
                    <a:pt x="43397" y="4384298"/>
                  </a:lnTo>
                  <a:lnTo>
                    <a:pt x="16420" y="4323306"/>
                  </a:lnTo>
                  <a:lnTo>
                    <a:pt x="2346" y="4256451"/>
                  </a:lnTo>
                  <a:lnTo>
                    <a:pt x="0" y="4221264"/>
                  </a:lnTo>
                  <a:lnTo>
                    <a:pt x="0" y="346005"/>
                  </a:lnTo>
                  <a:lnTo>
                    <a:pt x="8209" y="276804"/>
                  </a:lnTo>
                  <a:lnTo>
                    <a:pt x="28149" y="211122"/>
                  </a:lnTo>
                  <a:lnTo>
                    <a:pt x="59817" y="152476"/>
                  </a:lnTo>
                  <a:lnTo>
                    <a:pt x="103215" y="100869"/>
                  </a:lnTo>
                  <a:lnTo>
                    <a:pt x="154822" y="59817"/>
                  </a:lnTo>
                  <a:lnTo>
                    <a:pt x="213467" y="25804"/>
                  </a:lnTo>
                  <a:lnTo>
                    <a:pt x="279150" y="7037"/>
                  </a:lnTo>
                  <a:lnTo>
                    <a:pt x="348351" y="0"/>
                  </a:lnTo>
                  <a:lnTo>
                    <a:pt x="1910654" y="0"/>
                  </a:lnTo>
                  <a:lnTo>
                    <a:pt x="1981027" y="7037"/>
                  </a:lnTo>
                  <a:lnTo>
                    <a:pt x="2046710" y="25804"/>
                  </a:lnTo>
                  <a:lnTo>
                    <a:pt x="2104182" y="59817"/>
                  </a:lnTo>
                  <a:lnTo>
                    <a:pt x="2154617" y="100869"/>
                  </a:lnTo>
                  <a:lnTo>
                    <a:pt x="2183086" y="131950"/>
                  </a:lnTo>
                  <a:lnTo>
                    <a:pt x="340141" y="131950"/>
                  </a:lnTo>
                  <a:lnTo>
                    <a:pt x="317856" y="136641"/>
                  </a:lnTo>
                  <a:lnTo>
                    <a:pt x="274459" y="149543"/>
                  </a:lnTo>
                  <a:lnTo>
                    <a:pt x="235753" y="171829"/>
                  </a:lnTo>
                  <a:lnTo>
                    <a:pt x="201739" y="198805"/>
                  </a:lnTo>
                  <a:lnTo>
                    <a:pt x="172417" y="232819"/>
                  </a:lnTo>
                  <a:lnTo>
                    <a:pt x="152477" y="272698"/>
                  </a:lnTo>
                  <a:lnTo>
                    <a:pt x="138402" y="316095"/>
                  </a:lnTo>
                  <a:lnTo>
                    <a:pt x="132538" y="363011"/>
                  </a:lnTo>
                  <a:lnTo>
                    <a:pt x="132538" y="4203084"/>
                  </a:lnTo>
                  <a:lnTo>
                    <a:pt x="138402" y="4250000"/>
                  </a:lnTo>
                  <a:lnTo>
                    <a:pt x="152477" y="4293397"/>
                  </a:lnTo>
                  <a:lnTo>
                    <a:pt x="172417" y="4330930"/>
                  </a:lnTo>
                  <a:lnTo>
                    <a:pt x="201739" y="4366117"/>
                  </a:lnTo>
                  <a:lnTo>
                    <a:pt x="235753" y="4394267"/>
                  </a:lnTo>
                  <a:lnTo>
                    <a:pt x="274459" y="4415379"/>
                  </a:lnTo>
                  <a:lnTo>
                    <a:pt x="317856" y="4429454"/>
                  </a:lnTo>
                  <a:lnTo>
                    <a:pt x="363598" y="4432972"/>
                  </a:lnTo>
                  <a:lnTo>
                    <a:pt x="2184793" y="4432972"/>
                  </a:lnTo>
                  <a:lnTo>
                    <a:pt x="2179248" y="4440596"/>
                  </a:lnTo>
                  <a:lnTo>
                    <a:pt x="2131158" y="4487512"/>
                  </a:lnTo>
                  <a:lnTo>
                    <a:pt x="2076032" y="4525045"/>
                  </a:lnTo>
                  <a:lnTo>
                    <a:pt x="2015042" y="4550849"/>
                  </a:lnTo>
                  <a:lnTo>
                    <a:pt x="1945840" y="4564924"/>
                  </a:lnTo>
                  <a:lnTo>
                    <a:pt x="1910654" y="4566096"/>
                  </a:lnTo>
                  <a:close/>
                </a:path>
                <a:path w="2258060" h="4566285">
                  <a:moveTo>
                    <a:pt x="1577550" y="291465"/>
                  </a:moveTo>
                  <a:lnTo>
                    <a:pt x="681455" y="291465"/>
                  </a:lnTo>
                  <a:lnTo>
                    <a:pt x="669726" y="290291"/>
                  </a:lnTo>
                  <a:lnTo>
                    <a:pt x="627502" y="272698"/>
                  </a:lnTo>
                  <a:lnTo>
                    <a:pt x="595833" y="241030"/>
                  </a:lnTo>
                  <a:lnTo>
                    <a:pt x="578240" y="198805"/>
                  </a:lnTo>
                  <a:lnTo>
                    <a:pt x="577067" y="187076"/>
                  </a:lnTo>
                  <a:lnTo>
                    <a:pt x="577067" y="175347"/>
                  </a:lnTo>
                  <a:lnTo>
                    <a:pt x="574721" y="165964"/>
                  </a:lnTo>
                  <a:lnTo>
                    <a:pt x="548917" y="134296"/>
                  </a:lnTo>
                  <a:lnTo>
                    <a:pt x="540706" y="131950"/>
                  </a:lnTo>
                  <a:lnTo>
                    <a:pt x="1717126" y="131950"/>
                  </a:lnTo>
                  <a:lnTo>
                    <a:pt x="1685457" y="157754"/>
                  </a:lnTo>
                  <a:lnTo>
                    <a:pt x="1683111" y="165964"/>
                  </a:lnTo>
                  <a:lnTo>
                    <a:pt x="1683111" y="175347"/>
                  </a:lnTo>
                  <a:lnTo>
                    <a:pt x="1681938" y="187076"/>
                  </a:lnTo>
                  <a:lnTo>
                    <a:pt x="1681938" y="198805"/>
                  </a:lnTo>
                  <a:lnTo>
                    <a:pt x="1673728" y="221090"/>
                  </a:lnTo>
                  <a:lnTo>
                    <a:pt x="1647925" y="258623"/>
                  </a:lnTo>
                  <a:lnTo>
                    <a:pt x="1610392" y="284427"/>
                  </a:lnTo>
                  <a:lnTo>
                    <a:pt x="1589279" y="290291"/>
                  </a:lnTo>
                  <a:lnTo>
                    <a:pt x="1577550" y="291465"/>
                  </a:lnTo>
                  <a:close/>
                </a:path>
                <a:path w="2258060" h="4566285">
                  <a:moveTo>
                    <a:pt x="2184793" y="4432972"/>
                  </a:moveTo>
                  <a:lnTo>
                    <a:pt x="1894233" y="4432972"/>
                  </a:lnTo>
                  <a:lnTo>
                    <a:pt x="1918865" y="4431800"/>
                  </a:lnTo>
                  <a:lnTo>
                    <a:pt x="1939976" y="4429454"/>
                  </a:lnTo>
                  <a:lnTo>
                    <a:pt x="2005659" y="4405996"/>
                  </a:lnTo>
                  <a:lnTo>
                    <a:pt x="2058439" y="4366117"/>
                  </a:lnTo>
                  <a:lnTo>
                    <a:pt x="2086589" y="4330930"/>
                  </a:lnTo>
                  <a:lnTo>
                    <a:pt x="2107701" y="4293397"/>
                  </a:lnTo>
                  <a:lnTo>
                    <a:pt x="2119430" y="4250000"/>
                  </a:lnTo>
                  <a:lnTo>
                    <a:pt x="2125295" y="4203084"/>
                  </a:lnTo>
                  <a:lnTo>
                    <a:pt x="2125295" y="363011"/>
                  </a:lnTo>
                  <a:lnTo>
                    <a:pt x="2119430" y="316095"/>
                  </a:lnTo>
                  <a:lnTo>
                    <a:pt x="2107701" y="272698"/>
                  </a:lnTo>
                  <a:lnTo>
                    <a:pt x="2086589" y="232819"/>
                  </a:lnTo>
                  <a:lnTo>
                    <a:pt x="2058439" y="198805"/>
                  </a:lnTo>
                  <a:lnTo>
                    <a:pt x="2005659" y="160099"/>
                  </a:lnTo>
                  <a:lnTo>
                    <a:pt x="1963435" y="142506"/>
                  </a:lnTo>
                  <a:lnTo>
                    <a:pt x="1918865" y="131950"/>
                  </a:lnTo>
                  <a:lnTo>
                    <a:pt x="2183086" y="131950"/>
                  </a:lnTo>
                  <a:lnTo>
                    <a:pt x="2216781" y="181799"/>
                  </a:lnTo>
                  <a:lnTo>
                    <a:pt x="2241411" y="242790"/>
                  </a:lnTo>
                  <a:lnTo>
                    <a:pt x="2255487" y="310818"/>
                  </a:lnTo>
                  <a:lnTo>
                    <a:pt x="2257832" y="346005"/>
                  </a:lnTo>
                  <a:lnTo>
                    <a:pt x="2257832" y="4221264"/>
                  </a:lnTo>
                  <a:lnTo>
                    <a:pt x="2249622" y="4290465"/>
                  </a:lnTo>
                  <a:lnTo>
                    <a:pt x="2229682" y="4354975"/>
                  </a:lnTo>
                  <a:lnTo>
                    <a:pt x="2198014" y="4414792"/>
                  </a:lnTo>
                  <a:lnTo>
                    <a:pt x="2184793" y="44329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93666" y="1508152"/>
              <a:ext cx="254520" cy="4518007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14984" y="1499941"/>
              <a:ext cx="2175729" cy="4528564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1398562" y="1931568"/>
              <a:ext cx="2258060" cy="3682365"/>
            </a:xfrm>
            <a:custGeom>
              <a:avLst/>
              <a:gdLst/>
              <a:ahLst/>
              <a:cxnLst/>
              <a:rect l="l" t="t" r="r" b="b"/>
              <a:pathLst>
                <a:path w="2258060" h="3682365">
                  <a:moveTo>
                    <a:pt x="132537" y="3647719"/>
                  </a:moveTo>
                  <a:lnTo>
                    <a:pt x="0" y="3647719"/>
                  </a:lnTo>
                  <a:lnTo>
                    <a:pt x="0" y="3681742"/>
                  </a:lnTo>
                  <a:lnTo>
                    <a:pt x="132537" y="3681742"/>
                  </a:lnTo>
                  <a:lnTo>
                    <a:pt x="132537" y="3647719"/>
                  </a:lnTo>
                  <a:close/>
                </a:path>
                <a:path w="2258060" h="3682365">
                  <a:moveTo>
                    <a:pt x="132537" y="0"/>
                  </a:moveTo>
                  <a:lnTo>
                    <a:pt x="0" y="0"/>
                  </a:lnTo>
                  <a:lnTo>
                    <a:pt x="0" y="34023"/>
                  </a:lnTo>
                  <a:lnTo>
                    <a:pt x="132537" y="34023"/>
                  </a:lnTo>
                  <a:lnTo>
                    <a:pt x="132537" y="0"/>
                  </a:lnTo>
                  <a:close/>
                </a:path>
                <a:path w="2258060" h="3682365">
                  <a:moveTo>
                    <a:pt x="2257831" y="3647719"/>
                  </a:moveTo>
                  <a:lnTo>
                    <a:pt x="2125294" y="3647719"/>
                  </a:lnTo>
                  <a:lnTo>
                    <a:pt x="2125294" y="3681742"/>
                  </a:lnTo>
                  <a:lnTo>
                    <a:pt x="2257831" y="3681742"/>
                  </a:lnTo>
                  <a:lnTo>
                    <a:pt x="2257831" y="3647719"/>
                  </a:lnTo>
                  <a:close/>
                </a:path>
                <a:path w="2258060" h="3682365">
                  <a:moveTo>
                    <a:pt x="2257831" y="0"/>
                  </a:moveTo>
                  <a:lnTo>
                    <a:pt x="2125294" y="0"/>
                  </a:lnTo>
                  <a:lnTo>
                    <a:pt x="2125294" y="34023"/>
                  </a:lnTo>
                  <a:lnTo>
                    <a:pt x="2257831" y="34023"/>
                  </a:lnTo>
                  <a:lnTo>
                    <a:pt x="2257831" y="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38442" y="1521053"/>
              <a:ext cx="2178075" cy="4513315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1492396" y="1584390"/>
              <a:ext cx="2071370" cy="4364355"/>
            </a:xfrm>
            <a:custGeom>
              <a:avLst/>
              <a:gdLst/>
              <a:ahLst/>
              <a:cxnLst/>
              <a:rect l="l" t="t" r="r" b="b"/>
              <a:pathLst>
                <a:path w="2071370" h="4364355">
                  <a:moveTo>
                    <a:pt x="1793364" y="4364358"/>
                  </a:moveTo>
                  <a:lnTo>
                    <a:pt x="277977" y="4364358"/>
                  </a:lnTo>
                  <a:lnTo>
                    <a:pt x="249827" y="4363186"/>
                  </a:lnTo>
                  <a:lnTo>
                    <a:pt x="194701" y="4352630"/>
                  </a:lnTo>
                  <a:lnTo>
                    <a:pt x="145439" y="4331517"/>
                  </a:lnTo>
                  <a:lnTo>
                    <a:pt x="102042" y="4302195"/>
                  </a:lnTo>
                  <a:lnTo>
                    <a:pt x="62163" y="4264662"/>
                  </a:lnTo>
                  <a:lnTo>
                    <a:pt x="32841" y="4221264"/>
                  </a:lnTo>
                  <a:lnTo>
                    <a:pt x="12901" y="4169657"/>
                  </a:lnTo>
                  <a:lnTo>
                    <a:pt x="1173" y="4115704"/>
                  </a:lnTo>
                  <a:lnTo>
                    <a:pt x="0" y="4088727"/>
                  </a:lnTo>
                  <a:lnTo>
                    <a:pt x="0" y="276804"/>
                  </a:lnTo>
                  <a:lnTo>
                    <a:pt x="5864" y="221678"/>
                  </a:lnTo>
                  <a:lnTo>
                    <a:pt x="21112" y="170070"/>
                  </a:lnTo>
                  <a:lnTo>
                    <a:pt x="46916" y="123154"/>
                  </a:lnTo>
                  <a:lnTo>
                    <a:pt x="82103" y="80930"/>
                  </a:lnTo>
                  <a:lnTo>
                    <a:pt x="121981" y="48089"/>
                  </a:lnTo>
                  <a:lnTo>
                    <a:pt x="168897" y="22284"/>
                  </a:lnTo>
                  <a:lnTo>
                    <a:pt x="222850" y="4691"/>
                  </a:lnTo>
                  <a:lnTo>
                    <a:pt x="249827" y="0"/>
                  </a:lnTo>
                  <a:lnTo>
                    <a:pt x="1822687" y="0"/>
                  </a:lnTo>
                  <a:lnTo>
                    <a:pt x="1849663" y="4691"/>
                  </a:lnTo>
                  <a:lnTo>
                    <a:pt x="1875467" y="11729"/>
                  </a:lnTo>
                  <a:lnTo>
                    <a:pt x="1901271" y="22284"/>
                  </a:lnTo>
                  <a:lnTo>
                    <a:pt x="1920037" y="31669"/>
                  </a:lnTo>
                  <a:lnTo>
                    <a:pt x="246308" y="31669"/>
                  </a:lnTo>
                  <a:lnTo>
                    <a:pt x="224023" y="36360"/>
                  </a:lnTo>
                  <a:lnTo>
                    <a:pt x="180626" y="49262"/>
                  </a:lnTo>
                  <a:lnTo>
                    <a:pt x="141920" y="71548"/>
                  </a:lnTo>
                  <a:lnTo>
                    <a:pt x="107906" y="98524"/>
                  </a:lnTo>
                  <a:lnTo>
                    <a:pt x="78584" y="132538"/>
                  </a:lnTo>
                  <a:lnTo>
                    <a:pt x="58644" y="172417"/>
                  </a:lnTo>
                  <a:lnTo>
                    <a:pt x="44569" y="215813"/>
                  </a:lnTo>
                  <a:lnTo>
                    <a:pt x="38705" y="262730"/>
                  </a:lnTo>
                  <a:lnTo>
                    <a:pt x="38705" y="4102803"/>
                  </a:lnTo>
                  <a:lnTo>
                    <a:pt x="44569" y="4149719"/>
                  </a:lnTo>
                  <a:lnTo>
                    <a:pt x="58644" y="4193116"/>
                  </a:lnTo>
                  <a:lnTo>
                    <a:pt x="78584" y="4230648"/>
                  </a:lnTo>
                  <a:lnTo>
                    <a:pt x="107906" y="4265836"/>
                  </a:lnTo>
                  <a:lnTo>
                    <a:pt x="141920" y="4293986"/>
                  </a:lnTo>
                  <a:lnTo>
                    <a:pt x="180626" y="4315098"/>
                  </a:lnTo>
                  <a:lnTo>
                    <a:pt x="224023" y="4329172"/>
                  </a:lnTo>
                  <a:lnTo>
                    <a:pt x="269766" y="4332691"/>
                  </a:lnTo>
                  <a:lnTo>
                    <a:pt x="1922380" y="4332691"/>
                  </a:lnTo>
                  <a:lnTo>
                    <a:pt x="1901271" y="4343246"/>
                  </a:lnTo>
                  <a:lnTo>
                    <a:pt x="1875467" y="4352630"/>
                  </a:lnTo>
                  <a:lnTo>
                    <a:pt x="1849663" y="4358494"/>
                  </a:lnTo>
                  <a:lnTo>
                    <a:pt x="1822687" y="4363186"/>
                  </a:lnTo>
                  <a:lnTo>
                    <a:pt x="1793364" y="4364358"/>
                  </a:lnTo>
                  <a:close/>
                </a:path>
                <a:path w="2071370" h="4364355">
                  <a:moveTo>
                    <a:pt x="1483718" y="191183"/>
                  </a:moveTo>
                  <a:lnTo>
                    <a:pt x="587622" y="191183"/>
                  </a:lnTo>
                  <a:lnTo>
                    <a:pt x="575893" y="190010"/>
                  </a:lnTo>
                  <a:lnTo>
                    <a:pt x="533669" y="172417"/>
                  </a:lnTo>
                  <a:lnTo>
                    <a:pt x="502000" y="140749"/>
                  </a:lnTo>
                  <a:lnTo>
                    <a:pt x="484407" y="98524"/>
                  </a:lnTo>
                  <a:lnTo>
                    <a:pt x="483234" y="86795"/>
                  </a:lnTo>
                  <a:lnTo>
                    <a:pt x="483234" y="75066"/>
                  </a:lnTo>
                  <a:lnTo>
                    <a:pt x="480888" y="65683"/>
                  </a:lnTo>
                  <a:lnTo>
                    <a:pt x="455082" y="34014"/>
                  </a:lnTo>
                  <a:lnTo>
                    <a:pt x="446874" y="31669"/>
                  </a:lnTo>
                  <a:lnTo>
                    <a:pt x="1623293" y="31669"/>
                  </a:lnTo>
                  <a:lnTo>
                    <a:pt x="1591625" y="57473"/>
                  </a:lnTo>
                  <a:lnTo>
                    <a:pt x="1589278" y="65683"/>
                  </a:lnTo>
                  <a:lnTo>
                    <a:pt x="1589278" y="75066"/>
                  </a:lnTo>
                  <a:lnTo>
                    <a:pt x="1588106" y="86795"/>
                  </a:lnTo>
                  <a:lnTo>
                    <a:pt x="1588106" y="98524"/>
                  </a:lnTo>
                  <a:lnTo>
                    <a:pt x="1579895" y="120809"/>
                  </a:lnTo>
                  <a:lnTo>
                    <a:pt x="1554092" y="158342"/>
                  </a:lnTo>
                  <a:lnTo>
                    <a:pt x="1516559" y="184145"/>
                  </a:lnTo>
                  <a:lnTo>
                    <a:pt x="1495446" y="190010"/>
                  </a:lnTo>
                  <a:lnTo>
                    <a:pt x="1483718" y="191183"/>
                  </a:lnTo>
                  <a:close/>
                </a:path>
                <a:path w="2071370" h="4364355">
                  <a:moveTo>
                    <a:pt x="1922380" y="4332691"/>
                  </a:moveTo>
                  <a:lnTo>
                    <a:pt x="1800401" y="4332691"/>
                  </a:lnTo>
                  <a:lnTo>
                    <a:pt x="1825045" y="4331517"/>
                  </a:lnTo>
                  <a:lnTo>
                    <a:pt x="1846144" y="4329172"/>
                  </a:lnTo>
                  <a:lnTo>
                    <a:pt x="1911826" y="4305714"/>
                  </a:lnTo>
                  <a:lnTo>
                    <a:pt x="1964607" y="4265836"/>
                  </a:lnTo>
                  <a:lnTo>
                    <a:pt x="1992756" y="4230648"/>
                  </a:lnTo>
                  <a:lnTo>
                    <a:pt x="2013869" y="4193116"/>
                  </a:lnTo>
                  <a:lnTo>
                    <a:pt x="2025597" y="4149719"/>
                  </a:lnTo>
                  <a:lnTo>
                    <a:pt x="2031462" y="4102803"/>
                  </a:lnTo>
                  <a:lnTo>
                    <a:pt x="2031462" y="262730"/>
                  </a:lnTo>
                  <a:lnTo>
                    <a:pt x="2025597" y="215813"/>
                  </a:lnTo>
                  <a:lnTo>
                    <a:pt x="2013869" y="172417"/>
                  </a:lnTo>
                  <a:lnTo>
                    <a:pt x="1992756" y="132538"/>
                  </a:lnTo>
                  <a:lnTo>
                    <a:pt x="1964607" y="98524"/>
                  </a:lnTo>
                  <a:lnTo>
                    <a:pt x="1911826" y="59818"/>
                  </a:lnTo>
                  <a:lnTo>
                    <a:pt x="1869602" y="42225"/>
                  </a:lnTo>
                  <a:lnTo>
                    <a:pt x="1825031" y="31669"/>
                  </a:lnTo>
                  <a:lnTo>
                    <a:pt x="1920037" y="31669"/>
                  </a:lnTo>
                  <a:lnTo>
                    <a:pt x="1970472" y="63336"/>
                  </a:lnTo>
                  <a:lnTo>
                    <a:pt x="2008005" y="100869"/>
                  </a:lnTo>
                  <a:lnTo>
                    <a:pt x="2037326" y="144266"/>
                  </a:lnTo>
                  <a:lnTo>
                    <a:pt x="2059612" y="193528"/>
                  </a:lnTo>
                  <a:lnTo>
                    <a:pt x="2068995" y="248654"/>
                  </a:lnTo>
                  <a:lnTo>
                    <a:pt x="2071341" y="276804"/>
                  </a:lnTo>
                  <a:lnTo>
                    <a:pt x="2071341" y="4088727"/>
                  </a:lnTo>
                  <a:lnTo>
                    <a:pt x="2065476" y="4143854"/>
                  </a:lnTo>
                  <a:lnTo>
                    <a:pt x="2049056" y="4195461"/>
                  </a:lnTo>
                  <a:lnTo>
                    <a:pt x="2023252" y="4242377"/>
                  </a:lnTo>
                  <a:lnTo>
                    <a:pt x="1990410" y="4283429"/>
                  </a:lnTo>
                  <a:lnTo>
                    <a:pt x="1949359" y="4317442"/>
                  </a:lnTo>
                  <a:lnTo>
                    <a:pt x="1924728" y="4331517"/>
                  </a:lnTo>
                  <a:lnTo>
                    <a:pt x="1922380" y="43326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2403738" y="1655937"/>
              <a:ext cx="276225" cy="29845"/>
            </a:xfrm>
            <a:custGeom>
              <a:avLst/>
              <a:gdLst/>
              <a:ahLst/>
              <a:cxnLst/>
              <a:rect l="l" t="t" r="r" b="b"/>
              <a:pathLst>
                <a:path w="276225" h="29844">
                  <a:moveTo>
                    <a:pt x="260383" y="29322"/>
                  </a:moveTo>
                  <a:lnTo>
                    <a:pt x="12901" y="29322"/>
                  </a:lnTo>
                  <a:lnTo>
                    <a:pt x="9383" y="26976"/>
                  </a:lnTo>
                  <a:lnTo>
                    <a:pt x="3518" y="25803"/>
                  </a:lnTo>
                  <a:lnTo>
                    <a:pt x="1172" y="19939"/>
                  </a:lnTo>
                  <a:lnTo>
                    <a:pt x="0" y="14074"/>
                  </a:lnTo>
                  <a:lnTo>
                    <a:pt x="1172" y="9383"/>
                  </a:lnTo>
                  <a:lnTo>
                    <a:pt x="3518" y="3518"/>
                  </a:lnTo>
                  <a:lnTo>
                    <a:pt x="9383" y="2345"/>
                  </a:lnTo>
                  <a:lnTo>
                    <a:pt x="12901" y="0"/>
                  </a:lnTo>
                  <a:lnTo>
                    <a:pt x="260383" y="0"/>
                  </a:lnTo>
                  <a:lnTo>
                    <a:pt x="266248" y="2345"/>
                  </a:lnTo>
                  <a:lnTo>
                    <a:pt x="272113" y="3518"/>
                  </a:lnTo>
                  <a:lnTo>
                    <a:pt x="274458" y="9383"/>
                  </a:lnTo>
                  <a:lnTo>
                    <a:pt x="275631" y="14074"/>
                  </a:lnTo>
                  <a:lnTo>
                    <a:pt x="274458" y="19939"/>
                  </a:lnTo>
                  <a:lnTo>
                    <a:pt x="272113" y="25803"/>
                  </a:lnTo>
                  <a:lnTo>
                    <a:pt x="266248" y="26976"/>
                  </a:lnTo>
                  <a:lnTo>
                    <a:pt x="260383" y="29322"/>
                  </a:lnTo>
                  <a:close/>
                </a:path>
              </a:pathLst>
            </a:custGeom>
            <a:solidFill>
              <a:srgbClr val="17101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45053" y="1638343"/>
              <a:ext cx="64510" cy="64510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83315" y="2099293"/>
              <a:ext cx="22285" cy="172416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83315" y="2433569"/>
              <a:ext cx="22285" cy="319028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656395" y="2537957"/>
              <a:ext cx="17594" cy="528977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83315" y="2845257"/>
              <a:ext cx="22285" cy="327238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152785" y="2683746"/>
              <a:ext cx="751029" cy="158655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1687793" y="3650023"/>
              <a:ext cx="1681480" cy="403225"/>
            </a:xfrm>
            <a:custGeom>
              <a:avLst/>
              <a:gdLst/>
              <a:ahLst/>
              <a:cxnLst/>
              <a:rect l="l" t="t" r="r" b="b"/>
              <a:pathLst>
                <a:path w="1681479" h="403225">
                  <a:moveTo>
                    <a:pt x="1613698" y="403199"/>
                  </a:moveTo>
                  <a:lnTo>
                    <a:pt x="67201" y="403199"/>
                  </a:lnTo>
                  <a:lnTo>
                    <a:pt x="54029" y="401896"/>
                  </a:lnTo>
                  <a:lnTo>
                    <a:pt x="19682" y="383517"/>
                  </a:lnTo>
                  <a:lnTo>
                    <a:pt x="1303" y="349170"/>
                  </a:lnTo>
                  <a:lnTo>
                    <a:pt x="0" y="335998"/>
                  </a:lnTo>
                  <a:lnTo>
                    <a:pt x="0" y="0"/>
                  </a:lnTo>
                  <a:lnTo>
                    <a:pt x="1680900" y="0"/>
                  </a:lnTo>
                  <a:lnTo>
                    <a:pt x="1680900" y="335998"/>
                  </a:lnTo>
                  <a:lnTo>
                    <a:pt x="1675708" y="361715"/>
                  </a:lnTo>
                  <a:lnTo>
                    <a:pt x="1675619" y="362156"/>
                  </a:lnTo>
                  <a:lnTo>
                    <a:pt x="1661217" y="383517"/>
                  </a:lnTo>
                  <a:lnTo>
                    <a:pt x="1639856" y="397918"/>
                  </a:lnTo>
                  <a:lnTo>
                    <a:pt x="1613698" y="403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687793" y="3650008"/>
              <a:ext cx="1681480" cy="403225"/>
            </a:xfrm>
            <a:custGeom>
              <a:avLst/>
              <a:gdLst/>
              <a:ahLst/>
              <a:cxnLst/>
              <a:rect l="l" t="t" r="r" b="b"/>
              <a:pathLst>
                <a:path w="1681479" h="403225">
                  <a:moveTo>
                    <a:pt x="1613698" y="403213"/>
                  </a:moveTo>
                  <a:lnTo>
                    <a:pt x="67201" y="403213"/>
                  </a:lnTo>
                  <a:lnTo>
                    <a:pt x="54029" y="401910"/>
                  </a:lnTo>
                  <a:lnTo>
                    <a:pt x="19682" y="383531"/>
                  </a:lnTo>
                  <a:lnTo>
                    <a:pt x="1303" y="349184"/>
                  </a:lnTo>
                  <a:lnTo>
                    <a:pt x="0" y="336012"/>
                  </a:lnTo>
                  <a:lnTo>
                    <a:pt x="0" y="13"/>
                  </a:lnTo>
                  <a:lnTo>
                    <a:pt x="1680900" y="13"/>
                  </a:lnTo>
                  <a:lnTo>
                    <a:pt x="1680900" y="336012"/>
                  </a:lnTo>
                  <a:lnTo>
                    <a:pt x="1675619" y="362170"/>
                  </a:lnTo>
                  <a:lnTo>
                    <a:pt x="1661217" y="383531"/>
                  </a:lnTo>
                  <a:lnTo>
                    <a:pt x="1639856" y="397932"/>
                  </a:lnTo>
                  <a:lnTo>
                    <a:pt x="1613698" y="403213"/>
                  </a:lnTo>
                  <a:close/>
                </a:path>
              </a:pathLst>
            </a:custGeom>
            <a:ln w="9524">
              <a:solidFill>
                <a:srgbClr val="AEAEB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4621236" y="1427102"/>
            <a:ext cx="2423160" cy="1349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5EBEBB"/>
                </a:solidFill>
                <a:latin typeface="Montserrat"/>
                <a:cs typeface="Montserrat"/>
              </a:rPr>
              <a:t>1</a:t>
            </a:r>
            <a:r>
              <a:rPr dirty="0" sz="1100" spc="254" b="1">
                <a:solidFill>
                  <a:srgbClr val="5EBEBB"/>
                </a:solidFill>
                <a:latin typeface="Montserrat"/>
                <a:cs typeface="Montserrat"/>
              </a:rPr>
              <a:t> </a:t>
            </a:r>
            <a:r>
              <a:rPr dirty="0" sz="1100" b="1">
                <a:solidFill>
                  <a:srgbClr val="FFFFFF"/>
                </a:solidFill>
                <a:latin typeface="Montserrat"/>
                <a:cs typeface="Montserrat"/>
              </a:rPr>
              <a:t>Fraud</a:t>
            </a:r>
            <a:r>
              <a:rPr dirty="0" sz="1100" spc="-3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100" spc="-10" b="1">
                <a:solidFill>
                  <a:srgbClr val="FFFFFF"/>
                </a:solidFill>
                <a:latin typeface="Montserrat"/>
                <a:cs typeface="Montserrat"/>
              </a:rPr>
              <a:t>Prevention</a:t>
            </a:r>
            <a:endParaRPr sz="1100">
              <a:latin typeface="Montserrat"/>
              <a:cs typeface="Montserrat"/>
            </a:endParaRPr>
          </a:p>
          <a:p>
            <a:pPr marL="12700" marR="5080">
              <a:lnSpc>
                <a:spcPct val="114999"/>
              </a:lnSpc>
              <a:spcBef>
                <a:spcPts val="819"/>
              </a:spcBef>
            </a:pP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Identiﬁcation</a:t>
            </a:r>
            <a:r>
              <a:rPr dirty="0" sz="1000" spc="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will</a:t>
            </a:r>
            <a:r>
              <a:rPr dirty="0" sz="1000" spc="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be</a:t>
            </a:r>
            <a:r>
              <a:rPr dirty="0" sz="1000" spc="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validated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utilizing</a:t>
            </a:r>
            <a:r>
              <a:rPr dirty="0" sz="1000" spc="-4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government</a:t>
            </a:r>
            <a:r>
              <a:rPr dirty="0" sz="1000" spc="-4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issued</a:t>
            </a:r>
            <a:r>
              <a:rPr dirty="0" sz="1000" spc="-4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25">
                <a:solidFill>
                  <a:srgbClr val="D3DCE4"/>
                </a:solidFill>
                <a:latin typeface="Montserrat"/>
                <a:cs typeface="Montserrat"/>
              </a:rPr>
              <a:t>ID</a:t>
            </a:r>
            <a:r>
              <a:rPr dirty="0" sz="1000" spc="50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during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onboarding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and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at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the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start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25">
                <a:solidFill>
                  <a:srgbClr val="D3DCE4"/>
                </a:solidFill>
                <a:latin typeface="Montserrat"/>
                <a:cs typeface="Montserrat"/>
              </a:rPr>
              <a:t>of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shift</a:t>
            </a:r>
            <a:r>
              <a:rPr dirty="0" sz="1000" spc="-2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through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the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NICEHR</a:t>
            </a:r>
            <a:r>
              <a:rPr dirty="0" sz="1000" spc="-2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group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25">
                <a:solidFill>
                  <a:srgbClr val="D3DCE4"/>
                </a:solidFill>
                <a:latin typeface="Montserrat"/>
                <a:cs typeface="Montserrat"/>
              </a:rPr>
              <a:t>APP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and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platform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which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is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integrated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with ID.me</a:t>
            </a:r>
            <a:endParaRPr sz="1000">
              <a:latin typeface="Montserrat"/>
              <a:cs typeface="Montserrat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8675651" y="1427112"/>
            <a:ext cx="2103120" cy="1349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5EBEBB"/>
                </a:solidFill>
                <a:latin typeface="Montserrat"/>
                <a:cs typeface="Montserrat"/>
              </a:rPr>
              <a:t>2</a:t>
            </a:r>
            <a:r>
              <a:rPr dirty="0" sz="1100" spc="295" b="1">
                <a:solidFill>
                  <a:srgbClr val="5EBEBB"/>
                </a:solidFill>
                <a:latin typeface="Montserrat"/>
                <a:cs typeface="Montserrat"/>
              </a:rPr>
              <a:t> </a:t>
            </a:r>
            <a:r>
              <a:rPr dirty="0" sz="1100" spc="-10" b="1">
                <a:solidFill>
                  <a:srgbClr val="FFFFFF"/>
                </a:solidFill>
                <a:latin typeface="Montserrat"/>
                <a:cs typeface="Montserrat"/>
              </a:rPr>
              <a:t>Training</a:t>
            </a:r>
            <a:endParaRPr sz="1100">
              <a:latin typeface="Montserrat"/>
              <a:cs typeface="Montserrat"/>
            </a:endParaRPr>
          </a:p>
          <a:p>
            <a:pPr marL="12700" marR="5080">
              <a:lnSpc>
                <a:spcPct val="114999"/>
              </a:lnSpc>
              <a:spcBef>
                <a:spcPts val="819"/>
              </a:spcBef>
            </a:pP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We</a:t>
            </a:r>
            <a:r>
              <a:rPr dirty="0" sz="1000" spc="-2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have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built</a:t>
            </a:r>
            <a:r>
              <a:rPr dirty="0" sz="1000" spc="-2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build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a</a:t>
            </a:r>
            <a:r>
              <a:rPr dirty="0" sz="1000" spc="-3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10">
                <a:solidFill>
                  <a:srgbClr val="FAC787"/>
                </a:solidFill>
                <a:latin typeface="Montserrat"/>
                <a:cs typeface="Montserrat"/>
              </a:rPr>
              <a:t>robust </a:t>
            </a:r>
            <a:r>
              <a:rPr dirty="0" sz="1000">
                <a:solidFill>
                  <a:srgbClr val="FAC787"/>
                </a:solidFill>
                <a:latin typeface="Montserrat"/>
                <a:cs typeface="Montserrat"/>
              </a:rPr>
              <a:t>knowledge</a:t>
            </a:r>
            <a:r>
              <a:rPr dirty="0" sz="1000" spc="-20">
                <a:solidFill>
                  <a:srgbClr val="FAC787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FAC787"/>
                </a:solidFill>
                <a:latin typeface="Montserrat"/>
                <a:cs typeface="Montserrat"/>
              </a:rPr>
              <a:t>base</a:t>
            </a:r>
            <a:r>
              <a:rPr dirty="0" sz="1000" spc="-25">
                <a:solidFill>
                  <a:srgbClr val="FAC787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high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quality,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relevant,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and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up-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to-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date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content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to</a:t>
            </a:r>
            <a:r>
              <a:rPr dirty="0" sz="1000" spc="-4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provide</a:t>
            </a:r>
            <a:r>
              <a:rPr dirty="0" sz="1000" spc="-3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compelling</a:t>
            </a:r>
            <a:r>
              <a:rPr dirty="0" sz="1000" spc="-3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learning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experiences</a:t>
            </a:r>
            <a:r>
              <a:rPr dirty="0" sz="1000" spc="-2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to</a:t>
            </a:r>
            <a:r>
              <a:rPr dirty="0" sz="1000" spc="-2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our</a:t>
            </a:r>
            <a:r>
              <a:rPr dirty="0" sz="1000" spc="-2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network.</a:t>
            </a:r>
            <a:endParaRPr sz="1000">
              <a:latin typeface="Montserrat"/>
              <a:cs typeface="Montserrat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Mobile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and</a:t>
            </a:r>
            <a:r>
              <a:rPr dirty="0" sz="1000" spc="-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desktop</a:t>
            </a:r>
            <a:r>
              <a:rPr dirty="0" sz="1000" spc="-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versions.</a:t>
            </a:r>
            <a:endParaRPr sz="1000">
              <a:latin typeface="Montserrat"/>
              <a:cs typeface="Montserrat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4621250" y="3036811"/>
            <a:ext cx="205803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5EBEBB"/>
                </a:solidFill>
                <a:latin typeface="Montserrat"/>
                <a:cs typeface="Montserrat"/>
              </a:rPr>
              <a:t>3</a:t>
            </a:r>
            <a:r>
              <a:rPr dirty="0" sz="1100" spc="290" b="1">
                <a:solidFill>
                  <a:srgbClr val="5EBEBB"/>
                </a:solidFill>
                <a:latin typeface="Montserrat"/>
                <a:cs typeface="Montserrat"/>
              </a:rPr>
              <a:t> </a:t>
            </a:r>
            <a:r>
              <a:rPr dirty="0" sz="1100" b="1">
                <a:solidFill>
                  <a:srgbClr val="FFFFFF"/>
                </a:solidFill>
                <a:latin typeface="Montserrat"/>
                <a:cs typeface="Montserrat"/>
              </a:rPr>
              <a:t>Business</a:t>
            </a:r>
            <a:r>
              <a:rPr dirty="0" sz="1100" spc="-10" b="1">
                <a:solidFill>
                  <a:srgbClr val="FFFFFF"/>
                </a:solidFill>
                <a:latin typeface="Montserrat"/>
                <a:cs typeface="Montserrat"/>
              </a:rPr>
              <a:t> Communication</a:t>
            </a:r>
            <a:endParaRPr sz="1100">
              <a:latin typeface="Montserrat"/>
              <a:cs typeface="Montserrat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4621250" y="3309100"/>
            <a:ext cx="2619375" cy="901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Groups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are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created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based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on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modules.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Build</a:t>
            </a:r>
            <a:r>
              <a:rPr dirty="0" sz="1000" spc="-3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a</a:t>
            </a:r>
            <a:r>
              <a:rPr dirty="0" sz="1000" spc="-2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thriving</a:t>
            </a:r>
            <a:r>
              <a:rPr dirty="0" sz="1000" spc="-3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workplace</a:t>
            </a:r>
            <a:r>
              <a:rPr dirty="0" sz="1000" spc="-2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culture</a:t>
            </a:r>
            <a:r>
              <a:rPr dirty="0" sz="1000" spc="-3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with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TNG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App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centralized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intranet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solution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25">
                <a:solidFill>
                  <a:srgbClr val="D3DCE4"/>
                </a:solidFill>
                <a:latin typeface="Montserrat"/>
                <a:cs typeface="Montserrat"/>
              </a:rPr>
              <a:t>for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internal</a:t>
            </a:r>
            <a:r>
              <a:rPr dirty="0" sz="1000" spc="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communications,</a:t>
            </a:r>
            <a:r>
              <a:rPr dirty="0" sz="1000" spc="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employee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engagement, and 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collaboration.</a:t>
            </a:r>
            <a:endParaRPr sz="1000">
              <a:latin typeface="Montserrat"/>
              <a:cs typeface="Montserrat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8675660" y="3036804"/>
            <a:ext cx="975994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5EBEBB"/>
                </a:solidFill>
                <a:latin typeface="Montserrat"/>
                <a:cs typeface="Montserrat"/>
              </a:rPr>
              <a:t>4</a:t>
            </a:r>
            <a:r>
              <a:rPr dirty="0" sz="1100" spc="295" b="1">
                <a:solidFill>
                  <a:srgbClr val="5EBEBB"/>
                </a:solidFill>
                <a:latin typeface="Montserrat"/>
                <a:cs typeface="Montserrat"/>
              </a:rPr>
              <a:t> </a:t>
            </a:r>
            <a:r>
              <a:rPr dirty="0" sz="1100" spc="-10" b="1">
                <a:solidFill>
                  <a:srgbClr val="FFFFFF"/>
                </a:solidFill>
                <a:latin typeface="Montserrat"/>
                <a:cs typeface="Montserrat"/>
              </a:rPr>
              <a:t>Evaluation</a:t>
            </a:r>
            <a:endParaRPr sz="1100">
              <a:latin typeface="Montserrat"/>
              <a:cs typeface="Montserrat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8675660" y="3334238"/>
            <a:ext cx="2377440" cy="1076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Hospital end user self and </a:t>
            </a:r>
            <a:r>
              <a:rPr dirty="0" sz="1000" spc="-25">
                <a:solidFill>
                  <a:srgbClr val="D3DCE4"/>
                </a:solidFill>
                <a:latin typeface="Montserrat"/>
                <a:cs typeface="Montserrat"/>
              </a:rPr>
              <a:t>TNG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assessment.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We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use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the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nine-</a:t>
            </a:r>
            <a:r>
              <a:rPr dirty="0" sz="1000" spc="-25">
                <a:solidFill>
                  <a:srgbClr val="D3DCE4"/>
                </a:solidFill>
                <a:latin typeface="Montserrat"/>
                <a:cs typeface="Montserrat"/>
              </a:rPr>
              <a:t>box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model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that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evaluates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the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potential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and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performance</a:t>
            </a:r>
            <a:r>
              <a:rPr dirty="0" sz="1000" spc="-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of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an</a:t>
            </a:r>
            <a:r>
              <a:rPr dirty="0" sz="1000" spc="-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employee,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helping</a:t>
            </a:r>
            <a:r>
              <a:rPr dirty="0" sz="1000" spc="-3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us</a:t>
            </a:r>
            <a:r>
              <a:rPr dirty="0" sz="1000" spc="-2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analyze</a:t>
            </a:r>
            <a:r>
              <a:rPr dirty="0" sz="1000" spc="-2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performance</a:t>
            </a:r>
            <a:r>
              <a:rPr dirty="0" sz="1000" spc="-3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25">
                <a:solidFill>
                  <a:srgbClr val="D3DCE4"/>
                </a:solidFill>
                <a:latin typeface="Montserrat"/>
                <a:cs typeface="Montserrat"/>
              </a:rPr>
              <a:t>and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plan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for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succession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or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training needs.</a:t>
            </a:r>
            <a:endParaRPr sz="1000">
              <a:latin typeface="Montserrat"/>
              <a:cs typeface="Montserrat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4621236" y="4646529"/>
            <a:ext cx="2385060" cy="998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5EBEBB"/>
                </a:solidFill>
                <a:latin typeface="Montserrat"/>
                <a:cs typeface="Montserrat"/>
              </a:rPr>
              <a:t>5</a:t>
            </a:r>
            <a:r>
              <a:rPr dirty="0" sz="1100" spc="325" b="1">
                <a:solidFill>
                  <a:srgbClr val="5EBEBB"/>
                </a:solidFill>
                <a:latin typeface="Montserrat"/>
                <a:cs typeface="Montserrat"/>
              </a:rPr>
              <a:t> </a:t>
            </a:r>
            <a:r>
              <a:rPr dirty="0" sz="1100" spc="-10" b="1">
                <a:solidFill>
                  <a:srgbClr val="FFFFFF"/>
                </a:solidFill>
                <a:latin typeface="Montserrat"/>
                <a:cs typeface="Montserrat"/>
              </a:rPr>
              <a:t>Geo-Fencing</a:t>
            </a:r>
            <a:endParaRPr sz="1100">
              <a:latin typeface="Montserrat"/>
              <a:cs typeface="Montserrat"/>
            </a:endParaRPr>
          </a:p>
          <a:p>
            <a:pPr marL="12700" marR="5080">
              <a:lnSpc>
                <a:spcPct val="114999"/>
              </a:lnSpc>
              <a:spcBef>
                <a:spcPts val="825"/>
              </a:spcBef>
            </a:pP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Geo-fencing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and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IP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based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permissions.</a:t>
            </a:r>
            <a:r>
              <a:rPr dirty="0" sz="1000" spc="-4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Employees</a:t>
            </a:r>
            <a:r>
              <a:rPr dirty="0" sz="1000" spc="-3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can</a:t>
            </a:r>
            <a:r>
              <a:rPr dirty="0" sz="1000" spc="-3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check</a:t>
            </a:r>
            <a:r>
              <a:rPr dirty="0" sz="1000" spc="-3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25">
                <a:solidFill>
                  <a:srgbClr val="D3DCE4"/>
                </a:solidFill>
                <a:latin typeface="Montserrat"/>
                <a:cs typeface="Montserrat"/>
              </a:rPr>
              <a:t>in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from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anywhere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with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customizable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location</a:t>
            </a:r>
            <a:r>
              <a:rPr dirty="0" sz="1000" spc="-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and IP-based 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settings.</a:t>
            </a:r>
            <a:endParaRPr sz="1000">
              <a:latin typeface="Montserrat"/>
              <a:cs typeface="Montserrat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8675650" y="4646536"/>
            <a:ext cx="2194560" cy="1349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5EBEBB"/>
                </a:solidFill>
                <a:latin typeface="Montserrat"/>
                <a:cs typeface="Montserrat"/>
              </a:rPr>
              <a:t>6</a:t>
            </a:r>
            <a:r>
              <a:rPr dirty="0" sz="1100" spc="305" b="1">
                <a:solidFill>
                  <a:srgbClr val="5EBEBB"/>
                </a:solidFill>
                <a:latin typeface="Montserrat"/>
                <a:cs typeface="Montserrat"/>
              </a:rPr>
              <a:t> </a:t>
            </a:r>
            <a:r>
              <a:rPr dirty="0" sz="1100" spc="-10" b="1">
                <a:solidFill>
                  <a:srgbClr val="FFFFFF"/>
                </a:solidFill>
                <a:latin typeface="Montserrat"/>
                <a:cs typeface="Montserrat"/>
              </a:rPr>
              <a:t>Schedule</a:t>
            </a:r>
            <a:endParaRPr sz="1100">
              <a:latin typeface="Montserrat"/>
              <a:cs typeface="Montserrat"/>
            </a:endParaRPr>
          </a:p>
          <a:p>
            <a:pPr marL="12700" marR="5080">
              <a:lnSpc>
                <a:spcPct val="114999"/>
              </a:lnSpc>
              <a:spcBef>
                <a:spcPts val="819"/>
              </a:spcBef>
            </a:pP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Cloud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based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time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tracking system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with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accurate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records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of</a:t>
            </a:r>
            <a:r>
              <a:rPr dirty="0" sz="10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daily 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clock-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in,</a:t>
            </a:r>
            <a:r>
              <a:rPr dirty="0" sz="1000" spc="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breaks,</a:t>
            </a:r>
            <a:r>
              <a:rPr dirty="0" sz="1000" spc="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20">
                <a:solidFill>
                  <a:srgbClr val="D3DCE4"/>
                </a:solidFill>
                <a:latin typeface="Montserrat"/>
                <a:cs typeface="Montserrat"/>
              </a:rPr>
              <a:t>clock-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out,</a:t>
            </a:r>
            <a:r>
              <a:rPr dirty="0" sz="1000" spc="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25">
                <a:solidFill>
                  <a:srgbClr val="D3DCE4"/>
                </a:solidFill>
                <a:latin typeface="Montserrat"/>
                <a:cs typeface="Montserrat"/>
              </a:rPr>
              <a:t>and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absences. Reports and charts </a:t>
            </a:r>
            <a:r>
              <a:rPr dirty="0" sz="1000" spc="-25">
                <a:solidFill>
                  <a:srgbClr val="D3DCE4"/>
                </a:solidFill>
                <a:latin typeface="Montserrat"/>
                <a:cs typeface="Montserrat"/>
              </a:rPr>
              <a:t>on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data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such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as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Scheduled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25">
                <a:solidFill>
                  <a:srgbClr val="D3DCE4"/>
                </a:solidFill>
                <a:latin typeface="Montserrat"/>
                <a:cs typeface="Montserrat"/>
              </a:rPr>
              <a:t>vs.</a:t>
            </a:r>
            <a:endParaRPr sz="1000">
              <a:latin typeface="Montserrat"/>
              <a:cs typeface="Montserrat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sz="1000">
                <a:solidFill>
                  <a:srgbClr val="D3DCE4"/>
                </a:solidFill>
                <a:latin typeface="Montserrat"/>
                <a:cs typeface="Montserrat"/>
              </a:rPr>
              <a:t>Completed</a:t>
            </a:r>
            <a:r>
              <a:rPr dirty="0" sz="1000" spc="-5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000" spc="-10">
                <a:solidFill>
                  <a:srgbClr val="D3DCE4"/>
                </a:solidFill>
                <a:latin typeface="Montserrat"/>
                <a:cs typeface="Montserrat"/>
              </a:rPr>
              <a:t>tasks.</a:t>
            </a:r>
            <a:endParaRPr sz="1000">
              <a:latin typeface="Montserrat"/>
              <a:cs typeface="Montserrat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2332047" y="3778103"/>
            <a:ext cx="39243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solidFill>
                  <a:srgbClr val="131A2E"/>
                </a:solidFill>
                <a:latin typeface="Montserrat"/>
                <a:cs typeface="Montserrat"/>
              </a:rPr>
              <a:t>Password</a:t>
            </a:r>
            <a:endParaRPr sz="600">
              <a:latin typeface="Montserrat"/>
              <a:cs typeface="Montserrat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2393047" y="3388298"/>
            <a:ext cx="27114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solidFill>
                  <a:srgbClr val="131A2E"/>
                </a:solidFill>
                <a:latin typeface="Montserrat"/>
                <a:cs typeface="Montserrat"/>
              </a:rPr>
              <a:t>E-</a:t>
            </a:r>
            <a:r>
              <a:rPr dirty="0" sz="600" spc="-20">
                <a:solidFill>
                  <a:srgbClr val="131A2E"/>
                </a:solidFill>
                <a:latin typeface="Montserrat"/>
                <a:cs typeface="Montserrat"/>
              </a:rPr>
              <a:t>mail</a:t>
            </a:r>
            <a:endParaRPr sz="600">
              <a:latin typeface="Montserrat"/>
              <a:cs typeface="Montserrat"/>
            </a:endParaRPr>
          </a:p>
        </p:txBody>
      </p:sp>
      <p:sp>
        <p:nvSpPr>
          <p:cNvPr id="32" name="object 32" descr=""/>
          <p:cNvSpPr/>
          <p:nvPr/>
        </p:nvSpPr>
        <p:spPr>
          <a:xfrm>
            <a:off x="1687794" y="4147142"/>
            <a:ext cx="1681480" cy="403225"/>
          </a:xfrm>
          <a:custGeom>
            <a:avLst/>
            <a:gdLst/>
            <a:ahLst/>
            <a:cxnLst/>
            <a:rect l="l" t="t" r="r" b="b"/>
            <a:pathLst>
              <a:path w="1681479" h="403225">
                <a:moveTo>
                  <a:pt x="1613698" y="403199"/>
                </a:moveTo>
                <a:lnTo>
                  <a:pt x="67201" y="403199"/>
                </a:lnTo>
                <a:lnTo>
                  <a:pt x="54029" y="401896"/>
                </a:lnTo>
                <a:lnTo>
                  <a:pt x="19682" y="383516"/>
                </a:lnTo>
                <a:lnTo>
                  <a:pt x="1303" y="349170"/>
                </a:lnTo>
                <a:lnTo>
                  <a:pt x="0" y="335998"/>
                </a:lnTo>
                <a:lnTo>
                  <a:pt x="0" y="84268"/>
                </a:lnTo>
                <a:lnTo>
                  <a:pt x="6622" y="51467"/>
                </a:lnTo>
                <a:lnTo>
                  <a:pt x="24681" y="24681"/>
                </a:lnTo>
                <a:lnTo>
                  <a:pt x="51467" y="6622"/>
                </a:lnTo>
                <a:lnTo>
                  <a:pt x="84268" y="0"/>
                </a:lnTo>
                <a:lnTo>
                  <a:pt x="1596631" y="0"/>
                </a:lnTo>
                <a:lnTo>
                  <a:pt x="1629432" y="6622"/>
                </a:lnTo>
                <a:lnTo>
                  <a:pt x="1656218" y="24681"/>
                </a:lnTo>
                <a:lnTo>
                  <a:pt x="1674277" y="51467"/>
                </a:lnTo>
                <a:lnTo>
                  <a:pt x="1680900" y="84268"/>
                </a:lnTo>
                <a:lnTo>
                  <a:pt x="1680900" y="335998"/>
                </a:lnTo>
                <a:lnTo>
                  <a:pt x="1675708" y="361715"/>
                </a:lnTo>
                <a:lnTo>
                  <a:pt x="1675619" y="362156"/>
                </a:lnTo>
                <a:lnTo>
                  <a:pt x="1661217" y="383516"/>
                </a:lnTo>
                <a:lnTo>
                  <a:pt x="1639856" y="397918"/>
                </a:lnTo>
                <a:lnTo>
                  <a:pt x="1613698" y="403199"/>
                </a:lnTo>
                <a:close/>
              </a:path>
            </a:pathLst>
          </a:custGeom>
          <a:solidFill>
            <a:srgbClr val="131A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 txBox="1"/>
          <p:nvPr/>
        </p:nvSpPr>
        <p:spPr>
          <a:xfrm>
            <a:off x="2407401" y="4287358"/>
            <a:ext cx="24193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solidFill>
                  <a:srgbClr val="FFFFFF"/>
                </a:solidFill>
                <a:latin typeface="Montserrat"/>
                <a:cs typeface="Montserrat"/>
              </a:rPr>
              <a:t>Login</a:t>
            </a:r>
            <a:endParaRPr sz="600">
              <a:latin typeface="Montserrat"/>
              <a:cs typeface="Montserrat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3900" rIns="0" bIns="0" rtlCol="0" vert="horz">
            <a:spAutoFit/>
          </a:bodyPr>
          <a:lstStyle/>
          <a:p>
            <a:pPr marL="3622675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dirty="0" spc="-60"/>
              <a:t> </a:t>
            </a:r>
            <a:r>
              <a:rPr dirty="0"/>
              <a:t>NICEHR</a:t>
            </a:r>
            <a:r>
              <a:rPr dirty="0" spc="-60"/>
              <a:t> </a:t>
            </a:r>
            <a:r>
              <a:rPr dirty="0" spc="-10"/>
              <a:t>Platform</a:t>
            </a:r>
          </a:p>
        </p:txBody>
      </p:sp>
      <p:sp>
        <p:nvSpPr>
          <p:cNvPr id="35" name="object 35" descr=""/>
          <p:cNvSpPr/>
          <p:nvPr/>
        </p:nvSpPr>
        <p:spPr>
          <a:xfrm>
            <a:off x="1016549" y="1236200"/>
            <a:ext cx="10159365" cy="9525"/>
          </a:xfrm>
          <a:custGeom>
            <a:avLst/>
            <a:gdLst/>
            <a:ahLst/>
            <a:cxnLst/>
            <a:rect l="l" t="t" r="r" b="b"/>
            <a:pathLst>
              <a:path w="10159365" h="9525">
                <a:moveTo>
                  <a:pt x="10158899" y="8999"/>
                </a:moveTo>
                <a:lnTo>
                  <a:pt x="0" y="8999"/>
                </a:lnTo>
                <a:lnTo>
                  <a:pt x="0" y="0"/>
                </a:lnTo>
                <a:lnTo>
                  <a:pt x="10158899" y="0"/>
                </a:lnTo>
                <a:lnTo>
                  <a:pt x="10158899" y="8999"/>
                </a:lnTo>
                <a:close/>
              </a:path>
            </a:pathLst>
          </a:custGeom>
          <a:solidFill>
            <a:srgbClr val="5EB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 spc="-25"/>
              <a:t>13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12699"/>
            <a:ext cx="12190095" cy="6845300"/>
            <a:chOff x="0" y="12699"/>
            <a:chExt cx="12190095" cy="6845300"/>
          </a:xfrm>
        </p:grpSpPr>
        <p:sp>
          <p:nvSpPr>
            <p:cNvPr id="3" name="object 3" descr=""/>
            <p:cNvSpPr/>
            <p:nvPr/>
          </p:nvSpPr>
          <p:spPr>
            <a:xfrm>
              <a:off x="1016549" y="6341600"/>
              <a:ext cx="10159365" cy="9525"/>
            </a:xfrm>
            <a:custGeom>
              <a:avLst/>
              <a:gdLst/>
              <a:ahLst/>
              <a:cxnLst/>
              <a:rect l="l" t="t" r="r" b="b"/>
              <a:pathLst>
                <a:path w="10159365" h="9525">
                  <a:moveTo>
                    <a:pt x="10158899" y="8999"/>
                  </a:moveTo>
                  <a:lnTo>
                    <a:pt x="0" y="8999"/>
                  </a:lnTo>
                  <a:lnTo>
                    <a:pt x="0" y="0"/>
                  </a:lnTo>
                  <a:lnTo>
                    <a:pt x="10158899" y="0"/>
                  </a:lnTo>
                  <a:lnTo>
                    <a:pt x="10158899" y="8999"/>
                  </a:lnTo>
                  <a:close/>
                </a:path>
              </a:pathLst>
            </a:custGeom>
            <a:solidFill>
              <a:srgbClr val="5EBEB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0325"/>
              <a:ext cx="12189924" cy="6837674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2199" y="12699"/>
              <a:ext cx="6787499" cy="6845300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21880" y="347201"/>
              <a:ext cx="1748238" cy="36929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83092" y="4061233"/>
              <a:ext cx="988525" cy="698900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81599" y="4043324"/>
              <a:ext cx="874224" cy="584599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30180" y="2607883"/>
              <a:ext cx="988524" cy="699525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28687" y="2589975"/>
              <a:ext cx="874223" cy="585224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8491" rIns="0" bIns="0" rtlCol="0" vert="horz">
            <a:spAutoFit/>
          </a:bodyPr>
          <a:lstStyle/>
          <a:p>
            <a:pPr marL="3727450">
              <a:lnSpc>
                <a:spcPct val="100000"/>
              </a:lnSpc>
              <a:spcBef>
                <a:spcPts val="100"/>
              </a:spcBef>
            </a:pPr>
            <a:r>
              <a:rPr dirty="0"/>
              <a:t>Countries</a:t>
            </a:r>
            <a:r>
              <a:rPr dirty="0" spc="-50"/>
              <a:t> </a:t>
            </a:r>
            <a:r>
              <a:rPr dirty="0"/>
              <a:t>of</a:t>
            </a:r>
            <a:r>
              <a:rPr dirty="0" spc="-45"/>
              <a:t> </a:t>
            </a:r>
            <a:r>
              <a:rPr dirty="0" spc="-10"/>
              <a:t>service</a:t>
            </a:r>
          </a:p>
        </p:txBody>
      </p:sp>
      <p:sp>
        <p:nvSpPr>
          <p:cNvPr id="12" name="object 12" descr=""/>
          <p:cNvSpPr/>
          <p:nvPr/>
        </p:nvSpPr>
        <p:spPr>
          <a:xfrm>
            <a:off x="1016549" y="1257300"/>
            <a:ext cx="10159365" cy="9525"/>
          </a:xfrm>
          <a:custGeom>
            <a:avLst/>
            <a:gdLst/>
            <a:ahLst/>
            <a:cxnLst/>
            <a:rect l="l" t="t" r="r" b="b"/>
            <a:pathLst>
              <a:path w="10159365" h="9525">
                <a:moveTo>
                  <a:pt x="10158899" y="8999"/>
                </a:moveTo>
                <a:lnTo>
                  <a:pt x="0" y="8999"/>
                </a:lnTo>
                <a:lnTo>
                  <a:pt x="0" y="0"/>
                </a:lnTo>
                <a:lnTo>
                  <a:pt x="10158899" y="0"/>
                </a:lnTo>
                <a:lnTo>
                  <a:pt x="10158899" y="8999"/>
                </a:lnTo>
                <a:close/>
              </a:path>
            </a:pathLst>
          </a:custGeom>
          <a:solidFill>
            <a:srgbClr val="5EB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8598287" y="2831427"/>
            <a:ext cx="2296795" cy="19532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FFFFFF"/>
                </a:solidFill>
                <a:latin typeface="Montserrat"/>
                <a:cs typeface="Montserrat"/>
              </a:rPr>
              <a:t>Lorem</a:t>
            </a:r>
            <a:r>
              <a:rPr dirty="0" sz="1100" spc="-3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100" b="1">
                <a:solidFill>
                  <a:srgbClr val="FFFFFF"/>
                </a:solidFill>
                <a:latin typeface="Montserrat"/>
                <a:cs typeface="Montserrat"/>
              </a:rPr>
              <a:t>Ipsum</a:t>
            </a:r>
            <a:r>
              <a:rPr dirty="0" sz="1100" spc="-3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100" spc="-10" b="1">
                <a:solidFill>
                  <a:srgbClr val="FFFFFF"/>
                </a:solidFill>
                <a:latin typeface="Montserrat"/>
                <a:cs typeface="Montserrat"/>
              </a:rPr>
              <a:t>Title</a:t>
            </a:r>
            <a:endParaRPr sz="1100">
              <a:latin typeface="Montserrat"/>
              <a:cs typeface="Montserrat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100">
              <a:latin typeface="Montserrat"/>
              <a:cs typeface="Montserrat"/>
            </a:endParaRPr>
          </a:p>
          <a:p>
            <a:pPr marL="12700" marR="5080">
              <a:lnSpc>
                <a:spcPct val="150000"/>
              </a:lnSpc>
              <a:spcBef>
                <a:spcPts val="5"/>
              </a:spcBef>
            </a:pPr>
            <a:r>
              <a:rPr dirty="0" sz="1100">
                <a:solidFill>
                  <a:srgbClr val="FFFFFF"/>
                </a:solidFill>
                <a:latin typeface="Montserrat"/>
                <a:cs typeface="Montserrat"/>
              </a:rPr>
              <a:t>Lorem</a:t>
            </a:r>
            <a:r>
              <a:rPr dirty="0" sz="1100" spc="-3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100">
                <a:solidFill>
                  <a:srgbClr val="FFFFFF"/>
                </a:solidFill>
                <a:latin typeface="Montserrat"/>
                <a:cs typeface="Montserrat"/>
              </a:rPr>
              <a:t>ipsum</a:t>
            </a:r>
            <a:r>
              <a:rPr dirty="0" sz="1100" spc="-2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100">
                <a:solidFill>
                  <a:srgbClr val="FFFFFF"/>
                </a:solidFill>
                <a:latin typeface="Montserrat"/>
                <a:cs typeface="Montserrat"/>
              </a:rPr>
              <a:t>dolor</a:t>
            </a:r>
            <a:r>
              <a:rPr dirty="0" sz="1100" spc="-3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100">
                <a:solidFill>
                  <a:srgbClr val="FFFFFF"/>
                </a:solidFill>
                <a:latin typeface="Montserrat"/>
                <a:cs typeface="Montserrat"/>
              </a:rPr>
              <a:t>sit</a:t>
            </a:r>
            <a:r>
              <a:rPr dirty="0" sz="1100" spc="-2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Montserrat"/>
                <a:cs typeface="Montserrat"/>
              </a:rPr>
              <a:t>amet, consectetur</a:t>
            </a:r>
            <a:r>
              <a:rPr dirty="0" sz="1100" spc="-2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100">
                <a:solidFill>
                  <a:srgbClr val="FFFFFF"/>
                </a:solidFill>
                <a:latin typeface="Montserrat"/>
                <a:cs typeface="Montserrat"/>
              </a:rPr>
              <a:t>adipiscing</a:t>
            </a:r>
            <a:r>
              <a:rPr dirty="0" sz="1100" spc="-1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100">
                <a:solidFill>
                  <a:srgbClr val="FFFFFF"/>
                </a:solidFill>
                <a:latin typeface="Montserrat"/>
                <a:cs typeface="Montserrat"/>
              </a:rPr>
              <a:t>elit.</a:t>
            </a:r>
            <a:r>
              <a:rPr dirty="0" sz="1100" spc="-1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100" spc="-25">
                <a:solidFill>
                  <a:srgbClr val="FFFFFF"/>
                </a:solidFill>
                <a:latin typeface="Montserrat"/>
                <a:cs typeface="Montserrat"/>
              </a:rPr>
              <a:t>Sed </a:t>
            </a:r>
            <a:r>
              <a:rPr dirty="0" sz="1100" spc="-10">
                <a:solidFill>
                  <a:srgbClr val="FFFFFF"/>
                </a:solidFill>
                <a:latin typeface="Montserrat"/>
                <a:cs typeface="Montserrat"/>
              </a:rPr>
              <a:t>viverra</a:t>
            </a:r>
            <a:r>
              <a:rPr dirty="0" sz="1100" spc="-3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100">
                <a:solidFill>
                  <a:srgbClr val="FFFFFF"/>
                </a:solidFill>
                <a:latin typeface="Montserrat"/>
                <a:cs typeface="Montserrat"/>
              </a:rPr>
              <a:t>luctus</a:t>
            </a:r>
            <a:r>
              <a:rPr dirty="0" sz="1100" spc="-2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100">
                <a:solidFill>
                  <a:srgbClr val="FFFFFF"/>
                </a:solidFill>
                <a:latin typeface="Montserrat"/>
                <a:cs typeface="Montserrat"/>
              </a:rPr>
              <a:t>est</a:t>
            </a:r>
            <a:r>
              <a:rPr dirty="0" sz="1100" spc="-3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100">
                <a:solidFill>
                  <a:srgbClr val="FFFFFF"/>
                </a:solidFill>
                <a:latin typeface="Montserrat"/>
                <a:cs typeface="Montserrat"/>
              </a:rPr>
              <a:t>vitae</a:t>
            </a:r>
            <a:r>
              <a:rPr dirty="0" sz="1100" spc="-2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Montserrat"/>
                <a:cs typeface="Montserrat"/>
              </a:rPr>
              <a:t>pulvinar. </a:t>
            </a:r>
            <a:r>
              <a:rPr dirty="0" sz="1100">
                <a:solidFill>
                  <a:srgbClr val="FFFFFF"/>
                </a:solidFill>
                <a:latin typeface="Montserrat"/>
                <a:cs typeface="Montserrat"/>
              </a:rPr>
              <a:t>Cras</a:t>
            </a:r>
            <a:r>
              <a:rPr dirty="0" sz="1100" spc="-3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100">
                <a:solidFill>
                  <a:srgbClr val="FFFFFF"/>
                </a:solidFill>
                <a:latin typeface="Montserrat"/>
                <a:cs typeface="Montserrat"/>
              </a:rPr>
              <a:t>suscipit</a:t>
            </a:r>
            <a:r>
              <a:rPr dirty="0" sz="1100" spc="-3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100">
                <a:solidFill>
                  <a:srgbClr val="FFFFFF"/>
                </a:solidFill>
                <a:latin typeface="Montserrat"/>
                <a:cs typeface="Montserrat"/>
              </a:rPr>
              <a:t>nisi</a:t>
            </a:r>
            <a:r>
              <a:rPr dirty="0" sz="1100" spc="-3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100">
                <a:solidFill>
                  <a:srgbClr val="FFFFFF"/>
                </a:solidFill>
                <a:latin typeface="Montserrat"/>
                <a:cs typeface="Montserrat"/>
              </a:rPr>
              <a:t>a</a:t>
            </a:r>
            <a:r>
              <a:rPr dirty="0" sz="1100" spc="-3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100">
                <a:solidFill>
                  <a:srgbClr val="FFFFFF"/>
                </a:solidFill>
                <a:latin typeface="Montserrat"/>
                <a:cs typeface="Montserrat"/>
              </a:rPr>
              <a:t>eros</a:t>
            </a:r>
            <a:r>
              <a:rPr dirty="0" sz="1100" spc="-3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Montserrat"/>
                <a:cs typeface="Montserrat"/>
              </a:rPr>
              <a:t>tristique, </a:t>
            </a:r>
            <a:r>
              <a:rPr dirty="0" sz="1100">
                <a:solidFill>
                  <a:srgbClr val="FFFFFF"/>
                </a:solidFill>
                <a:latin typeface="Montserrat"/>
                <a:cs typeface="Montserrat"/>
              </a:rPr>
              <a:t>eu</a:t>
            </a:r>
            <a:r>
              <a:rPr dirty="0" sz="1100" spc="-2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100">
                <a:solidFill>
                  <a:srgbClr val="FFFFFF"/>
                </a:solidFill>
                <a:latin typeface="Montserrat"/>
                <a:cs typeface="Montserrat"/>
              </a:rPr>
              <a:t>fermentum</a:t>
            </a:r>
            <a:r>
              <a:rPr dirty="0" sz="1100" spc="-1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100">
                <a:solidFill>
                  <a:srgbClr val="FFFFFF"/>
                </a:solidFill>
                <a:latin typeface="Montserrat"/>
                <a:cs typeface="Montserrat"/>
              </a:rPr>
              <a:t>odio</a:t>
            </a:r>
            <a:r>
              <a:rPr dirty="0" sz="1100" spc="-1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Montserrat"/>
                <a:cs typeface="Montserrat"/>
              </a:rPr>
              <a:t>consectetur. </a:t>
            </a:r>
            <a:r>
              <a:rPr dirty="0" sz="1100">
                <a:solidFill>
                  <a:srgbClr val="FFFFFF"/>
                </a:solidFill>
                <a:latin typeface="Montserrat"/>
                <a:cs typeface="Montserrat"/>
              </a:rPr>
              <a:t>Quisque</a:t>
            </a:r>
            <a:r>
              <a:rPr dirty="0" sz="1100" spc="-3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100">
                <a:solidFill>
                  <a:srgbClr val="FFFFFF"/>
                </a:solidFill>
                <a:latin typeface="Montserrat"/>
                <a:cs typeface="Montserrat"/>
              </a:rPr>
              <a:t>dignissim</a:t>
            </a:r>
            <a:r>
              <a:rPr dirty="0" sz="1100" spc="-3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100">
                <a:solidFill>
                  <a:srgbClr val="FFFFFF"/>
                </a:solidFill>
                <a:latin typeface="Montserrat"/>
                <a:cs typeface="Montserrat"/>
              </a:rPr>
              <a:t>purus</a:t>
            </a:r>
            <a:r>
              <a:rPr dirty="0" sz="1100" spc="-3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100" spc="-25">
                <a:solidFill>
                  <a:srgbClr val="FFFFFF"/>
                </a:solidFill>
                <a:latin typeface="Montserrat"/>
                <a:cs typeface="Montserrat"/>
              </a:rPr>
              <a:t>et.</a:t>
            </a:r>
            <a:endParaRPr sz="1100">
              <a:latin typeface="Montserrat"/>
              <a:cs typeface="Montserrat"/>
            </a:endParaRPr>
          </a:p>
        </p:txBody>
      </p:sp>
      <p:sp>
        <p:nvSpPr>
          <p:cNvPr id="14" name="object 1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 spc="-25"/>
              <a:t>13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650" y="2518323"/>
            <a:ext cx="1219875" cy="439192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29310" y="5399816"/>
            <a:ext cx="1907463" cy="497601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4118" y="1768329"/>
            <a:ext cx="1528496" cy="457052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50120" y="4329372"/>
            <a:ext cx="1199814" cy="57822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341369" y="2615724"/>
            <a:ext cx="1495614" cy="342201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790040" y="5409374"/>
            <a:ext cx="784715" cy="401078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494382" y="1783377"/>
            <a:ext cx="1208778" cy="410321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604394" y="3463429"/>
            <a:ext cx="1302108" cy="410166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697515" y="5434295"/>
            <a:ext cx="1115864" cy="407910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695527" y="6515236"/>
            <a:ext cx="800945" cy="169199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757800" y="1875308"/>
            <a:ext cx="1009056" cy="238505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415583" y="4489437"/>
            <a:ext cx="1360835" cy="373259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359980" y="3428177"/>
            <a:ext cx="1468294" cy="480667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9483168" y="2568901"/>
            <a:ext cx="1385381" cy="397144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9611428" y="3472841"/>
            <a:ext cx="1128862" cy="391341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9546473" y="4386507"/>
            <a:ext cx="1292791" cy="425263"/>
          </a:xfrm>
          <a:prstGeom prst="rect">
            <a:avLst/>
          </a:prstGeom>
        </p:spPr>
      </p:pic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7606" rIns="0" bIns="0" rtlCol="0" vert="horz">
            <a:spAutoFit/>
          </a:bodyPr>
          <a:lstStyle/>
          <a:p>
            <a:pPr marL="463169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Clients</a:t>
            </a:r>
          </a:p>
        </p:txBody>
      </p:sp>
      <p:sp>
        <p:nvSpPr>
          <p:cNvPr id="19" name="object 19" descr=""/>
          <p:cNvSpPr/>
          <p:nvPr/>
        </p:nvSpPr>
        <p:spPr>
          <a:xfrm>
            <a:off x="1016549" y="1257300"/>
            <a:ext cx="10159365" cy="9525"/>
          </a:xfrm>
          <a:custGeom>
            <a:avLst/>
            <a:gdLst/>
            <a:ahLst/>
            <a:cxnLst/>
            <a:rect l="l" t="t" r="r" b="b"/>
            <a:pathLst>
              <a:path w="10159365" h="9525">
                <a:moveTo>
                  <a:pt x="10158899" y="8999"/>
                </a:moveTo>
                <a:lnTo>
                  <a:pt x="0" y="8999"/>
                </a:lnTo>
                <a:lnTo>
                  <a:pt x="0" y="0"/>
                </a:lnTo>
                <a:lnTo>
                  <a:pt x="10158899" y="0"/>
                </a:lnTo>
                <a:lnTo>
                  <a:pt x="10158899" y="8999"/>
                </a:lnTo>
                <a:close/>
              </a:path>
            </a:pathLst>
          </a:custGeom>
          <a:solidFill>
            <a:srgbClr val="5EB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 spc="-25"/>
              <a:t>13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8106" rIns="0" bIns="0" rtlCol="0" vert="horz">
            <a:spAutoFit/>
          </a:bodyPr>
          <a:lstStyle/>
          <a:p>
            <a:pPr marL="433451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Experience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95527" y="6515236"/>
            <a:ext cx="800945" cy="169199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1016549" y="1257300"/>
            <a:ext cx="10159365" cy="9525"/>
          </a:xfrm>
          <a:custGeom>
            <a:avLst/>
            <a:gdLst/>
            <a:ahLst/>
            <a:cxnLst/>
            <a:rect l="l" t="t" r="r" b="b"/>
            <a:pathLst>
              <a:path w="10159365" h="9525">
                <a:moveTo>
                  <a:pt x="10158899" y="8999"/>
                </a:moveTo>
                <a:lnTo>
                  <a:pt x="0" y="8999"/>
                </a:lnTo>
                <a:lnTo>
                  <a:pt x="0" y="0"/>
                </a:lnTo>
                <a:lnTo>
                  <a:pt x="10158899" y="0"/>
                </a:lnTo>
                <a:lnTo>
                  <a:pt x="10158899" y="8999"/>
                </a:lnTo>
                <a:close/>
              </a:path>
            </a:pathLst>
          </a:custGeom>
          <a:solidFill>
            <a:srgbClr val="5EBEB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58935" y="1814650"/>
            <a:ext cx="1108130" cy="39757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15952" y="2980986"/>
            <a:ext cx="1391870" cy="18941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12676" y="4093124"/>
            <a:ext cx="1753170" cy="27850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024617" y="1763350"/>
            <a:ext cx="2142765" cy="347774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541937" y="4041201"/>
            <a:ext cx="1108124" cy="425972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599815" y="1698148"/>
            <a:ext cx="1796121" cy="630575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599815" y="2976705"/>
            <a:ext cx="1796121" cy="196896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599815" y="4055388"/>
            <a:ext cx="1796121" cy="397591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541937" y="5227243"/>
            <a:ext cx="1108124" cy="511885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183592" y="5270199"/>
            <a:ext cx="1058840" cy="425974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345035" y="2901263"/>
            <a:ext cx="1508849" cy="347774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719224" y="5269317"/>
            <a:ext cx="1557299" cy="465114"/>
          </a:xfrm>
          <a:prstGeom prst="rect">
            <a:avLst/>
          </a:prstGeom>
        </p:spPr>
      </p:pic>
      <p:sp>
        <p:nvSpPr>
          <p:cNvPr id="17" name="object 1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 spc="-25"/>
              <a:t>13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016549" y="6341600"/>
            <a:ext cx="10159365" cy="9525"/>
          </a:xfrm>
          <a:custGeom>
            <a:avLst/>
            <a:gdLst/>
            <a:ahLst/>
            <a:cxnLst/>
            <a:rect l="l" t="t" r="r" b="b"/>
            <a:pathLst>
              <a:path w="10159365" h="9525">
                <a:moveTo>
                  <a:pt x="10158899" y="8999"/>
                </a:moveTo>
                <a:lnTo>
                  <a:pt x="0" y="8999"/>
                </a:lnTo>
                <a:lnTo>
                  <a:pt x="0" y="0"/>
                </a:lnTo>
                <a:lnTo>
                  <a:pt x="10158899" y="0"/>
                </a:lnTo>
                <a:lnTo>
                  <a:pt x="10158899" y="8999"/>
                </a:lnTo>
                <a:close/>
              </a:path>
            </a:pathLst>
          </a:custGeom>
          <a:solidFill>
            <a:srgbClr val="5EB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94560" y="2161147"/>
            <a:ext cx="1178560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95">
                <a:latin typeface="Arial"/>
                <a:cs typeface="Arial"/>
              </a:rPr>
              <a:t>Ranking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1094550" y="3495009"/>
            <a:ext cx="2720340" cy="10071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400">
                <a:solidFill>
                  <a:srgbClr val="131A2E"/>
                </a:solidFill>
                <a:latin typeface="Montserrat"/>
                <a:cs typeface="Montserrat"/>
              </a:rPr>
              <a:t>The</a:t>
            </a:r>
            <a:r>
              <a:rPr dirty="0" sz="1400" spc="-40">
                <a:solidFill>
                  <a:srgbClr val="131A2E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131A2E"/>
                </a:solidFill>
                <a:latin typeface="Montserrat"/>
                <a:cs typeface="Montserrat"/>
              </a:rPr>
              <a:t>NICEHR</a:t>
            </a:r>
            <a:r>
              <a:rPr dirty="0" sz="1400" spc="-35">
                <a:solidFill>
                  <a:srgbClr val="131A2E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131A2E"/>
                </a:solidFill>
                <a:latin typeface="Montserrat"/>
                <a:cs typeface="Montserrat"/>
              </a:rPr>
              <a:t>group</a:t>
            </a:r>
            <a:r>
              <a:rPr dirty="0" sz="1400" spc="-35">
                <a:solidFill>
                  <a:srgbClr val="131A2E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131A2E"/>
                </a:solidFill>
                <a:latin typeface="Montserrat"/>
                <a:cs typeface="Montserrat"/>
              </a:rPr>
              <a:t>has</a:t>
            </a:r>
            <a:r>
              <a:rPr dirty="0" sz="1400" spc="-35">
                <a:solidFill>
                  <a:srgbClr val="131A2E"/>
                </a:solidFill>
                <a:latin typeface="Montserrat"/>
                <a:cs typeface="Montserrat"/>
              </a:rPr>
              <a:t> </a:t>
            </a:r>
            <a:r>
              <a:rPr dirty="0" sz="1400" spc="-20">
                <a:solidFill>
                  <a:srgbClr val="131A2E"/>
                </a:solidFill>
                <a:latin typeface="Montserrat"/>
                <a:cs typeface="Montserrat"/>
              </a:rPr>
              <a:t>been </a:t>
            </a:r>
            <a:r>
              <a:rPr dirty="0" sz="1400">
                <a:solidFill>
                  <a:srgbClr val="131A2E"/>
                </a:solidFill>
                <a:latin typeface="Montserrat"/>
                <a:cs typeface="Montserrat"/>
              </a:rPr>
              <a:t>instrumental</a:t>
            </a:r>
            <a:r>
              <a:rPr dirty="0" sz="1400" spc="-10">
                <a:solidFill>
                  <a:srgbClr val="131A2E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131A2E"/>
                </a:solidFill>
                <a:latin typeface="Montserrat"/>
                <a:cs typeface="Montserrat"/>
              </a:rPr>
              <a:t>in</a:t>
            </a:r>
            <a:r>
              <a:rPr dirty="0" sz="1400" spc="-5">
                <a:solidFill>
                  <a:srgbClr val="131A2E"/>
                </a:solidFill>
                <a:latin typeface="Montserrat"/>
                <a:cs typeface="Montserrat"/>
              </a:rPr>
              <a:t> </a:t>
            </a:r>
            <a:r>
              <a:rPr dirty="0" sz="1400" spc="-10">
                <a:solidFill>
                  <a:srgbClr val="131A2E"/>
                </a:solidFill>
                <a:latin typeface="Montserrat"/>
                <a:cs typeface="Montserrat"/>
              </a:rPr>
              <a:t>supporting </a:t>
            </a:r>
            <a:r>
              <a:rPr dirty="0" sz="1400">
                <a:solidFill>
                  <a:srgbClr val="131A2E"/>
                </a:solidFill>
                <a:latin typeface="Montserrat"/>
                <a:cs typeface="Montserrat"/>
              </a:rPr>
              <a:t>companies</a:t>
            </a:r>
            <a:r>
              <a:rPr dirty="0" sz="1400" spc="-45">
                <a:solidFill>
                  <a:srgbClr val="131A2E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131A2E"/>
                </a:solidFill>
                <a:latin typeface="Montserrat"/>
                <a:cs typeface="Montserrat"/>
              </a:rPr>
              <a:t>who</a:t>
            </a:r>
            <a:r>
              <a:rPr dirty="0" sz="1400" spc="-40">
                <a:solidFill>
                  <a:srgbClr val="131A2E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131A2E"/>
                </a:solidFill>
                <a:latin typeface="Montserrat"/>
                <a:cs typeface="Montserrat"/>
              </a:rPr>
              <a:t>are</a:t>
            </a:r>
            <a:r>
              <a:rPr dirty="0" sz="1400" spc="-40">
                <a:solidFill>
                  <a:srgbClr val="131A2E"/>
                </a:solidFill>
                <a:latin typeface="Montserrat"/>
                <a:cs typeface="Montserrat"/>
              </a:rPr>
              <a:t> </a:t>
            </a:r>
            <a:r>
              <a:rPr dirty="0" sz="1400">
                <a:solidFill>
                  <a:srgbClr val="131A2E"/>
                </a:solidFill>
                <a:latin typeface="Montserrat"/>
                <a:cs typeface="Montserrat"/>
              </a:rPr>
              <a:t>now</a:t>
            </a:r>
            <a:r>
              <a:rPr dirty="0" sz="1400" spc="-40">
                <a:solidFill>
                  <a:srgbClr val="131A2E"/>
                </a:solidFill>
                <a:latin typeface="Montserrat"/>
                <a:cs typeface="Montserrat"/>
              </a:rPr>
              <a:t> </a:t>
            </a:r>
            <a:r>
              <a:rPr dirty="0" sz="1400" spc="-20">
                <a:solidFill>
                  <a:srgbClr val="131A2E"/>
                </a:solidFill>
                <a:latin typeface="Montserrat"/>
                <a:cs typeface="Montserrat"/>
              </a:rPr>
              <a:t>KLAS </a:t>
            </a:r>
            <a:r>
              <a:rPr dirty="0" sz="1400" spc="-10">
                <a:solidFill>
                  <a:srgbClr val="131A2E"/>
                </a:solidFill>
                <a:latin typeface="Montserrat"/>
                <a:cs typeface="Montserrat"/>
              </a:rPr>
              <a:t>ranked.</a:t>
            </a:r>
            <a:endParaRPr sz="1400">
              <a:latin typeface="Montserrat"/>
              <a:cs typeface="Montserrat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95527" y="6515236"/>
            <a:ext cx="800945" cy="16919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1676" y="2860151"/>
            <a:ext cx="249897" cy="239251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67189" y="2860151"/>
            <a:ext cx="249897" cy="239251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38213" y="2860151"/>
            <a:ext cx="249897" cy="239251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02701" y="2860151"/>
            <a:ext cx="249896" cy="239251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73726" y="2860151"/>
            <a:ext cx="249896" cy="239251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68825" y="2387450"/>
            <a:ext cx="3953349" cy="1066799"/>
          </a:xfrm>
          <a:prstGeom prst="rect">
            <a:avLst/>
          </a:prstGeom>
        </p:spPr>
      </p:pic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 spc="-25"/>
              <a:t>13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43524" y="6333075"/>
            <a:ext cx="10297795" cy="525145"/>
          </a:xfrm>
          <a:custGeom>
            <a:avLst/>
            <a:gdLst/>
            <a:ahLst/>
            <a:cxnLst/>
            <a:rect l="l" t="t" r="r" b="b"/>
            <a:pathLst>
              <a:path w="10297795" h="525145">
                <a:moveTo>
                  <a:pt x="10297799" y="524999"/>
                </a:moveTo>
                <a:lnTo>
                  <a:pt x="0" y="524999"/>
                </a:lnTo>
                <a:lnTo>
                  <a:pt x="0" y="0"/>
                </a:lnTo>
                <a:lnTo>
                  <a:pt x="10297799" y="0"/>
                </a:lnTo>
                <a:lnTo>
                  <a:pt x="10297799" y="524999"/>
                </a:lnTo>
                <a:close/>
              </a:path>
            </a:pathLst>
          </a:custGeom>
          <a:solidFill>
            <a:srgbClr val="121A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3906" rIns="0" bIns="0" rtlCol="0" vert="horz">
            <a:spAutoFit/>
          </a:bodyPr>
          <a:lstStyle/>
          <a:p>
            <a:pPr marL="3937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Vetting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996775" y="1430171"/>
            <a:ext cx="9073515" cy="3375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5EBEBB"/>
                </a:solidFill>
                <a:latin typeface="Montserrat"/>
                <a:cs typeface="Montserrat"/>
              </a:rPr>
              <a:t>Invite</a:t>
            </a:r>
            <a:r>
              <a:rPr dirty="0" sz="1300" spc="-70" b="1">
                <a:solidFill>
                  <a:srgbClr val="5EBEBB"/>
                </a:solidFill>
                <a:latin typeface="Montserrat"/>
                <a:cs typeface="Montserrat"/>
              </a:rPr>
              <a:t> </a:t>
            </a:r>
            <a:r>
              <a:rPr dirty="0" sz="1300" spc="-20" b="1">
                <a:solidFill>
                  <a:srgbClr val="5EBEBB"/>
                </a:solidFill>
                <a:latin typeface="Montserrat"/>
                <a:cs typeface="Montserrat"/>
              </a:rPr>
              <a:t>Only</a:t>
            </a:r>
            <a:endParaRPr sz="1300">
              <a:latin typeface="Montserrat"/>
              <a:cs typeface="Montserrat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dirty="0" sz="1200" spc="-20">
                <a:solidFill>
                  <a:srgbClr val="D3DCE4"/>
                </a:solidFill>
                <a:latin typeface="Montserrat"/>
                <a:cs typeface="Montserrat"/>
              </a:rPr>
              <a:t>We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do</a:t>
            </a:r>
            <a:r>
              <a:rPr dirty="0" sz="12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not</a:t>
            </a:r>
            <a:r>
              <a:rPr dirty="0" sz="12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recruit.</a:t>
            </a:r>
            <a:r>
              <a:rPr dirty="0" sz="12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spc="-10">
                <a:solidFill>
                  <a:srgbClr val="D3DCE4"/>
                </a:solidFill>
                <a:latin typeface="Montserrat"/>
                <a:cs typeface="Montserrat"/>
              </a:rPr>
              <a:t>Participation</a:t>
            </a:r>
            <a:r>
              <a:rPr dirty="0" sz="12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in</a:t>
            </a:r>
            <a:r>
              <a:rPr dirty="0" sz="12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the</a:t>
            </a:r>
            <a:r>
              <a:rPr dirty="0" sz="12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NICEHR</a:t>
            </a:r>
            <a:r>
              <a:rPr dirty="0" sz="12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Group</a:t>
            </a:r>
            <a:r>
              <a:rPr dirty="0" sz="12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is</a:t>
            </a:r>
            <a:r>
              <a:rPr dirty="0" sz="12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by</a:t>
            </a:r>
            <a:r>
              <a:rPr dirty="0" sz="12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u="heavy" sz="1200" b="1">
                <a:solidFill>
                  <a:srgbClr val="D3DCE4"/>
                </a:solidFill>
                <a:uFill>
                  <a:solidFill>
                    <a:srgbClr val="D3DCE4"/>
                  </a:solidFill>
                </a:uFill>
                <a:latin typeface="Montserrat"/>
                <a:cs typeface="Montserrat"/>
              </a:rPr>
              <a:t>invite</a:t>
            </a:r>
            <a:r>
              <a:rPr dirty="0" u="heavy" sz="1200" spc="-25" b="1">
                <a:solidFill>
                  <a:srgbClr val="D3DCE4"/>
                </a:solidFill>
                <a:uFill>
                  <a:solidFill>
                    <a:srgbClr val="D3DCE4"/>
                  </a:solidFill>
                </a:uFill>
                <a:latin typeface="Montserrat"/>
                <a:cs typeface="Montserrat"/>
              </a:rPr>
              <a:t> </a:t>
            </a:r>
            <a:r>
              <a:rPr dirty="0" u="heavy" sz="1200" spc="-10" b="1">
                <a:solidFill>
                  <a:srgbClr val="D3DCE4"/>
                </a:solidFill>
                <a:uFill>
                  <a:solidFill>
                    <a:srgbClr val="D3DCE4"/>
                  </a:solidFill>
                </a:uFill>
                <a:latin typeface="Montserrat"/>
                <a:cs typeface="Montserrat"/>
              </a:rPr>
              <a:t>only</a:t>
            </a:r>
            <a:r>
              <a:rPr dirty="0" sz="1200" spc="-10" b="1">
                <a:solidFill>
                  <a:srgbClr val="D3DCE4"/>
                </a:solidFill>
                <a:latin typeface="Montserrat"/>
                <a:cs typeface="Montserrat"/>
              </a:rPr>
              <a:t>.</a:t>
            </a:r>
            <a:endParaRPr sz="1200">
              <a:latin typeface="Montserrat"/>
              <a:cs typeface="Montserrat"/>
            </a:endParaRPr>
          </a:p>
          <a:p>
            <a:pPr>
              <a:lnSpc>
                <a:spcPct val="100000"/>
              </a:lnSpc>
              <a:spcBef>
                <a:spcPts val="840"/>
              </a:spcBef>
            </a:pPr>
            <a:endParaRPr sz="1200">
              <a:latin typeface="Montserrat"/>
              <a:cs typeface="Montserrat"/>
            </a:endParaRPr>
          </a:p>
          <a:p>
            <a:pPr marL="12700">
              <a:lnSpc>
                <a:spcPct val="100000"/>
              </a:lnSpc>
            </a:pPr>
            <a:r>
              <a:rPr dirty="0" sz="1300" b="1">
                <a:solidFill>
                  <a:srgbClr val="5EBEBB"/>
                </a:solidFill>
                <a:latin typeface="Montserrat"/>
                <a:cs typeface="Montserrat"/>
              </a:rPr>
              <a:t>Afﬁliate</a:t>
            </a:r>
            <a:r>
              <a:rPr dirty="0" sz="1300" spc="-45" b="1">
                <a:solidFill>
                  <a:srgbClr val="5EBEBB"/>
                </a:solidFill>
                <a:latin typeface="Montserrat"/>
                <a:cs typeface="Montserrat"/>
              </a:rPr>
              <a:t> </a:t>
            </a:r>
            <a:r>
              <a:rPr dirty="0" sz="1300" b="1">
                <a:solidFill>
                  <a:srgbClr val="5EBEBB"/>
                </a:solidFill>
                <a:latin typeface="Montserrat"/>
                <a:cs typeface="Montserrat"/>
              </a:rPr>
              <a:t>Savant</a:t>
            </a:r>
            <a:r>
              <a:rPr dirty="0" sz="1300" spc="-40" b="1">
                <a:solidFill>
                  <a:srgbClr val="5EBEBB"/>
                </a:solidFill>
                <a:latin typeface="Montserrat"/>
                <a:cs typeface="Montserrat"/>
              </a:rPr>
              <a:t> </a:t>
            </a:r>
            <a:r>
              <a:rPr dirty="0" sz="1300" spc="-10" b="1">
                <a:solidFill>
                  <a:srgbClr val="5EBEBB"/>
                </a:solidFill>
                <a:latin typeface="Montserrat"/>
                <a:cs typeface="Montserrat"/>
              </a:rPr>
              <a:t>Network</a:t>
            </a:r>
            <a:endParaRPr sz="1300">
              <a:latin typeface="Montserrat"/>
              <a:cs typeface="Montserrat"/>
            </a:endParaRPr>
          </a:p>
          <a:p>
            <a:pPr marL="12700" marR="570230">
              <a:lnSpc>
                <a:spcPct val="120000"/>
              </a:lnSpc>
              <a:spcBef>
                <a:spcPts val="715"/>
              </a:spcBef>
            </a:pPr>
            <a:r>
              <a:rPr dirty="0" sz="1200" spc="-20">
                <a:solidFill>
                  <a:srgbClr val="D3DCE4"/>
                </a:solidFill>
                <a:latin typeface="Montserrat"/>
                <a:cs typeface="Montserrat"/>
              </a:rPr>
              <a:t>Afﬁliate</a:t>
            </a:r>
            <a:r>
              <a:rPr dirty="0" sz="1200" spc="-4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savants</a:t>
            </a:r>
            <a:r>
              <a:rPr dirty="0" sz="1200" spc="-4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that</a:t>
            </a:r>
            <a:r>
              <a:rPr dirty="0" sz="1200" spc="-4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participate</a:t>
            </a:r>
            <a:r>
              <a:rPr dirty="0" sz="1200" spc="-4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in</a:t>
            </a:r>
            <a:r>
              <a:rPr dirty="0" sz="1200" spc="-4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the</a:t>
            </a:r>
            <a:r>
              <a:rPr dirty="0" sz="1200" spc="-4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TNG</a:t>
            </a:r>
            <a:r>
              <a:rPr dirty="0" sz="1200" spc="-4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have</a:t>
            </a:r>
            <a:r>
              <a:rPr dirty="0" sz="1200" spc="-4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worked</a:t>
            </a:r>
            <a:r>
              <a:rPr dirty="0" sz="1200" spc="-4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alongside</a:t>
            </a:r>
            <a:r>
              <a:rPr dirty="0" sz="1200" spc="-4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the</a:t>
            </a:r>
            <a:r>
              <a:rPr dirty="0" sz="1200" spc="-4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founding</a:t>
            </a:r>
            <a:r>
              <a:rPr dirty="0" sz="1200" spc="-4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team</a:t>
            </a:r>
            <a:r>
              <a:rPr dirty="0" sz="1200" spc="-4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of</a:t>
            </a:r>
            <a:r>
              <a:rPr dirty="0" sz="1200" spc="-4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seasoned</a:t>
            </a:r>
            <a:r>
              <a:rPr dirty="0" sz="1200" spc="-4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savants</a:t>
            </a:r>
            <a:r>
              <a:rPr dirty="0" sz="1200" spc="-4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for</a:t>
            </a:r>
            <a:r>
              <a:rPr dirty="0" sz="1200" spc="-4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spc="-50">
                <a:solidFill>
                  <a:srgbClr val="D3DCE4"/>
                </a:solidFill>
                <a:latin typeface="Montserrat"/>
                <a:cs typeface="Montserrat"/>
              </a:rPr>
              <a:t>a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minimum</a:t>
            </a:r>
            <a:r>
              <a:rPr dirty="0" sz="1200" spc="-3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3-5</a:t>
            </a:r>
            <a:r>
              <a:rPr dirty="0" sz="1200" spc="-3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spc="-10">
                <a:solidFill>
                  <a:srgbClr val="D3DCE4"/>
                </a:solidFill>
                <a:latin typeface="Montserrat"/>
                <a:cs typeface="Montserrat"/>
              </a:rPr>
              <a:t>projects.</a:t>
            </a:r>
            <a:endParaRPr sz="1200">
              <a:latin typeface="Montserrat"/>
              <a:cs typeface="Montserrat"/>
            </a:endParaRPr>
          </a:p>
          <a:p>
            <a:pPr marL="12700" marR="5080">
              <a:lnSpc>
                <a:spcPct val="120000"/>
              </a:lnSpc>
              <a:spcBef>
                <a:spcPts val="600"/>
              </a:spcBef>
            </a:pP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Through</a:t>
            </a:r>
            <a:r>
              <a:rPr dirty="0" sz="1200" spc="-3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the</a:t>
            </a:r>
            <a:r>
              <a:rPr dirty="0" sz="1200" spc="-2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spc="-10">
                <a:solidFill>
                  <a:srgbClr val="D3DCE4"/>
                </a:solidFill>
                <a:latin typeface="Montserrat"/>
                <a:cs typeface="Montserrat"/>
              </a:rPr>
              <a:t>experience</a:t>
            </a:r>
            <a:r>
              <a:rPr dirty="0" sz="1200" spc="-2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of</a:t>
            </a:r>
            <a:r>
              <a:rPr dirty="0" sz="1200" spc="-2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working</a:t>
            </a:r>
            <a:r>
              <a:rPr dirty="0" sz="1200" spc="-2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side</a:t>
            </a:r>
            <a:r>
              <a:rPr dirty="0" sz="1200" spc="-3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by</a:t>
            </a:r>
            <a:r>
              <a:rPr dirty="0" sz="1200" spc="-2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side</a:t>
            </a:r>
            <a:r>
              <a:rPr dirty="0" sz="1200" spc="-2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we</a:t>
            </a:r>
            <a:r>
              <a:rPr dirty="0" sz="1200" spc="-2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have</a:t>
            </a:r>
            <a:r>
              <a:rPr dirty="0" sz="1200" spc="-2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been</a:t>
            </a:r>
            <a:r>
              <a:rPr dirty="0" sz="1200" spc="-2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able</a:t>
            </a:r>
            <a:r>
              <a:rPr dirty="0" sz="1200" spc="-3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to</a:t>
            </a:r>
            <a:r>
              <a:rPr dirty="0" sz="1200" spc="-2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provide</a:t>
            </a:r>
            <a:r>
              <a:rPr dirty="0" sz="1200" spc="-2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in</a:t>
            </a:r>
            <a:r>
              <a:rPr dirty="0" sz="1200" spc="-2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depth</a:t>
            </a:r>
            <a:r>
              <a:rPr dirty="0" sz="1200" spc="-2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spc="-10">
                <a:solidFill>
                  <a:srgbClr val="D3DCE4"/>
                </a:solidFill>
                <a:latin typeface="Montserrat"/>
                <a:cs typeface="Montserrat"/>
              </a:rPr>
              <a:t>training</a:t>
            </a:r>
            <a:r>
              <a:rPr dirty="0" sz="1200" spc="-3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to</a:t>
            </a:r>
            <a:r>
              <a:rPr dirty="0" sz="1200" spc="-2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build</a:t>
            </a:r>
            <a:r>
              <a:rPr dirty="0" sz="1200" spc="-2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their</a:t>
            </a:r>
            <a:r>
              <a:rPr dirty="0" sz="1200" spc="-2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skill</a:t>
            </a:r>
            <a:r>
              <a:rPr dirty="0" sz="1200" spc="-2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spc="-20">
                <a:solidFill>
                  <a:srgbClr val="D3DCE4"/>
                </a:solidFill>
                <a:latin typeface="Montserrat"/>
                <a:cs typeface="Montserrat"/>
              </a:rPr>
              <a:t>sets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and</a:t>
            </a:r>
            <a:r>
              <a:rPr dirty="0" sz="12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spc="-10">
                <a:solidFill>
                  <a:srgbClr val="D3DCE4"/>
                </a:solidFill>
                <a:latin typeface="Montserrat"/>
                <a:cs typeface="Montserrat"/>
              </a:rPr>
              <a:t>competencies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on</a:t>
            </a:r>
            <a:r>
              <a:rPr dirty="0" sz="12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all</a:t>
            </a:r>
            <a:r>
              <a:rPr dirty="0" sz="12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major</a:t>
            </a:r>
            <a:r>
              <a:rPr dirty="0" sz="12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EHRs</a:t>
            </a:r>
            <a:r>
              <a:rPr dirty="0" sz="1200" spc="-10">
                <a:solidFill>
                  <a:srgbClr val="D3DCE4"/>
                </a:solidFill>
                <a:latin typeface="Montserrat"/>
                <a:cs typeface="Montserrat"/>
              </a:rPr>
              <a:t> creating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the</a:t>
            </a:r>
            <a:r>
              <a:rPr dirty="0" sz="12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best</a:t>
            </a:r>
            <a:r>
              <a:rPr dirty="0" sz="12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of</a:t>
            </a:r>
            <a:r>
              <a:rPr dirty="0" sz="12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the</a:t>
            </a:r>
            <a:r>
              <a:rPr dirty="0" sz="1200" spc="-1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best</a:t>
            </a:r>
            <a:r>
              <a:rPr dirty="0" sz="12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and</a:t>
            </a:r>
            <a:r>
              <a:rPr dirty="0" sz="1200" spc="-10">
                <a:solidFill>
                  <a:srgbClr val="D3DCE4"/>
                </a:solidFill>
                <a:latin typeface="Montserrat"/>
                <a:cs typeface="Montserrat"/>
              </a:rPr>
              <a:t> facilitating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their</a:t>
            </a:r>
            <a:r>
              <a:rPr dirty="0" sz="12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participation</a:t>
            </a:r>
            <a:r>
              <a:rPr dirty="0" sz="12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as</a:t>
            </a:r>
            <a:r>
              <a:rPr dirty="0" sz="12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part</a:t>
            </a:r>
            <a:r>
              <a:rPr dirty="0" sz="12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of</a:t>
            </a:r>
            <a:r>
              <a:rPr dirty="0" sz="1200" spc="-1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this</a:t>
            </a:r>
            <a:r>
              <a:rPr dirty="0" sz="1200" spc="-10">
                <a:solidFill>
                  <a:srgbClr val="D3DCE4"/>
                </a:solidFill>
                <a:latin typeface="Montserrat"/>
                <a:cs typeface="Montserrat"/>
              </a:rPr>
              <a:t> elite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group</a:t>
            </a:r>
            <a:r>
              <a:rPr dirty="0" sz="1200" spc="-3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of</a:t>
            </a:r>
            <a:r>
              <a:rPr dirty="0" sz="1200" spc="-3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spc="-10">
                <a:solidFill>
                  <a:srgbClr val="D3DCE4"/>
                </a:solidFill>
                <a:latin typeface="Montserrat"/>
                <a:cs typeface="Montserrat"/>
              </a:rPr>
              <a:t>savants.</a:t>
            </a:r>
            <a:endParaRPr sz="1200">
              <a:latin typeface="Montserrat"/>
              <a:cs typeface="Montserrat"/>
            </a:endParaRPr>
          </a:p>
          <a:p>
            <a:pPr>
              <a:lnSpc>
                <a:spcPct val="100000"/>
              </a:lnSpc>
              <a:spcBef>
                <a:spcPts val="1435"/>
              </a:spcBef>
            </a:pPr>
            <a:endParaRPr sz="1200">
              <a:latin typeface="Montserrat"/>
              <a:cs typeface="Montserra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300" spc="-10" b="1">
                <a:solidFill>
                  <a:srgbClr val="5EBEBB"/>
                </a:solidFill>
                <a:latin typeface="Montserrat"/>
                <a:cs typeface="Montserrat"/>
              </a:rPr>
              <a:t>Evaluation</a:t>
            </a:r>
            <a:endParaRPr sz="1300">
              <a:latin typeface="Montserrat"/>
              <a:cs typeface="Montserrat"/>
            </a:endParaRPr>
          </a:p>
          <a:p>
            <a:pPr marL="12700" marR="81915">
              <a:lnSpc>
                <a:spcPct val="114999"/>
              </a:lnSpc>
              <a:spcBef>
                <a:spcPts val="785"/>
              </a:spcBef>
            </a:pPr>
            <a:r>
              <a:rPr dirty="0" sz="1200" spc="-10">
                <a:solidFill>
                  <a:srgbClr val="D3DCE4"/>
                </a:solidFill>
                <a:latin typeface="Montserrat"/>
                <a:cs typeface="Montserrat"/>
              </a:rPr>
              <a:t>Working</a:t>
            </a:r>
            <a:r>
              <a:rPr dirty="0" sz="1200" spc="-2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with</a:t>
            </a:r>
            <a:r>
              <a:rPr dirty="0" sz="1200" spc="-2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them</a:t>
            </a:r>
            <a:r>
              <a:rPr dirty="0" sz="1200" spc="-2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on</a:t>
            </a:r>
            <a:r>
              <a:rPr dirty="0" sz="12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the</a:t>
            </a:r>
            <a:r>
              <a:rPr dirty="0" sz="1200" spc="-2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ﬂoor</a:t>
            </a:r>
            <a:r>
              <a:rPr dirty="0" sz="1200" spc="-2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also</a:t>
            </a:r>
            <a:r>
              <a:rPr dirty="0" sz="12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as</a:t>
            </a:r>
            <a:r>
              <a:rPr dirty="0" sz="1200" spc="-2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an</a:t>
            </a:r>
            <a:r>
              <a:rPr dirty="0" sz="1200" spc="-2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ATE</a:t>
            </a:r>
            <a:r>
              <a:rPr dirty="0" sz="1200" spc="-2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side</a:t>
            </a:r>
            <a:r>
              <a:rPr dirty="0" sz="12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by</a:t>
            </a:r>
            <a:r>
              <a:rPr dirty="0" sz="1200" spc="-2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side</a:t>
            </a:r>
            <a:r>
              <a:rPr dirty="0" sz="1200" spc="-2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and</a:t>
            </a:r>
            <a:r>
              <a:rPr dirty="0" sz="12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through</a:t>
            </a:r>
            <a:r>
              <a:rPr dirty="0" sz="1200" spc="-2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the</a:t>
            </a:r>
            <a:r>
              <a:rPr dirty="0" sz="1200" spc="-2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hospital</a:t>
            </a:r>
            <a:r>
              <a:rPr dirty="0" sz="1200" spc="-2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staff</a:t>
            </a:r>
            <a:r>
              <a:rPr dirty="0" sz="12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end</a:t>
            </a:r>
            <a:r>
              <a:rPr dirty="0" sz="1200" spc="-2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user</a:t>
            </a:r>
            <a:r>
              <a:rPr dirty="0" sz="1200" spc="-2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spc="-10">
                <a:solidFill>
                  <a:srgbClr val="D3DCE4"/>
                </a:solidFill>
                <a:latin typeface="Montserrat"/>
                <a:cs typeface="Montserrat"/>
              </a:rPr>
              <a:t>evaluation</a:t>
            </a:r>
            <a:r>
              <a:rPr dirty="0" sz="1200" spc="-2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that</a:t>
            </a:r>
            <a:r>
              <a:rPr dirty="0" sz="1200" spc="-2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spc="-20">
                <a:solidFill>
                  <a:srgbClr val="D3DCE4"/>
                </a:solidFill>
                <a:latin typeface="Montserrat"/>
                <a:cs typeface="Montserrat"/>
              </a:rPr>
              <a:t>will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take</a:t>
            </a:r>
            <a:r>
              <a:rPr dirty="0" sz="1200" spc="-3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place</a:t>
            </a:r>
            <a:r>
              <a:rPr dirty="0" sz="1200" spc="-3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on</a:t>
            </a:r>
            <a:r>
              <a:rPr dirty="0" sz="1200" spc="-3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the</a:t>
            </a:r>
            <a:r>
              <a:rPr dirty="0" sz="1200" spc="-3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NICEHR</a:t>
            </a:r>
            <a:r>
              <a:rPr dirty="0" sz="1200" spc="-3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group</a:t>
            </a:r>
            <a:r>
              <a:rPr dirty="0" sz="1200" spc="-3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application</a:t>
            </a:r>
            <a:r>
              <a:rPr dirty="0" sz="1200" spc="-3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spc="-10">
                <a:solidFill>
                  <a:srgbClr val="D3DCE4"/>
                </a:solidFill>
                <a:latin typeface="Montserrat"/>
                <a:cs typeface="Montserrat"/>
              </a:rPr>
              <a:t>creates</a:t>
            </a:r>
            <a:r>
              <a:rPr dirty="0" sz="1200" spc="-3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a</a:t>
            </a:r>
            <a:r>
              <a:rPr dirty="0" sz="1200" spc="-3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never</a:t>
            </a:r>
            <a:r>
              <a:rPr dirty="0" sz="1200" spc="-3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before</a:t>
            </a:r>
            <a:r>
              <a:rPr dirty="0" sz="1200" spc="-3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seen</a:t>
            </a:r>
            <a:r>
              <a:rPr dirty="0" sz="1200" spc="-3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level</a:t>
            </a:r>
            <a:r>
              <a:rPr dirty="0" sz="1200" spc="-3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>
                <a:solidFill>
                  <a:srgbClr val="D3DCE4"/>
                </a:solidFill>
                <a:latin typeface="Montserrat"/>
                <a:cs typeface="Montserrat"/>
              </a:rPr>
              <a:t>of</a:t>
            </a:r>
            <a:r>
              <a:rPr dirty="0" sz="1200" spc="-35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spc="-10">
                <a:solidFill>
                  <a:srgbClr val="D3DCE4"/>
                </a:solidFill>
                <a:latin typeface="Montserrat"/>
                <a:cs typeface="Montserrat"/>
              </a:rPr>
              <a:t>transparency.</a:t>
            </a:r>
            <a:endParaRPr sz="1200">
              <a:latin typeface="Montserrat"/>
              <a:cs typeface="Montserrat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9106" y="5765919"/>
            <a:ext cx="1748238" cy="369299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943524" y="6333075"/>
            <a:ext cx="10297795" cy="525145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75565">
              <a:lnSpc>
                <a:spcPct val="100000"/>
              </a:lnSpc>
              <a:spcBef>
                <a:spcPts val="200"/>
              </a:spcBef>
              <a:tabLst>
                <a:tab pos="1129030" algn="l"/>
                <a:tab pos="2534285" algn="l"/>
                <a:tab pos="3950970" algn="l"/>
                <a:tab pos="4346575" algn="l"/>
                <a:tab pos="5570855" algn="l"/>
                <a:tab pos="6382385" algn="l"/>
              </a:tabLst>
            </a:pP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N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A</a:t>
            </a:r>
            <a:r>
              <a:rPr dirty="0" sz="900" spc="-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T</a:t>
            </a:r>
            <a:r>
              <a:rPr dirty="0" sz="900" spc="-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I</a:t>
            </a:r>
            <a:r>
              <a:rPr dirty="0" sz="900" spc="-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O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N</a:t>
            </a:r>
            <a:r>
              <a:rPr dirty="0" sz="900" spc="-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A</a:t>
            </a:r>
            <a:r>
              <a:rPr dirty="0" sz="900" spc="-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spc="-50" b="1">
                <a:solidFill>
                  <a:srgbClr val="FFFFFF"/>
                </a:solidFill>
                <a:latin typeface="Montserrat"/>
                <a:cs typeface="Montserrat"/>
              </a:rPr>
              <a:t>L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	I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N</a:t>
            </a:r>
            <a:r>
              <a:rPr dirty="0" sz="900" spc="-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D</a:t>
            </a:r>
            <a:r>
              <a:rPr dirty="0" sz="900" spc="-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E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P</a:t>
            </a:r>
            <a:r>
              <a:rPr dirty="0" sz="900" spc="-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E</a:t>
            </a:r>
            <a:r>
              <a:rPr dirty="0" sz="900" spc="-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N</a:t>
            </a:r>
            <a:r>
              <a:rPr dirty="0" sz="900" spc="-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D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E</a:t>
            </a:r>
            <a:r>
              <a:rPr dirty="0" sz="900" spc="-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N</a:t>
            </a:r>
            <a:r>
              <a:rPr dirty="0" sz="900" spc="-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spc="-50" b="1">
                <a:solidFill>
                  <a:srgbClr val="FFFFFF"/>
                </a:solidFill>
                <a:latin typeface="Montserrat"/>
                <a:cs typeface="Montserrat"/>
              </a:rPr>
              <a:t>T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	C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O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N</a:t>
            </a:r>
            <a:r>
              <a:rPr dirty="0" sz="900" spc="-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S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U</a:t>
            </a:r>
            <a:r>
              <a:rPr dirty="0" sz="900" spc="-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L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T</a:t>
            </a:r>
            <a:r>
              <a:rPr dirty="0" sz="900" spc="-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A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N</a:t>
            </a:r>
            <a:r>
              <a:rPr dirty="0" sz="900" spc="-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T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spc="-50" b="1">
                <a:solidFill>
                  <a:srgbClr val="FFFFFF"/>
                </a:solidFill>
                <a:latin typeface="Montserrat"/>
                <a:cs typeface="Montserrat"/>
              </a:rPr>
              <a:t>S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	O</a:t>
            </a:r>
            <a:r>
              <a:rPr dirty="0" sz="900" spc="-1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spc="-50" b="1">
                <a:solidFill>
                  <a:srgbClr val="FFFFFF"/>
                </a:solidFill>
                <a:latin typeface="Montserrat"/>
                <a:cs typeface="Montserrat"/>
              </a:rPr>
              <a:t>F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	E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L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E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C</a:t>
            </a:r>
            <a:r>
              <a:rPr dirty="0" sz="900" spc="-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T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R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O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N</a:t>
            </a:r>
            <a:r>
              <a:rPr dirty="0" sz="900" spc="-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I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spc="-50" b="1">
                <a:solidFill>
                  <a:srgbClr val="FFFFFF"/>
                </a:solidFill>
                <a:latin typeface="Montserrat"/>
                <a:cs typeface="Montserrat"/>
              </a:rPr>
              <a:t>C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	H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E</a:t>
            </a:r>
            <a:r>
              <a:rPr dirty="0" sz="900" spc="-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A</a:t>
            </a:r>
            <a:r>
              <a:rPr dirty="0" sz="900" spc="-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L</a:t>
            </a:r>
            <a:r>
              <a:rPr dirty="0" sz="900" spc="-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T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spc="-50" b="1">
                <a:solidFill>
                  <a:srgbClr val="FFFFFF"/>
                </a:solidFill>
                <a:latin typeface="Montserrat"/>
                <a:cs typeface="Montserrat"/>
              </a:rPr>
              <a:t>H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	R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E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C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O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R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D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spc="-50" b="1">
                <a:solidFill>
                  <a:srgbClr val="FFFFFF"/>
                </a:solidFill>
                <a:latin typeface="Montserrat"/>
                <a:cs typeface="Montserrat"/>
              </a:rPr>
              <a:t>S</a:t>
            </a:r>
            <a:endParaRPr sz="900">
              <a:latin typeface="Montserrat"/>
              <a:cs typeface="Montserrat"/>
            </a:endParaRP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 spc="-25"/>
              <a:t>13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016549" y="6341600"/>
            <a:ext cx="10159365" cy="9525"/>
          </a:xfrm>
          <a:custGeom>
            <a:avLst/>
            <a:gdLst/>
            <a:ahLst/>
            <a:cxnLst/>
            <a:rect l="l" t="t" r="r" b="b"/>
            <a:pathLst>
              <a:path w="10159365" h="9525">
                <a:moveTo>
                  <a:pt x="10158899" y="8999"/>
                </a:moveTo>
                <a:lnTo>
                  <a:pt x="0" y="8999"/>
                </a:lnTo>
                <a:lnTo>
                  <a:pt x="0" y="0"/>
                </a:lnTo>
                <a:lnTo>
                  <a:pt x="10158899" y="0"/>
                </a:lnTo>
                <a:lnTo>
                  <a:pt x="10158899" y="8999"/>
                </a:lnTo>
                <a:close/>
              </a:path>
            </a:pathLst>
          </a:custGeom>
          <a:solidFill>
            <a:srgbClr val="5EB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683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Workﬂows</a:t>
            </a:r>
            <a:r>
              <a:rPr dirty="0" spc="-60"/>
              <a:t> </a:t>
            </a:r>
            <a:r>
              <a:rPr dirty="0"/>
              <a:t>&amp;</a:t>
            </a:r>
            <a:r>
              <a:rPr dirty="0" spc="-55"/>
              <a:t> </a:t>
            </a:r>
            <a:r>
              <a:rPr dirty="0" spc="-10"/>
              <a:t>Policies</a:t>
            </a:r>
          </a:p>
        </p:txBody>
      </p:sp>
      <p:sp>
        <p:nvSpPr>
          <p:cNvPr id="4" name="object 4" descr=""/>
          <p:cNvSpPr/>
          <p:nvPr/>
        </p:nvSpPr>
        <p:spPr>
          <a:xfrm>
            <a:off x="1018260" y="1658540"/>
            <a:ext cx="157480" cy="94615"/>
          </a:xfrm>
          <a:custGeom>
            <a:avLst/>
            <a:gdLst/>
            <a:ahLst/>
            <a:cxnLst/>
            <a:rect l="l" t="t" r="r" b="b"/>
            <a:pathLst>
              <a:path w="157480" h="94614">
                <a:moveTo>
                  <a:pt x="0" y="47243"/>
                </a:moveTo>
                <a:lnTo>
                  <a:pt x="64294" y="94487"/>
                </a:lnTo>
                <a:lnTo>
                  <a:pt x="157162" y="0"/>
                </a:lnTo>
              </a:path>
            </a:pathLst>
          </a:custGeom>
          <a:ln w="28574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Client</a:t>
            </a:r>
            <a:r>
              <a:rPr dirty="0" spc="-5"/>
              <a:t> </a:t>
            </a:r>
            <a:r>
              <a:rPr dirty="0" spc="-10"/>
              <a:t>Workﬂows</a:t>
            </a:r>
          </a:p>
          <a:p>
            <a:pPr marL="12700" marR="128905">
              <a:lnSpc>
                <a:spcPct val="120000"/>
              </a:lnSpc>
              <a:spcBef>
                <a:spcPts val="715"/>
              </a:spcBef>
            </a:pPr>
            <a:r>
              <a:rPr dirty="0" sz="1200" spc="-20" b="0">
                <a:solidFill>
                  <a:srgbClr val="D3DCE4"/>
                </a:solidFill>
                <a:latin typeface="Montserrat"/>
                <a:cs typeface="Montserrat"/>
              </a:rPr>
              <a:t>We</a:t>
            </a:r>
            <a:r>
              <a:rPr dirty="0" sz="1200" spc="-30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spc="-10" b="0">
                <a:solidFill>
                  <a:srgbClr val="D3DCE4"/>
                </a:solidFill>
                <a:latin typeface="Montserrat"/>
                <a:cs typeface="Montserrat"/>
              </a:rPr>
              <a:t>recommend</a:t>
            </a:r>
            <a:r>
              <a:rPr dirty="0" sz="1200" spc="-30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b="0">
                <a:solidFill>
                  <a:srgbClr val="D3DCE4"/>
                </a:solidFill>
                <a:latin typeface="Montserrat"/>
                <a:cs typeface="Montserrat"/>
              </a:rPr>
              <a:t>that</a:t>
            </a:r>
            <a:r>
              <a:rPr dirty="0" sz="1200" spc="-25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b="0">
                <a:solidFill>
                  <a:srgbClr val="D3DCE4"/>
                </a:solidFill>
                <a:latin typeface="Montserrat"/>
                <a:cs typeface="Montserrat"/>
              </a:rPr>
              <a:t>the</a:t>
            </a:r>
            <a:r>
              <a:rPr dirty="0" sz="1200" spc="-30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b="0">
                <a:solidFill>
                  <a:srgbClr val="D3DCE4"/>
                </a:solidFill>
                <a:latin typeface="Montserrat"/>
                <a:cs typeface="Montserrat"/>
              </a:rPr>
              <a:t>healthcare</a:t>
            </a:r>
            <a:r>
              <a:rPr dirty="0" sz="1200" spc="-25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spc="-10" b="0">
                <a:solidFill>
                  <a:srgbClr val="D3DCE4"/>
                </a:solidFill>
                <a:latin typeface="Montserrat"/>
                <a:cs typeface="Montserrat"/>
              </a:rPr>
              <a:t>organization</a:t>
            </a:r>
            <a:r>
              <a:rPr dirty="0" sz="1200" spc="-30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b="0">
                <a:solidFill>
                  <a:srgbClr val="D3DCE4"/>
                </a:solidFill>
                <a:latin typeface="Montserrat"/>
                <a:cs typeface="Montserrat"/>
              </a:rPr>
              <a:t>utilizes</a:t>
            </a:r>
            <a:r>
              <a:rPr dirty="0" sz="1200" spc="-30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b="0">
                <a:solidFill>
                  <a:srgbClr val="D3DCE4"/>
                </a:solidFill>
                <a:latin typeface="Montserrat"/>
                <a:cs typeface="Montserrat"/>
              </a:rPr>
              <a:t>one</a:t>
            </a:r>
            <a:r>
              <a:rPr dirty="0" sz="1200" spc="-25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spc="-20" b="0">
                <a:solidFill>
                  <a:srgbClr val="D3DCE4"/>
                </a:solidFill>
                <a:latin typeface="Montserrat"/>
                <a:cs typeface="Montserrat"/>
              </a:rPr>
              <a:t>ﬁrm</a:t>
            </a:r>
            <a:r>
              <a:rPr dirty="0" sz="1200" spc="-30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b="0">
                <a:solidFill>
                  <a:srgbClr val="D3DCE4"/>
                </a:solidFill>
                <a:latin typeface="Montserrat"/>
                <a:cs typeface="Montserrat"/>
              </a:rPr>
              <a:t>(from</a:t>
            </a:r>
            <a:r>
              <a:rPr dirty="0" sz="1200" spc="-25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b="0">
                <a:solidFill>
                  <a:srgbClr val="D3DCE4"/>
                </a:solidFill>
                <a:latin typeface="Montserrat"/>
                <a:cs typeface="Montserrat"/>
              </a:rPr>
              <a:t>pre</a:t>
            </a:r>
            <a:r>
              <a:rPr dirty="0" sz="1200" spc="-30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b="0">
                <a:solidFill>
                  <a:srgbClr val="D3DCE4"/>
                </a:solidFill>
                <a:latin typeface="Montserrat"/>
                <a:cs typeface="Montserrat"/>
              </a:rPr>
              <a:t>to</a:t>
            </a:r>
            <a:r>
              <a:rPr dirty="0" sz="1200" spc="-25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b="0">
                <a:solidFill>
                  <a:srgbClr val="D3DCE4"/>
                </a:solidFill>
                <a:latin typeface="Montserrat"/>
                <a:cs typeface="Montserrat"/>
              </a:rPr>
              <a:t>post)</a:t>
            </a:r>
            <a:r>
              <a:rPr dirty="0" sz="1200" spc="-30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b="0">
                <a:solidFill>
                  <a:srgbClr val="D3DCE4"/>
                </a:solidFill>
                <a:latin typeface="Montserrat"/>
                <a:cs typeface="Montserrat"/>
              </a:rPr>
              <a:t>to</a:t>
            </a:r>
            <a:r>
              <a:rPr dirty="0" sz="1200" spc="-30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spc="-10" b="0">
                <a:solidFill>
                  <a:srgbClr val="D3DCE4"/>
                </a:solidFill>
                <a:latin typeface="Montserrat"/>
                <a:cs typeface="Montserrat"/>
              </a:rPr>
              <a:t>analyze, </a:t>
            </a:r>
            <a:r>
              <a:rPr dirty="0" sz="1200" b="0">
                <a:solidFill>
                  <a:srgbClr val="D3DCE4"/>
                </a:solidFill>
                <a:latin typeface="Montserrat"/>
                <a:cs typeface="Montserrat"/>
              </a:rPr>
              <a:t>build,</a:t>
            </a:r>
            <a:r>
              <a:rPr dirty="0" sz="1200" spc="-25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spc="-10" b="0">
                <a:solidFill>
                  <a:srgbClr val="D3DCE4"/>
                </a:solidFill>
                <a:latin typeface="Montserrat"/>
                <a:cs typeface="Montserrat"/>
              </a:rPr>
              <a:t>train</a:t>
            </a:r>
            <a:r>
              <a:rPr dirty="0" sz="1200" spc="-25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b="0">
                <a:solidFill>
                  <a:srgbClr val="D3DCE4"/>
                </a:solidFill>
                <a:latin typeface="Montserrat"/>
                <a:cs typeface="Montserrat"/>
              </a:rPr>
              <a:t>and</a:t>
            </a:r>
            <a:r>
              <a:rPr dirty="0" sz="1200" spc="-25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b="0">
                <a:solidFill>
                  <a:srgbClr val="D3DCE4"/>
                </a:solidFill>
                <a:latin typeface="Montserrat"/>
                <a:cs typeface="Montserrat"/>
              </a:rPr>
              <a:t>ate</a:t>
            </a:r>
            <a:r>
              <a:rPr dirty="0" sz="1200" spc="-25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b="0">
                <a:solidFill>
                  <a:srgbClr val="D3DCE4"/>
                </a:solidFill>
                <a:latin typeface="Montserrat"/>
                <a:cs typeface="Montserrat"/>
              </a:rPr>
              <a:t>support.</a:t>
            </a:r>
            <a:r>
              <a:rPr dirty="0" sz="1200" spc="-25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b="0">
                <a:solidFill>
                  <a:srgbClr val="D3DCE4"/>
                </a:solidFill>
                <a:latin typeface="Montserrat"/>
                <a:cs typeface="Montserrat"/>
              </a:rPr>
              <a:t>This</a:t>
            </a:r>
            <a:r>
              <a:rPr dirty="0" sz="1200" spc="-20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b="0">
                <a:solidFill>
                  <a:srgbClr val="D3DCE4"/>
                </a:solidFill>
                <a:latin typeface="Montserrat"/>
                <a:cs typeface="Montserrat"/>
              </a:rPr>
              <a:t>ensures</a:t>
            </a:r>
            <a:r>
              <a:rPr dirty="0" sz="1200" spc="-25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b="0">
                <a:solidFill>
                  <a:srgbClr val="D3DCE4"/>
                </a:solidFill>
                <a:latin typeface="Montserrat"/>
                <a:cs typeface="Montserrat"/>
              </a:rPr>
              <a:t>a</a:t>
            </a:r>
            <a:r>
              <a:rPr dirty="0" sz="1200" spc="-25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b="0">
                <a:solidFill>
                  <a:srgbClr val="D3DCE4"/>
                </a:solidFill>
                <a:latin typeface="Montserrat"/>
                <a:cs typeface="Montserrat"/>
              </a:rPr>
              <a:t>smooth</a:t>
            </a:r>
            <a:r>
              <a:rPr dirty="0" sz="1200" spc="-25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spc="-10" b="0">
                <a:solidFill>
                  <a:srgbClr val="D3DCE4"/>
                </a:solidFill>
                <a:latin typeface="Montserrat"/>
                <a:cs typeface="Montserrat"/>
              </a:rPr>
              <a:t>transition</a:t>
            </a:r>
            <a:r>
              <a:rPr dirty="0" sz="1200" spc="-25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b="0">
                <a:solidFill>
                  <a:srgbClr val="D3DCE4"/>
                </a:solidFill>
                <a:latin typeface="Montserrat"/>
                <a:cs typeface="Montserrat"/>
              </a:rPr>
              <a:t>from</a:t>
            </a:r>
            <a:r>
              <a:rPr dirty="0" sz="1200" spc="-20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b="0">
                <a:solidFill>
                  <a:srgbClr val="D3DCE4"/>
                </a:solidFill>
                <a:latin typeface="Montserrat"/>
                <a:cs typeface="Montserrat"/>
              </a:rPr>
              <a:t>pre</a:t>
            </a:r>
            <a:r>
              <a:rPr dirty="0" sz="1200" spc="-25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b="0">
                <a:solidFill>
                  <a:srgbClr val="D3DCE4"/>
                </a:solidFill>
                <a:latin typeface="Montserrat"/>
                <a:cs typeface="Montserrat"/>
              </a:rPr>
              <a:t>to</a:t>
            </a:r>
            <a:r>
              <a:rPr dirty="0" sz="1200" spc="-25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b="0">
                <a:solidFill>
                  <a:srgbClr val="D3DCE4"/>
                </a:solidFill>
                <a:latin typeface="Montserrat"/>
                <a:cs typeface="Montserrat"/>
              </a:rPr>
              <a:t>post</a:t>
            </a:r>
            <a:r>
              <a:rPr dirty="0" sz="1200" spc="-25" b="0">
                <a:solidFill>
                  <a:srgbClr val="D3DCE4"/>
                </a:solidFill>
                <a:latin typeface="Montserrat"/>
                <a:cs typeface="Montserrat"/>
              </a:rPr>
              <a:t> EHR </a:t>
            </a:r>
            <a:r>
              <a:rPr dirty="0" sz="1200" spc="-10" b="0">
                <a:solidFill>
                  <a:srgbClr val="D3DCE4"/>
                </a:solidFill>
                <a:latin typeface="Montserrat"/>
                <a:cs typeface="Montserrat"/>
              </a:rPr>
              <a:t>implementation.</a:t>
            </a:r>
            <a:endParaRPr sz="1200">
              <a:latin typeface="Montserrat"/>
              <a:cs typeface="Montserrat"/>
            </a:endParaRPr>
          </a:p>
          <a:p>
            <a:pPr algn="just" marL="12700" marR="5080">
              <a:lnSpc>
                <a:spcPct val="120000"/>
              </a:lnSpc>
              <a:spcBef>
                <a:spcPts val="1000"/>
              </a:spcBef>
            </a:pPr>
            <a:r>
              <a:rPr dirty="0" sz="1200" b="0">
                <a:solidFill>
                  <a:srgbClr val="D3DCE4"/>
                </a:solidFill>
                <a:latin typeface="Montserrat"/>
                <a:cs typeface="Montserrat"/>
              </a:rPr>
              <a:t>The</a:t>
            </a:r>
            <a:r>
              <a:rPr dirty="0" sz="1200" spc="-35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b="0">
                <a:solidFill>
                  <a:srgbClr val="D3DCE4"/>
                </a:solidFill>
                <a:latin typeface="Montserrat"/>
                <a:cs typeface="Montserrat"/>
              </a:rPr>
              <a:t>same</a:t>
            </a:r>
            <a:r>
              <a:rPr dirty="0" sz="1200" spc="-30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spc="-10" b="0">
                <a:solidFill>
                  <a:srgbClr val="D3DCE4"/>
                </a:solidFill>
                <a:latin typeface="Montserrat"/>
                <a:cs typeface="Montserrat"/>
              </a:rPr>
              <a:t>training</a:t>
            </a:r>
            <a:r>
              <a:rPr dirty="0" sz="1200" spc="-25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b="0">
                <a:solidFill>
                  <a:srgbClr val="D3DCE4"/>
                </a:solidFill>
                <a:latin typeface="Montserrat"/>
                <a:cs typeface="Montserrat"/>
              </a:rPr>
              <a:t>that</a:t>
            </a:r>
            <a:r>
              <a:rPr dirty="0" sz="1200" spc="-30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b="0">
                <a:solidFill>
                  <a:srgbClr val="D3DCE4"/>
                </a:solidFill>
                <a:latin typeface="Montserrat"/>
                <a:cs typeface="Montserrat"/>
              </a:rPr>
              <a:t>end</a:t>
            </a:r>
            <a:r>
              <a:rPr dirty="0" sz="1200" spc="-30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b="0">
                <a:solidFill>
                  <a:srgbClr val="D3DCE4"/>
                </a:solidFill>
                <a:latin typeface="Montserrat"/>
                <a:cs typeface="Montserrat"/>
              </a:rPr>
              <a:t>users</a:t>
            </a:r>
            <a:r>
              <a:rPr dirty="0" sz="1200" spc="-30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b="0">
                <a:solidFill>
                  <a:srgbClr val="D3DCE4"/>
                </a:solidFill>
                <a:latin typeface="Montserrat"/>
                <a:cs typeface="Montserrat"/>
              </a:rPr>
              <a:t>receive</a:t>
            </a:r>
            <a:r>
              <a:rPr dirty="0" sz="1200" spc="-25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b="0">
                <a:solidFill>
                  <a:srgbClr val="D3DCE4"/>
                </a:solidFill>
                <a:latin typeface="Montserrat"/>
                <a:cs typeface="Montserrat"/>
              </a:rPr>
              <a:t>the</a:t>
            </a:r>
            <a:r>
              <a:rPr dirty="0" sz="1200" spc="-30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b="0">
                <a:solidFill>
                  <a:srgbClr val="D3DCE4"/>
                </a:solidFill>
                <a:latin typeface="Montserrat"/>
                <a:cs typeface="Montserrat"/>
              </a:rPr>
              <a:t>NICEHR</a:t>
            </a:r>
            <a:r>
              <a:rPr dirty="0" sz="1200" spc="-30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b="0">
                <a:solidFill>
                  <a:srgbClr val="D3DCE4"/>
                </a:solidFill>
                <a:latin typeface="Montserrat"/>
                <a:cs typeface="Montserrat"/>
              </a:rPr>
              <a:t>group</a:t>
            </a:r>
            <a:r>
              <a:rPr dirty="0" sz="1200" spc="-25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b="0">
                <a:solidFill>
                  <a:srgbClr val="D3DCE4"/>
                </a:solidFill>
                <a:latin typeface="Montserrat"/>
                <a:cs typeface="Montserrat"/>
              </a:rPr>
              <a:t>staff</a:t>
            </a:r>
            <a:r>
              <a:rPr dirty="0" sz="1200" spc="-30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b="0">
                <a:solidFill>
                  <a:srgbClr val="D3DCE4"/>
                </a:solidFill>
                <a:latin typeface="Montserrat"/>
                <a:cs typeface="Montserrat"/>
              </a:rPr>
              <a:t>will</a:t>
            </a:r>
            <a:r>
              <a:rPr dirty="0" sz="1200" spc="-30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b="0">
                <a:solidFill>
                  <a:srgbClr val="D3DCE4"/>
                </a:solidFill>
                <a:latin typeface="Montserrat"/>
                <a:cs typeface="Montserrat"/>
              </a:rPr>
              <a:t>also</a:t>
            </a:r>
            <a:r>
              <a:rPr dirty="0" sz="1200" spc="-25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b="0">
                <a:solidFill>
                  <a:srgbClr val="D3DCE4"/>
                </a:solidFill>
                <a:latin typeface="Montserrat"/>
                <a:cs typeface="Montserrat"/>
              </a:rPr>
              <a:t>receive</a:t>
            </a:r>
            <a:r>
              <a:rPr dirty="0" sz="1200" spc="-30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b="0">
                <a:solidFill>
                  <a:srgbClr val="D3DCE4"/>
                </a:solidFill>
                <a:latin typeface="Montserrat"/>
                <a:cs typeface="Montserrat"/>
              </a:rPr>
              <a:t>on</a:t>
            </a:r>
            <a:r>
              <a:rPr dirty="0" sz="1200" spc="-30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b="0">
                <a:solidFill>
                  <a:srgbClr val="D3DCE4"/>
                </a:solidFill>
                <a:latin typeface="Montserrat"/>
                <a:cs typeface="Montserrat"/>
              </a:rPr>
              <a:t>the</a:t>
            </a:r>
            <a:r>
              <a:rPr dirty="0" sz="1200" spc="-30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spc="-10" b="0">
                <a:solidFill>
                  <a:srgbClr val="D3DCE4"/>
                </a:solidFill>
                <a:latin typeface="Montserrat"/>
                <a:cs typeface="Montserrat"/>
              </a:rPr>
              <a:t>NICEHR </a:t>
            </a:r>
            <a:r>
              <a:rPr dirty="0" sz="1200" b="0">
                <a:solidFill>
                  <a:srgbClr val="D3DCE4"/>
                </a:solidFill>
                <a:latin typeface="Montserrat"/>
                <a:cs typeface="Montserrat"/>
              </a:rPr>
              <a:t>group</a:t>
            </a:r>
            <a:r>
              <a:rPr dirty="0" sz="1200" spc="-35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spc="-10" b="0">
                <a:solidFill>
                  <a:srgbClr val="D3DCE4"/>
                </a:solidFill>
                <a:latin typeface="Montserrat"/>
                <a:cs typeface="Montserrat"/>
              </a:rPr>
              <a:t>training</a:t>
            </a:r>
            <a:r>
              <a:rPr dirty="0" sz="1200" spc="-30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b="0">
                <a:solidFill>
                  <a:srgbClr val="D3DCE4"/>
                </a:solidFill>
                <a:latin typeface="Montserrat"/>
                <a:cs typeface="Montserrat"/>
              </a:rPr>
              <a:t>platform.</a:t>
            </a:r>
            <a:r>
              <a:rPr dirty="0" sz="1200" spc="-35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b="0">
                <a:solidFill>
                  <a:srgbClr val="D3DCE4"/>
                </a:solidFill>
                <a:latin typeface="Montserrat"/>
                <a:cs typeface="Montserrat"/>
              </a:rPr>
              <a:t>Access</a:t>
            </a:r>
            <a:r>
              <a:rPr dirty="0" sz="1200" spc="-30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b="0">
                <a:solidFill>
                  <a:srgbClr val="D3DCE4"/>
                </a:solidFill>
                <a:latin typeface="Montserrat"/>
                <a:cs typeface="Montserrat"/>
              </a:rPr>
              <a:t>to</a:t>
            </a:r>
            <a:r>
              <a:rPr dirty="0" sz="1200" spc="-35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b="0">
                <a:solidFill>
                  <a:srgbClr val="D3DCE4"/>
                </a:solidFill>
                <a:latin typeface="Montserrat"/>
                <a:cs typeface="Montserrat"/>
              </a:rPr>
              <a:t>the</a:t>
            </a:r>
            <a:r>
              <a:rPr dirty="0" sz="1200" spc="-30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spc="-10" b="0">
                <a:solidFill>
                  <a:srgbClr val="D3DCE4"/>
                </a:solidFill>
                <a:latin typeface="Montserrat"/>
                <a:cs typeface="Montserrat"/>
              </a:rPr>
              <a:t>training</a:t>
            </a:r>
            <a:r>
              <a:rPr dirty="0" sz="1200" spc="-35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b="0">
                <a:solidFill>
                  <a:srgbClr val="D3DCE4"/>
                </a:solidFill>
                <a:latin typeface="Montserrat"/>
                <a:cs typeface="Montserrat"/>
              </a:rPr>
              <a:t>platform</a:t>
            </a:r>
            <a:r>
              <a:rPr dirty="0" sz="1200" spc="-30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b="0">
                <a:solidFill>
                  <a:srgbClr val="D3DCE4"/>
                </a:solidFill>
                <a:latin typeface="Montserrat"/>
                <a:cs typeface="Montserrat"/>
              </a:rPr>
              <a:t>will</a:t>
            </a:r>
            <a:r>
              <a:rPr dirty="0" sz="1200" spc="-35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b="0">
                <a:solidFill>
                  <a:srgbClr val="D3DCE4"/>
                </a:solidFill>
                <a:latin typeface="Montserrat"/>
                <a:cs typeface="Montserrat"/>
              </a:rPr>
              <a:t>be</a:t>
            </a:r>
            <a:r>
              <a:rPr dirty="0" sz="1200" spc="-30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spc="-10" b="0">
                <a:solidFill>
                  <a:srgbClr val="D3DCE4"/>
                </a:solidFill>
                <a:latin typeface="Montserrat"/>
                <a:cs typeface="Montserrat"/>
              </a:rPr>
              <a:t>available</a:t>
            </a:r>
            <a:r>
              <a:rPr dirty="0" sz="1200" spc="-35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b="0">
                <a:solidFill>
                  <a:srgbClr val="D3DCE4"/>
                </a:solidFill>
                <a:latin typeface="Montserrat"/>
                <a:cs typeface="Montserrat"/>
              </a:rPr>
              <a:t>to</a:t>
            </a:r>
            <a:r>
              <a:rPr dirty="0" sz="1200" spc="-30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b="0">
                <a:solidFill>
                  <a:srgbClr val="D3DCE4"/>
                </a:solidFill>
                <a:latin typeface="Montserrat"/>
                <a:cs typeface="Montserrat"/>
              </a:rPr>
              <a:t>savants</a:t>
            </a:r>
            <a:r>
              <a:rPr dirty="0" sz="1200" spc="-30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b="0">
                <a:solidFill>
                  <a:srgbClr val="D3DCE4"/>
                </a:solidFill>
                <a:latin typeface="Montserrat"/>
                <a:cs typeface="Montserrat"/>
              </a:rPr>
              <a:t>once</a:t>
            </a:r>
            <a:r>
              <a:rPr dirty="0" sz="1200" spc="-35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b="0">
                <a:solidFill>
                  <a:srgbClr val="D3DCE4"/>
                </a:solidFill>
                <a:latin typeface="Montserrat"/>
                <a:cs typeface="Montserrat"/>
              </a:rPr>
              <a:t>they</a:t>
            </a:r>
            <a:r>
              <a:rPr dirty="0" sz="1200" spc="-40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spc="-25" b="0">
                <a:solidFill>
                  <a:srgbClr val="D3DCE4"/>
                </a:solidFill>
                <a:latin typeface="Montserrat"/>
                <a:cs typeface="Montserrat"/>
              </a:rPr>
              <a:t>are </a:t>
            </a:r>
            <a:r>
              <a:rPr dirty="0" sz="1200" b="0">
                <a:solidFill>
                  <a:srgbClr val="D3DCE4"/>
                </a:solidFill>
                <a:latin typeface="Montserrat"/>
                <a:cs typeface="Montserrat"/>
              </a:rPr>
              <a:t>on</a:t>
            </a:r>
            <a:r>
              <a:rPr dirty="0" sz="1200" spc="-20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b="0">
                <a:solidFill>
                  <a:srgbClr val="D3DCE4"/>
                </a:solidFill>
                <a:latin typeface="Montserrat"/>
                <a:cs typeface="Montserrat"/>
              </a:rPr>
              <a:t>boarded</a:t>
            </a:r>
            <a:r>
              <a:rPr dirty="0" sz="1200" spc="-15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b="0">
                <a:solidFill>
                  <a:srgbClr val="D3DCE4"/>
                </a:solidFill>
                <a:latin typeface="Montserrat"/>
                <a:cs typeface="Montserrat"/>
              </a:rPr>
              <a:t>via</a:t>
            </a:r>
            <a:r>
              <a:rPr dirty="0" sz="1200" spc="-20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b="0">
                <a:solidFill>
                  <a:srgbClr val="D3DCE4"/>
                </a:solidFill>
                <a:latin typeface="Montserrat"/>
                <a:cs typeface="Montserrat"/>
              </a:rPr>
              <a:t>mobile</a:t>
            </a:r>
            <a:r>
              <a:rPr dirty="0" sz="1200" spc="-15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b="0">
                <a:solidFill>
                  <a:srgbClr val="D3DCE4"/>
                </a:solidFill>
                <a:latin typeface="Montserrat"/>
                <a:cs typeface="Montserrat"/>
              </a:rPr>
              <a:t>or</a:t>
            </a:r>
            <a:r>
              <a:rPr dirty="0" sz="1200" spc="-15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spc="-10" b="0">
                <a:solidFill>
                  <a:srgbClr val="D3DCE4"/>
                </a:solidFill>
                <a:latin typeface="Montserrat"/>
                <a:cs typeface="Montserrat"/>
              </a:rPr>
              <a:t>desktop.</a:t>
            </a:r>
            <a:endParaRPr sz="1200">
              <a:latin typeface="Montserrat"/>
              <a:cs typeface="Montserrat"/>
            </a:endParaRPr>
          </a:p>
          <a:p>
            <a:pPr marL="12700" marR="289560">
              <a:lnSpc>
                <a:spcPct val="120000"/>
              </a:lnSpc>
              <a:spcBef>
                <a:spcPts val="1000"/>
              </a:spcBef>
            </a:pPr>
            <a:r>
              <a:rPr dirty="0" sz="1200" b="0">
                <a:solidFill>
                  <a:srgbClr val="D3DCE4"/>
                </a:solidFill>
                <a:latin typeface="Montserrat"/>
                <a:cs typeface="Montserrat"/>
              </a:rPr>
              <a:t>This</a:t>
            </a:r>
            <a:r>
              <a:rPr dirty="0" sz="1200" spc="-25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b="0">
                <a:solidFill>
                  <a:srgbClr val="D3DCE4"/>
                </a:solidFill>
                <a:latin typeface="Montserrat"/>
                <a:cs typeface="Montserrat"/>
              </a:rPr>
              <a:t>way</a:t>
            </a:r>
            <a:r>
              <a:rPr dirty="0" sz="1200" spc="-25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b="0">
                <a:solidFill>
                  <a:srgbClr val="D3DCE4"/>
                </a:solidFill>
                <a:latin typeface="Montserrat"/>
                <a:cs typeface="Montserrat"/>
              </a:rPr>
              <a:t>we</a:t>
            </a:r>
            <a:r>
              <a:rPr dirty="0" sz="1200" spc="-20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b="0">
                <a:solidFill>
                  <a:srgbClr val="D3DCE4"/>
                </a:solidFill>
                <a:latin typeface="Montserrat"/>
                <a:cs typeface="Montserrat"/>
              </a:rPr>
              <a:t>understand</a:t>
            </a:r>
            <a:r>
              <a:rPr dirty="0" sz="1200" spc="-25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b="0">
                <a:solidFill>
                  <a:srgbClr val="D3DCE4"/>
                </a:solidFill>
                <a:latin typeface="Montserrat"/>
                <a:cs typeface="Montserrat"/>
              </a:rPr>
              <a:t>your</a:t>
            </a:r>
            <a:r>
              <a:rPr dirty="0" sz="1200" spc="-20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b="0">
                <a:solidFill>
                  <a:srgbClr val="D3DCE4"/>
                </a:solidFill>
                <a:latin typeface="Montserrat"/>
                <a:cs typeface="Montserrat"/>
              </a:rPr>
              <a:t>healthcare</a:t>
            </a:r>
            <a:r>
              <a:rPr dirty="0" sz="1200" spc="-25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spc="-10" b="0">
                <a:solidFill>
                  <a:srgbClr val="D3DCE4"/>
                </a:solidFill>
                <a:latin typeface="Montserrat"/>
                <a:cs typeface="Montserrat"/>
              </a:rPr>
              <a:t>organization</a:t>
            </a:r>
            <a:r>
              <a:rPr dirty="0" sz="1200" spc="-20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b="0">
                <a:solidFill>
                  <a:srgbClr val="D3DCE4"/>
                </a:solidFill>
                <a:latin typeface="Montserrat"/>
                <a:cs typeface="Montserrat"/>
              </a:rPr>
              <a:t>workﬂow</a:t>
            </a:r>
            <a:r>
              <a:rPr dirty="0" sz="1200" spc="-25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spc="-10" b="0">
                <a:solidFill>
                  <a:srgbClr val="D3DCE4"/>
                </a:solidFill>
                <a:latin typeface="Montserrat"/>
                <a:cs typeface="Montserrat"/>
              </a:rPr>
              <a:t>intimately</a:t>
            </a:r>
            <a:r>
              <a:rPr dirty="0" sz="1200" spc="-20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b="0">
                <a:solidFill>
                  <a:srgbClr val="D3DCE4"/>
                </a:solidFill>
                <a:latin typeface="Montserrat"/>
                <a:cs typeface="Montserrat"/>
              </a:rPr>
              <a:t>and</a:t>
            </a:r>
            <a:r>
              <a:rPr dirty="0" sz="1200" spc="-25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b="0">
                <a:solidFill>
                  <a:srgbClr val="D3DCE4"/>
                </a:solidFill>
                <a:latin typeface="Montserrat"/>
                <a:cs typeface="Montserrat"/>
              </a:rPr>
              <a:t>will</a:t>
            </a:r>
            <a:r>
              <a:rPr dirty="0" sz="1200" spc="-20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b="0">
                <a:solidFill>
                  <a:srgbClr val="D3DCE4"/>
                </a:solidFill>
                <a:latin typeface="Montserrat"/>
                <a:cs typeface="Montserrat"/>
              </a:rPr>
              <a:t>be</a:t>
            </a:r>
            <a:r>
              <a:rPr dirty="0" sz="1200" spc="-25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b="0">
                <a:solidFill>
                  <a:srgbClr val="D3DCE4"/>
                </a:solidFill>
                <a:latin typeface="Montserrat"/>
                <a:cs typeface="Montserrat"/>
              </a:rPr>
              <a:t>able</a:t>
            </a:r>
            <a:r>
              <a:rPr dirty="0" sz="1200" spc="-20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spc="-25" b="0">
                <a:solidFill>
                  <a:srgbClr val="D3DCE4"/>
                </a:solidFill>
                <a:latin typeface="Montserrat"/>
                <a:cs typeface="Montserrat"/>
              </a:rPr>
              <a:t>to </a:t>
            </a:r>
            <a:r>
              <a:rPr dirty="0" sz="1200" b="0">
                <a:solidFill>
                  <a:srgbClr val="D3DCE4"/>
                </a:solidFill>
                <a:latin typeface="Montserrat"/>
                <a:cs typeface="Montserrat"/>
              </a:rPr>
              <a:t>provide</a:t>
            </a:r>
            <a:r>
              <a:rPr dirty="0" sz="1200" spc="-35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b="0">
                <a:solidFill>
                  <a:srgbClr val="D3DCE4"/>
                </a:solidFill>
                <a:latin typeface="Montserrat"/>
                <a:cs typeface="Montserrat"/>
              </a:rPr>
              <a:t>optimal</a:t>
            </a:r>
            <a:r>
              <a:rPr dirty="0" sz="1200" spc="-30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b="0">
                <a:solidFill>
                  <a:srgbClr val="D3DCE4"/>
                </a:solidFill>
                <a:latin typeface="Montserrat"/>
                <a:cs typeface="Montserrat"/>
              </a:rPr>
              <a:t>support</a:t>
            </a:r>
            <a:r>
              <a:rPr dirty="0" sz="1200" spc="-30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b="0">
                <a:solidFill>
                  <a:srgbClr val="D3DCE4"/>
                </a:solidFill>
                <a:latin typeface="Montserrat"/>
                <a:cs typeface="Montserrat"/>
              </a:rPr>
              <a:t>to</a:t>
            </a:r>
            <a:r>
              <a:rPr dirty="0" sz="1200" spc="-30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b="0">
                <a:solidFill>
                  <a:srgbClr val="D3DCE4"/>
                </a:solidFill>
                <a:latin typeface="Montserrat"/>
                <a:cs typeface="Montserrat"/>
              </a:rPr>
              <a:t>your</a:t>
            </a:r>
            <a:r>
              <a:rPr dirty="0" sz="1200" spc="-30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spc="-10" b="0">
                <a:solidFill>
                  <a:srgbClr val="D3DCE4"/>
                </a:solidFill>
                <a:latin typeface="Montserrat"/>
                <a:cs typeface="Montserrat"/>
              </a:rPr>
              <a:t>team.</a:t>
            </a:r>
            <a:endParaRPr sz="1200">
              <a:latin typeface="Montserrat"/>
              <a:cs typeface="Montserrat"/>
            </a:endParaRPr>
          </a:p>
          <a:p>
            <a:pPr>
              <a:lnSpc>
                <a:spcPct val="100000"/>
              </a:lnSpc>
              <a:spcBef>
                <a:spcPts val="1220"/>
              </a:spcBef>
            </a:pPr>
            <a:endParaRPr sz="1200">
              <a:latin typeface="Montserrat"/>
              <a:cs typeface="Montserrat"/>
            </a:endParaRPr>
          </a:p>
          <a:p>
            <a:pPr marL="12700">
              <a:lnSpc>
                <a:spcPct val="100000"/>
              </a:lnSpc>
            </a:pPr>
            <a:r>
              <a:rPr dirty="0" spc="-10"/>
              <a:t>Policies</a:t>
            </a:r>
          </a:p>
          <a:p>
            <a:pPr marL="12700" marR="2099310">
              <a:lnSpc>
                <a:spcPct val="120000"/>
              </a:lnSpc>
              <a:spcBef>
                <a:spcPts val="715"/>
              </a:spcBef>
            </a:pPr>
            <a:r>
              <a:rPr dirty="0" sz="1200" b="0">
                <a:solidFill>
                  <a:srgbClr val="D3DCE4"/>
                </a:solidFill>
                <a:latin typeface="Montserrat"/>
                <a:cs typeface="Montserrat"/>
              </a:rPr>
              <a:t>Once</a:t>
            </a:r>
            <a:r>
              <a:rPr dirty="0" sz="1200" spc="-40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b="0">
                <a:solidFill>
                  <a:srgbClr val="D3DCE4"/>
                </a:solidFill>
                <a:latin typeface="Montserrat"/>
                <a:cs typeface="Montserrat"/>
              </a:rPr>
              <a:t>we</a:t>
            </a:r>
            <a:r>
              <a:rPr dirty="0" sz="1200" spc="-40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b="0">
                <a:solidFill>
                  <a:srgbClr val="D3DCE4"/>
                </a:solidFill>
                <a:latin typeface="Montserrat"/>
                <a:cs typeface="Montserrat"/>
              </a:rPr>
              <a:t>know</a:t>
            </a:r>
            <a:r>
              <a:rPr dirty="0" sz="1200" spc="-40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b="0">
                <a:solidFill>
                  <a:srgbClr val="D3DCE4"/>
                </a:solidFill>
                <a:latin typeface="Montserrat"/>
                <a:cs typeface="Montserrat"/>
              </a:rPr>
              <a:t>your</a:t>
            </a:r>
            <a:r>
              <a:rPr dirty="0" sz="1200" spc="-40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b="0">
                <a:solidFill>
                  <a:srgbClr val="D3DCE4"/>
                </a:solidFill>
                <a:latin typeface="Montserrat"/>
                <a:cs typeface="Montserrat"/>
              </a:rPr>
              <a:t>policies</a:t>
            </a:r>
            <a:r>
              <a:rPr dirty="0" sz="1200" spc="-40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b="0">
                <a:solidFill>
                  <a:srgbClr val="D3DCE4"/>
                </a:solidFill>
                <a:latin typeface="Montserrat"/>
                <a:cs typeface="Montserrat"/>
              </a:rPr>
              <a:t>we</a:t>
            </a:r>
            <a:r>
              <a:rPr dirty="0" sz="1200" spc="-35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b="0">
                <a:solidFill>
                  <a:srgbClr val="D3DCE4"/>
                </a:solidFill>
                <a:latin typeface="Montserrat"/>
                <a:cs typeface="Montserrat"/>
              </a:rPr>
              <a:t>ensure</a:t>
            </a:r>
            <a:r>
              <a:rPr dirty="0" sz="1200" spc="-40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b="0">
                <a:solidFill>
                  <a:srgbClr val="D3DCE4"/>
                </a:solidFill>
                <a:latin typeface="Montserrat"/>
                <a:cs typeface="Montserrat"/>
              </a:rPr>
              <a:t>our</a:t>
            </a:r>
            <a:r>
              <a:rPr dirty="0" sz="1200" spc="-40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b="0">
                <a:solidFill>
                  <a:srgbClr val="D3DCE4"/>
                </a:solidFill>
                <a:latin typeface="Montserrat"/>
                <a:cs typeface="Montserrat"/>
              </a:rPr>
              <a:t>team</a:t>
            </a:r>
            <a:r>
              <a:rPr dirty="0" sz="1200" spc="-40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b="0">
                <a:solidFill>
                  <a:srgbClr val="D3DCE4"/>
                </a:solidFill>
                <a:latin typeface="Montserrat"/>
                <a:cs typeface="Montserrat"/>
              </a:rPr>
              <a:t>understand</a:t>
            </a:r>
            <a:r>
              <a:rPr dirty="0" sz="1200" spc="-40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spc="-20" b="0">
                <a:solidFill>
                  <a:srgbClr val="D3DCE4"/>
                </a:solidFill>
                <a:latin typeface="Montserrat"/>
                <a:cs typeface="Montserrat"/>
              </a:rPr>
              <a:t>your </a:t>
            </a:r>
            <a:r>
              <a:rPr dirty="0" sz="1200" b="0">
                <a:solidFill>
                  <a:srgbClr val="D3DCE4"/>
                </a:solidFill>
                <a:latin typeface="Montserrat"/>
                <a:cs typeface="Montserrat"/>
              </a:rPr>
              <a:t>policies</a:t>
            </a:r>
            <a:r>
              <a:rPr dirty="0" sz="1200" spc="-30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b="0">
                <a:solidFill>
                  <a:srgbClr val="D3DCE4"/>
                </a:solidFill>
                <a:latin typeface="Montserrat"/>
                <a:cs typeface="Montserrat"/>
              </a:rPr>
              <a:t>and</a:t>
            </a:r>
            <a:r>
              <a:rPr dirty="0" sz="1200" spc="-30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spc="-10" b="0">
                <a:solidFill>
                  <a:srgbClr val="D3DCE4"/>
                </a:solidFill>
                <a:latin typeface="Montserrat"/>
                <a:cs typeface="Montserrat"/>
              </a:rPr>
              <a:t>acknowledges</a:t>
            </a:r>
            <a:r>
              <a:rPr dirty="0" sz="1200" spc="-30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b="0">
                <a:solidFill>
                  <a:srgbClr val="D3DCE4"/>
                </a:solidFill>
                <a:latin typeface="Montserrat"/>
                <a:cs typeface="Montserrat"/>
              </a:rPr>
              <a:t>their</a:t>
            </a:r>
            <a:r>
              <a:rPr dirty="0" sz="1200" spc="-25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b="0">
                <a:solidFill>
                  <a:srgbClr val="D3DCE4"/>
                </a:solidFill>
                <a:latin typeface="Montserrat"/>
                <a:cs typeface="Montserrat"/>
              </a:rPr>
              <a:t>understanding</a:t>
            </a:r>
            <a:r>
              <a:rPr dirty="0" sz="1200" spc="-30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b="0">
                <a:solidFill>
                  <a:srgbClr val="D3DCE4"/>
                </a:solidFill>
                <a:latin typeface="Montserrat"/>
                <a:cs typeface="Montserrat"/>
              </a:rPr>
              <a:t>through</a:t>
            </a:r>
            <a:r>
              <a:rPr dirty="0" sz="1200" spc="-30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b="0">
                <a:solidFill>
                  <a:srgbClr val="D3DCE4"/>
                </a:solidFill>
                <a:latin typeface="Montserrat"/>
                <a:cs typeface="Montserrat"/>
              </a:rPr>
              <a:t>the</a:t>
            </a:r>
            <a:r>
              <a:rPr dirty="0" sz="1200" spc="-30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spc="-10" b="0">
                <a:solidFill>
                  <a:srgbClr val="D3DCE4"/>
                </a:solidFill>
                <a:latin typeface="Montserrat"/>
                <a:cs typeface="Montserrat"/>
              </a:rPr>
              <a:t>NICEHR </a:t>
            </a:r>
            <a:r>
              <a:rPr dirty="0" sz="1200" b="0">
                <a:solidFill>
                  <a:srgbClr val="D3DCE4"/>
                </a:solidFill>
                <a:latin typeface="Montserrat"/>
                <a:cs typeface="Montserrat"/>
              </a:rPr>
              <a:t>group</a:t>
            </a:r>
            <a:r>
              <a:rPr dirty="0" sz="1200" spc="-35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spc="-10" b="0">
                <a:solidFill>
                  <a:srgbClr val="D3DCE4"/>
                </a:solidFill>
                <a:latin typeface="Montserrat"/>
                <a:cs typeface="Montserrat"/>
              </a:rPr>
              <a:t>training</a:t>
            </a:r>
            <a:r>
              <a:rPr dirty="0" sz="1200" spc="-30" b="0">
                <a:solidFill>
                  <a:srgbClr val="D3DCE4"/>
                </a:solidFill>
                <a:latin typeface="Montserrat"/>
                <a:cs typeface="Montserrat"/>
              </a:rPr>
              <a:t> </a:t>
            </a:r>
            <a:r>
              <a:rPr dirty="0" sz="1200" spc="-10" b="0">
                <a:solidFill>
                  <a:srgbClr val="D3DCE4"/>
                </a:solidFill>
                <a:latin typeface="Montserrat"/>
                <a:cs typeface="Montserrat"/>
              </a:rPr>
              <a:t>platform.</a:t>
            </a:r>
            <a:endParaRPr sz="1200">
              <a:latin typeface="Montserrat"/>
              <a:cs typeface="Montserrat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1018260" y="4315926"/>
            <a:ext cx="157480" cy="94615"/>
          </a:xfrm>
          <a:custGeom>
            <a:avLst/>
            <a:gdLst/>
            <a:ahLst/>
            <a:cxnLst/>
            <a:rect l="l" t="t" r="r" b="b"/>
            <a:pathLst>
              <a:path w="157480" h="94614">
                <a:moveTo>
                  <a:pt x="0" y="47243"/>
                </a:moveTo>
                <a:lnTo>
                  <a:pt x="64294" y="94487"/>
                </a:lnTo>
                <a:lnTo>
                  <a:pt x="157162" y="0"/>
                </a:lnTo>
              </a:path>
            </a:pathLst>
          </a:custGeom>
          <a:ln w="28574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 spc="-25"/>
              <a:t>13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43524" y="6009749"/>
            <a:ext cx="10297795" cy="848994"/>
          </a:xfrm>
          <a:custGeom>
            <a:avLst/>
            <a:gdLst/>
            <a:ahLst/>
            <a:cxnLst/>
            <a:rect l="l" t="t" r="r" b="b"/>
            <a:pathLst>
              <a:path w="10297795" h="848995">
                <a:moveTo>
                  <a:pt x="10297799" y="848399"/>
                </a:moveTo>
                <a:lnTo>
                  <a:pt x="0" y="848399"/>
                </a:lnTo>
                <a:lnTo>
                  <a:pt x="0" y="0"/>
                </a:lnTo>
                <a:lnTo>
                  <a:pt x="10297799" y="0"/>
                </a:lnTo>
                <a:lnTo>
                  <a:pt x="10297799" y="848399"/>
                </a:lnTo>
                <a:close/>
              </a:path>
            </a:pathLst>
          </a:custGeom>
          <a:solidFill>
            <a:srgbClr val="121A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5131074" y="639600"/>
            <a:ext cx="1930400" cy="1930400"/>
          </a:xfrm>
          <a:custGeom>
            <a:avLst/>
            <a:gdLst/>
            <a:ahLst/>
            <a:cxnLst/>
            <a:rect l="l" t="t" r="r" b="b"/>
            <a:pathLst>
              <a:path w="1930400" h="1930400">
                <a:moveTo>
                  <a:pt x="0" y="964949"/>
                </a:moveTo>
                <a:lnTo>
                  <a:pt x="1180" y="916789"/>
                </a:lnTo>
                <a:lnTo>
                  <a:pt x="4686" y="869239"/>
                </a:lnTo>
                <a:lnTo>
                  <a:pt x="10462" y="822356"/>
                </a:lnTo>
                <a:lnTo>
                  <a:pt x="18452" y="776195"/>
                </a:lnTo>
                <a:lnTo>
                  <a:pt x="28601" y="730811"/>
                </a:lnTo>
                <a:lnTo>
                  <a:pt x="40855" y="686259"/>
                </a:lnTo>
                <a:lnTo>
                  <a:pt x="55156" y="642595"/>
                </a:lnTo>
                <a:lnTo>
                  <a:pt x="71451" y="599874"/>
                </a:lnTo>
                <a:lnTo>
                  <a:pt x="89684" y="558151"/>
                </a:lnTo>
                <a:lnTo>
                  <a:pt x="109800" y="517481"/>
                </a:lnTo>
                <a:lnTo>
                  <a:pt x="131743" y="477921"/>
                </a:lnTo>
                <a:lnTo>
                  <a:pt x="155459" y="439524"/>
                </a:lnTo>
                <a:lnTo>
                  <a:pt x="180891" y="402347"/>
                </a:lnTo>
                <a:lnTo>
                  <a:pt x="207985" y="366444"/>
                </a:lnTo>
                <a:lnTo>
                  <a:pt x="236685" y="331871"/>
                </a:lnTo>
                <a:lnTo>
                  <a:pt x="266937" y="298684"/>
                </a:lnTo>
                <a:lnTo>
                  <a:pt x="298684" y="266937"/>
                </a:lnTo>
                <a:lnTo>
                  <a:pt x="331871" y="236685"/>
                </a:lnTo>
                <a:lnTo>
                  <a:pt x="366444" y="207985"/>
                </a:lnTo>
                <a:lnTo>
                  <a:pt x="402347" y="180891"/>
                </a:lnTo>
                <a:lnTo>
                  <a:pt x="439524" y="155459"/>
                </a:lnTo>
                <a:lnTo>
                  <a:pt x="477921" y="131743"/>
                </a:lnTo>
                <a:lnTo>
                  <a:pt x="517481" y="109800"/>
                </a:lnTo>
                <a:lnTo>
                  <a:pt x="558151" y="89684"/>
                </a:lnTo>
                <a:lnTo>
                  <a:pt x="599874" y="71451"/>
                </a:lnTo>
                <a:lnTo>
                  <a:pt x="642595" y="55156"/>
                </a:lnTo>
                <a:lnTo>
                  <a:pt x="686259" y="40855"/>
                </a:lnTo>
                <a:lnTo>
                  <a:pt x="730811" y="28601"/>
                </a:lnTo>
                <a:lnTo>
                  <a:pt x="776195" y="18452"/>
                </a:lnTo>
                <a:lnTo>
                  <a:pt x="822356" y="10462"/>
                </a:lnTo>
                <a:lnTo>
                  <a:pt x="869239" y="4686"/>
                </a:lnTo>
                <a:lnTo>
                  <a:pt x="916789" y="1180"/>
                </a:lnTo>
                <a:lnTo>
                  <a:pt x="964949" y="0"/>
                </a:lnTo>
                <a:lnTo>
                  <a:pt x="1015978" y="1348"/>
                </a:lnTo>
                <a:lnTo>
                  <a:pt x="1066631" y="5369"/>
                </a:lnTo>
                <a:lnTo>
                  <a:pt x="1116812" y="12020"/>
                </a:lnTo>
                <a:lnTo>
                  <a:pt x="1166426" y="21264"/>
                </a:lnTo>
                <a:lnTo>
                  <a:pt x="1215376" y="33059"/>
                </a:lnTo>
                <a:lnTo>
                  <a:pt x="1263567" y="47367"/>
                </a:lnTo>
                <a:lnTo>
                  <a:pt x="1310903" y="64147"/>
                </a:lnTo>
                <a:lnTo>
                  <a:pt x="1357287" y="83360"/>
                </a:lnTo>
                <a:lnTo>
                  <a:pt x="1402624" y="104966"/>
                </a:lnTo>
                <a:lnTo>
                  <a:pt x="1446817" y="128925"/>
                </a:lnTo>
                <a:lnTo>
                  <a:pt x="1489771" y="155197"/>
                </a:lnTo>
                <a:lnTo>
                  <a:pt x="1531389" y="183744"/>
                </a:lnTo>
                <a:lnTo>
                  <a:pt x="1571576" y="214524"/>
                </a:lnTo>
                <a:lnTo>
                  <a:pt x="1610236" y="247498"/>
                </a:lnTo>
                <a:lnTo>
                  <a:pt x="1647272" y="282627"/>
                </a:lnTo>
                <a:lnTo>
                  <a:pt x="1682401" y="319663"/>
                </a:lnTo>
                <a:lnTo>
                  <a:pt x="1715375" y="358323"/>
                </a:lnTo>
                <a:lnTo>
                  <a:pt x="1746155" y="398510"/>
                </a:lnTo>
                <a:lnTo>
                  <a:pt x="1774701" y="440128"/>
                </a:lnTo>
                <a:lnTo>
                  <a:pt x="1800974" y="483082"/>
                </a:lnTo>
                <a:lnTo>
                  <a:pt x="1824933" y="527275"/>
                </a:lnTo>
                <a:lnTo>
                  <a:pt x="1846539" y="572612"/>
                </a:lnTo>
                <a:lnTo>
                  <a:pt x="1865752" y="618996"/>
                </a:lnTo>
                <a:lnTo>
                  <a:pt x="1882532" y="666332"/>
                </a:lnTo>
                <a:lnTo>
                  <a:pt x="1896840" y="714523"/>
                </a:lnTo>
                <a:lnTo>
                  <a:pt x="1908635" y="763473"/>
                </a:lnTo>
                <a:lnTo>
                  <a:pt x="1917879" y="813087"/>
                </a:lnTo>
                <a:lnTo>
                  <a:pt x="1924530" y="863268"/>
                </a:lnTo>
                <a:lnTo>
                  <a:pt x="1928551" y="913921"/>
                </a:lnTo>
                <a:lnTo>
                  <a:pt x="1929899" y="964949"/>
                </a:lnTo>
                <a:lnTo>
                  <a:pt x="1928719" y="1013110"/>
                </a:lnTo>
                <a:lnTo>
                  <a:pt x="1925213" y="1060660"/>
                </a:lnTo>
                <a:lnTo>
                  <a:pt x="1919437" y="1107543"/>
                </a:lnTo>
                <a:lnTo>
                  <a:pt x="1911447" y="1153704"/>
                </a:lnTo>
                <a:lnTo>
                  <a:pt x="1901298" y="1199088"/>
                </a:lnTo>
                <a:lnTo>
                  <a:pt x="1889044" y="1243640"/>
                </a:lnTo>
                <a:lnTo>
                  <a:pt x="1874743" y="1287304"/>
                </a:lnTo>
                <a:lnTo>
                  <a:pt x="1858448" y="1330025"/>
                </a:lnTo>
                <a:lnTo>
                  <a:pt x="1840215" y="1371748"/>
                </a:lnTo>
                <a:lnTo>
                  <a:pt x="1820099" y="1412418"/>
                </a:lnTo>
                <a:lnTo>
                  <a:pt x="1798156" y="1451978"/>
                </a:lnTo>
                <a:lnTo>
                  <a:pt x="1774440" y="1490375"/>
                </a:lnTo>
                <a:lnTo>
                  <a:pt x="1749008" y="1527552"/>
                </a:lnTo>
                <a:lnTo>
                  <a:pt x="1721914" y="1563455"/>
                </a:lnTo>
                <a:lnTo>
                  <a:pt x="1693214" y="1598028"/>
                </a:lnTo>
                <a:lnTo>
                  <a:pt x="1662962" y="1631215"/>
                </a:lnTo>
                <a:lnTo>
                  <a:pt x="1631215" y="1662962"/>
                </a:lnTo>
                <a:lnTo>
                  <a:pt x="1598028" y="1693214"/>
                </a:lnTo>
                <a:lnTo>
                  <a:pt x="1563455" y="1721914"/>
                </a:lnTo>
                <a:lnTo>
                  <a:pt x="1527552" y="1749008"/>
                </a:lnTo>
                <a:lnTo>
                  <a:pt x="1490375" y="1774440"/>
                </a:lnTo>
                <a:lnTo>
                  <a:pt x="1451978" y="1798156"/>
                </a:lnTo>
                <a:lnTo>
                  <a:pt x="1412418" y="1820099"/>
                </a:lnTo>
                <a:lnTo>
                  <a:pt x="1371748" y="1840215"/>
                </a:lnTo>
                <a:lnTo>
                  <a:pt x="1330025" y="1858448"/>
                </a:lnTo>
                <a:lnTo>
                  <a:pt x="1287304" y="1874743"/>
                </a:lnTo>
                <a:lnTo>
                  <a:pt x="1243640" y="1889044"/>
                </a:lnTo>
                <a:lnTo>
                  <a:pt x="1199088" y="1901298"/>
                </a:lnTo>
                <a:lnTo>
                  <a:pt x="1153704" y="1911447"/>
                </a:lnTo>
                <a:lnTo>
                  <a:pt x="1107543" y="1919437"/>
                </a:lnTo>
                <a:lnTo>
                  <a:pt x="1060660" y="1925213"/>
                </a:lnTo>
                <a:lnTo>
                  <a:pt x="1013110" y="1928719"/>
                </a:lnTo>
                <a:lnTo>
                  <a:pt x="964949" y="1929899"/>
                </a:lnTo>
                <a:lnTo>
                  <a:pt x="916789" y="1928719"/>
                </a:lnTo>
                <a:lnTo>
                  <a:pt x="869239" y="1925213"/>
                </a:lnTo>
                <a:lnTo>
                  <a:pt x="822356" y="1919437"/>
                </a:lnTo>
                <a:lnTo>
                  <a:pt x="776195" y="1911447"/>
                </a:lnTo>
                <a:lnTo>
                  <a:pt x="730811" y="1901298"/>
                </a:lnTo>
                <a:lnTo>
                  <a:pt x="686259" y="1889044"/>
                </a:lnTo>
                <a:lnTo>
                  <a:pt x="642595" y="1874743"/>
                </a:lnTo>
                <a:lnTo>
                  <a:pt x="599874" y="1858448"/>
                </a:lnTo>
                <a:lnTo>
                  <a:pt x="558151" y="1840215"/>
                </a:lnTo>
                <a:lnTo>
                  <a:pt x="517481" y="1820099"/>
                </a:lnTo>
                <a:lnTo>
                  <a:pt x="477921" y="1798156"/>
                </a:lnTo>
                <a:lnTo>
                  <a:pt x="439524" y="1774440"/>
                </a:lnTo>
                <a:lnTo>
                  <a:pt x="402347" y="1749008"/>
                </a:lnTo>
                <a:lnTo>
                  <a:pt x="366444" y="1721914"/>
                </a:lnTo>
                <a:lnTo>
                  <a:pt x="331871" y="1693214"/>
                </a:lnTo>
                <a:lnTo>
                  <a:pt x="298684" y="1662962"/>
                </a:lnTo>
                <a:lnTo>
                  <a:pt x="266937" y="1631215"/>
                </a:lnTo>
                <a:lnTo>
                  <a:pt x="236685" y="1598028"/>
                </a:lnTo>
                <a:lnTo>
                  <a:pt x="207985" y="1563455"/>
                </a:lnTo>
                <a:lnTo>
                  <a:pt x="180891" y="1527552"/>
                </a:lnTo>
                <a:lnTo>
                  <a:pt x="155459" y="1490375"/>
                </a:lnTo>
                <a:lnTo>
                  <a:pt x="131743" y="1451978"/>
                </a:lnTo>
                <a:lnTo>
                  <a:pt x="109800" y="1412418"/>
                </a:lnTo>
                <a:lnTo>
                  <a:pt x="89684" y="1371748"/>
                </a:lnTo>
                <a:lnTo>
                  <a:pt x="71451" y="1330025"/>
                </a:lnTo>
                <a:lnTo>
                  <a:pt x="55156" y="1287304"/>
                </a:lnTo>
                <a:lnTo>
                  <a:pt x="40855" y="1243640"/>
                </a:lnTo>
                <a:lnTo>
                  <a:pt x="28601" y="1199088"/>
                </a:lnTo>
                <a:lnTo>
                  <a:pt x="18452" y="1153704"/>
                </a:lnTo>
                <a:lnTo>
                  <a:pt x="10462" y="1107543"/>
                </a:lnTo>
                <a:lnTo>
                  <a:pt x="4686" y="1060660"/>
                </a:lnTo>
                <a:lnTo>
                  <a:pt x="1180" y="1013110"/>
                </a:lnTo>
                <a:lnTo>
                  <a:pt x="0" y="964949"/>
                </a:lnTo>
                <a:close/>
              </a:path>
            </a:pathLst>
          </a:custGeom>
          <a:ln w="9524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363098" y="1445527"/>
            <a:ext cx="146621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/>
              <a:t>THANK</a:t>
            </a:r>
            <a:r>
              <a:rPr dirty="0" sz="1800" spc="-5"/>
              <a:t> </a:t>
            </a:r>
            <a:r>
              <a:rPr dirty="0" sz="1800" spc="-25"/>
              <a:t>YOU</a:t>
            </a:r>
            <a:endParaRPr sz="1800"/>
          </a:p>
        </p:txBody>
      </p:sp>
      <p:sp>
        <p:nvSpPr>
          <p:cNvPr id="5" name="object 5" descr=""/>
          <p:cNvSpPr txBox="1"/>
          <p:nvPr/>
        </p:nvSpPr>
        <p:spPr>
          <a:xfrm>
            <a:off x="5065523" y="4427226"/>
            <a:ext cx="206248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1E968E"/>
                </a:solidFill>
                <a:latin typeface="Montserrat"/>
                <a:cs typeface="Montserrat"/>
              </a:rPr>
              <a:t>TheNICEHRGroup.com</a:t>
            </a:r>
            <a:endParaRPr sz="1400">
              <a:latin typeface="Montserrat"/>
              <a:cs typeface="Montserrat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50610" y="3049313"/>
            <a:ext cx="2290778" cy="483899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2536375" y="3835003"/>
            <a:ext cx="53594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66165" algn="l"/>
                <a:tab pos="2471420" algn="l"/>
                <a:tab pos="3888104" algn="l"/>
                <a:tab pos="4283710" algn="l"/>
              </a:tabLst>
            </a:pP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N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A</a:t>
            </a:r>
            <a:r>
              <a:rPr dirty="0" sz="900" spc="-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T</a:t>
            </a:r>
            <a:r>
              <a:rPr dirty="0" sz="900" spc="-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I</a:t>
            </a:r>
            <a:r>
              <a:rPr dirty="0" sz="900" spc="-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O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N</a:t>
            </a:r>
            <a:r>
              <a:rPr dirty="0" sz="900" spc="-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A</a:t>
            </a:r>
            <a:r>
              <a:rPr dirty="0" sz="900" spc="-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spc="-50" b="1">
                <a:solidFill>
                  <a:srgbClr val="FFFFFF"/>
                </a:solidFill>
                <a:latin typeface="Montserrat"/>
                <a:cs typeface="Montserrat"/>
              </a:rPr>
              <a:t>L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	I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N</a:t>
            </a:r>
            <a:r>
              <a:rPr dirty="0" sz="900" spc="-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D</a:t>
            </a:r>
            <a:r>
              <a:rPr dirty="0" sz="900" spc="-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E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P</a:t>
            </a:r>
            <a:r>
              <a:rPr dirty="0" sz="900" spc="-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E</a:t>
            </a:r>
            <a:r>
              <a:rPr dirty="0" sz="900" spc="-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N</a:t>
            </a:r>
            <a:r>
              <a:rPr dirty="0" sz="900" spc="-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D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E</a:t>
            </a:r>
            <a:r>
              <a:rPr dirty="0" sz="900" spc="-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N</a:t>
            </a:r>
            <a:r>
              <a:rPr dirty="0" sz="900" spc="-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spc="-50" b="1">
                <a:solidFill>
                  <a:srgbClr val="FFFFFF"/>
                </a:solidFill>
                <a:latin typeface="Montserrat"/>
                <a:cs typeface="Montserrat"/>
              </a:rPr>
              <a:t>T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	C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O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N</a:t>
            </a:r>
            <a:r>
              <a:rPr dirty="0" sz="900" spc="-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S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U</a:t>
            </a:r>
            <a:r>
              <a:rPr dirty="0" sz="900" spc="-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L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T</a:t>
            </a:r>
            <a:r>
              <a:rPr dirty="0" sz="900" spc="-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A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N</a:t>
            </a:r>
            <a:r>
              <a:rPr dirty="0" sz="900" spc="-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T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spc="-50" b="1">
                <a:solidFill>
                  <a:srgbClr val="FFFFFF"/>
                </a:solidFill>
                <a:latin typeface="Montserrat"/>
                <a:cs typeface="Montserrat"/>
              </a:rPr>
              <a:t>S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	O</a:t>
            </a:r>
            <a:r>
              <a:rPr dirty="0" sz="900" spc="-1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spc="-50" b="1">
                <a:solidFill>
                  <a:srgbClr val="FFFFFF"/>
                </a:solidFill>
                <a:latin typeface="Montserrat"/>
                <a:cs typeface="Montserrat"/>
              </a:rPr>
              <a:t>F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	E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L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E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C</a:t>
            </a:r>
            <a:r>
              <a:rPr dirty="0" sz="900" spc="-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T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R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O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N</a:t>
            </a:r>
            <a:r>
              <a:rPr dirty="0" sz="900" spc="-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I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spc="-50" b="1">
                <a:solidFill>
                  <a:srgbClr val="FFFFFF"/>
                </a:solidFill>
                <a:latin typeface="Montserrat"/>
                <a:cs typeface="Montserrat"/>
              </a:rPr>
              <a:t>C</a:t>
            </a:r>
            <a:endParaRPr sz="900">
              <a:latin typeface="Montserrat"/>
              <a:cs typeface="Montserra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8031691" y="3835003"/>
            <a:ext cx="6762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H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E</a:t>
            </a:r>
            <a:r>
              <a:rPr dirty="0" sz="900" spc="-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A</a:t>
            </a:r>
            <a:r>
              <a:rPr dirty="0" sz="900" spc="-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L</a:t>
            </a:r>
            <a:r>
              <a:rPr dirty="0" sz="900" spc="-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T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spc="-50" b="1">
                <a:solidFill>
                  <a:srgbClr val="FFFFFF"/>
                </a:solidFill>
                <a:latin typeface="Montserrat"/>
                <a:cs typeface="Montserrat"/>
              </a:rPr>
              <a:t>H</a:t>
            </a:r>
            <a:endParaRPr sz="900">
              <a:latin typeface="Montserrat"/>
              <a:cs typeface="Montserra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8843792" y="3835003"/>
            <a:ext cx="81216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R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E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C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O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R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b="1">
                <a:solidFill>
                  <a:srgbClr val="FFFFFF"/>
                </a:solidFill>
                <a:latin typeface="Montserrat"/>
                <a:cs typeface="Montserrat"/>
              </a:rPr>
              <a:t>D</a:t>
            </a:r>
            <a:r>
              <a:rPr dirty="0" sz="9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900" spc="-50" b="1">
                <a:solidFill>
                  <a:srgbClr val="FFFFFF"/>
                </a:solidFill>
                <a:latin typeface="Montserrat"/>
                <a:cs typeface="Montserrat"/>
              </a:rPr>
              <a:t>S</a:t>
            </a:r>
            <a:endParaRPr sz="900">
              <a:latin typeface="Montserrat"/>
              <a:cs typeface="Montserrat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1016549" y="4285129"/>
            <a:ext cx="10159365" cy="9525"/>
          </a:xfrm>
          <a:custGeom>
            <a:avLst/>
            <a:gdLst/>
            <a:ahLst/>
            <a:cxnLst/>
            <a:rect l="l" t="t" r="r" b="b"/>
            <a:pathLst>
              <a:path w="10159365" h="9525">
                <a:moveTo>
                  <a:pt x="10158899" y="8999"/>
                </a:moveTo>
                <a:lnTo>
                  <a:pt x="0" y="8999"/>
                </a:lnTo>
                <a:lnTo>
                  <a:pt x="0" y="0"/>
                </a:lnTo>
                <a:lnTo>
                  <a:pt x="10158899" y="0"/>
                </a:lnTo>
                <a:lnTo>
                  <a:pt x="10158899" y="8999"/>
                </a:lnTo>
                <a:close/>
              </a:path>
            </a:pathLst>
          </a:custGeom>
          <a:solidFill>
            <a:srgbClr val="5EB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 spc="-25"/>
              <a:t>13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TNGSalesPresentation2.pptx</dc:title>
  <dcterms:created xsi:type="dcterms:W3CDTF">2024-10-26T19:26:29Z</dcterms:created>
  <dcterms:modified xsi:type="dcterms:W3CDTF">2024-10-26T19:26:29Z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2024-10-26T00:00:00Z</vt:filetime>
  </property>
  <property fmtid="{D5CDD505-2E9C-101B-9397-08002B2CF9AE}" pid="3" name="Creator">
    <vt:lpwstr>Google</vt:lpwstr>
  </property>
  <property fmtid="{D5CDD505-2E9C-101B-9397-08002B2CF9AE}" pid="4" name="LastSaved">
    <vt:filetime>2024-10-26T00:00:00Z</vt:filetime>
  </property>
</Properties>
</file>