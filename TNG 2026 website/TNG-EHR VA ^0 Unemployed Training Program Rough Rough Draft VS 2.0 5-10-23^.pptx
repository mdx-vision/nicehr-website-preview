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74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56413" y="2078228"/>
            <a:ext cx="7029450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7C97B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7C97B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657726" y="0"/>
            <a:ext cx="1534795" cy="400685"/>
          </a:xfrm>
          <a:custGeom>
            <a:avLst/>
            <a:gdLst/>
            <a:ahLst/>
            <a:cxnLst/>
            <a:rect l="l" t="t" r="r" b="b"/>
            <a:pathLst>
              <a:path w="1534795" h="400685">
                <a:moveTo>
                  <a:pt x="1534273" y="0"/>
                </a:moveTo>
                <a:lnTo>
                  <a:pt x="0" y="0"/>
                </a:lnTo>
                <a:lnTo>
                  <a:pt x="0" y="400109"/>
                </a:lnTo>
                <a:lnTo>
                  <a:pt x="1534273" y="400109"/>
                </a:lnTo>
                <a:lnTo>
                  <a:pt x="1534273" y="0"/>
                </a:lnTo>
                <a:close/>
              </a:path>
            </a:pathLst>
          </a:custGeom>
          <a:solidFill>
            <a:srgbClr val="5EB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64488" y="19811"/>
            <a:ext cx="92075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8062" y="1107947"/>
            <a:ext cx="9000490" cy="3930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7C97B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977188" y="40639"/>
            <a:ext cx="895350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35"/>
              </a:lnSpc>
            </a:pPr>
            <a:r>
              <a:rPr sz="2000" spc="-20" dirty="0">
                <a:solidFill>
                  <a:srgbClr val="FFFFFF"/>
                </a:solidFill>
                <a:latin typeface="Montserrat"/>
                <a:cs typeface="Montserrat"/>
              </a:rPr>
              <a:t>Forade</a:t>
            </a:r>
            <a:endParaRPr sz="2000">
              <a:latin typeface="Montserrat"/>
              <a:cs typeface="Montserra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034980"/>
            <a:ext cx="12192000" cy="2823210"/>
          </a:xfrm>
          <a:custGeom>
            <a:avLst/>
            <a:gdLst/>
            <a:ahLst/>
            <a:cxnLst/>
            <a:rect l="l" t="t" r="r" b="b"/>
            <a:pathLst>
              <a:path w="12192000" h="2823209">
                <a:moveTo>
                  <a:pt x="12192000" y="0"/>
                </a:moveTo>
                <a:lnTo>
                  <a:pt x="6051080" y="1929574"/>
                </a:lnTo>
                <a:lnTo>
                  <a:pt x="0" y="28219"/>
                </a:lnTo>
                <a:lnTo>
                  <a:pt x="0" y="2823019"/>
                </a:lnTo>
                <a:lnTo>
                  <a:pt x="3207651" y="2823019"/>
                </a:lnTo>
                <a:lnTo>
                  <a:pt x="8894521" y="2823019"/>
                </a:lnTo>
                <a:lnTo>
                  <a:pt x="12192000" y="2823019"/>
                </a:lnTo>
                <a:lnTo>
                  <a:pt x="12192000" y="0"/>
                </a:lnTo>
                <a:close/>
              </a:path>
            </a:pathLst>
          </a:custGeom>
          <a:solidFill>
            <a:srgbClr val="38D7CD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2364" y="2102656"/>
            <a:ext cx="6553198" cy="13843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723944" y="3535679"/>
            <a:ext cx="6591300" cy="58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spc="-180" dirty="0">
                <a:solidFill>
                  <a:srgbClr val="FFFFFF"/>
                </a:solidFill>
                <a:latin typeface="Arial"/>
                <a:cs typeface="Arial"/>
              </a:rPr>
              <a:t>NATIONAL</a:t>
            </a:r>
            <a:r>
              <a:rPr sz="17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210" dirty="0">
                <a:solidFill>
                  <a:srgbClr val="FFFFFF"/>
                </a:solidFill>
                <a:latin typeface="Arial"/>
                <a:cs typeface="Arial"/>
              </a:rPr>
              <a:t>INDEPENDENT</a:t>
            </a:r>
            <a:r>
              <a:rPr sz="17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260" dirty="0">
                <a:solidFill>
                  <a:srgbClr val="FFFFFF"/>
                </a:solidFill>
                <a:latin typeface="Arial"/>
                <a:cs typeface="Arial"/>
              </a:rPr>
              <a:t>CONSULTANTS</a:t>
            </a:r>
            <a:r>
              <a:rPr sz="17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23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7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250" dirty="0">
                <a:solidFill>
                  <a:srgbClr val="FFFFFF"/>
                </a:solidFill>
                <a:latin typeface="Arial"/>
                <a:cs typeface="Arial"/>
              </a:rPr>
              <a:t>ELECTRONIC</a:t>
            </a:r>
            <a:r>
              <a:rPr sz="17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240" dirty="0">
                <a:solidFill>
                  <a:srgbClr val="FFFFFF"/>
                </a:solidFill>
                <a:latin typeface="Arial"/>
                <a:cs typeface="Arial"/>
              </a:rPr>
              <a:t>HEALTH</a:t>
            </a:r>
            <a:r>
              <a:rPr sz="17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700" spc="-305" dirty="0">
                <a:solidFill>
                  <a:srgbClr val="FFFFFF"/>
                </a:solidFill>
                <a:latin typeface="Arial"/>
                <a:cs typeface="Arial"/>
              </a:rPr>
              <a:t>RECORDS</a:t>
            </a:r>
            <a:endParaRPr sz="1700">
              <a:latin typeface="Arial"/>
              <a:cs typeface="Arial"/>
            </a:endParaRPr>
          </a:p>
          <a:p>
            <a:pPr marL="58419" algn="ctr">
              <a:lnSpc>
                <a:spcPct val="100000"/>
              </a:lnSpc>
              <a:spcBef>
                <a:spcPts val="955"/>
              </a:spcBef>
            </a:pPr>
            <a:r>
              <a:rPr sz="1200" b="1" spc="-175" dirty="0">
                <a:solidFill>
                  <a:srgbClr val="FFFFFF"/>
                </a:solidFill>
                <a:latin typeface="Arial"/>
                <a:cs typeface="Arial"/>
              </a:rPr>
              <a:t>CONSULTANT</a:t>
            </a:r>
            <a:r>
              <a:rPr sz="12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30" dirty="0">
                <a:solidFill>
                  <a:srgbClr val="FFFFFF"/>
                </a:solidFill>
                <a:latin typeface="Arial"/>
                <a:cs typeface="Arial"/>
              </a:rPr>
              <a:t>OWNED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85" dirty="0">
                <a:solidFill>
                  <a:srgbClr val="FFFFFF"/>
                </a:solidFill>
                <a:latin typeface="Arial"/>
                <a:cs typeface="Arial"/>
              </a:rPr>
              <a:t>OPERATED</a:t>
            </a:r>
            <a:r>
              <a:rPr sz="12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NETWORK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515600" y="0"/>
            <a:ext cx="1676400" cy="400685"/>
          </a:xfrm>
          <a:custGeom>
            <a:avLst/>
            <a:gdLst/>
            <a:ahLst/>
            <a:cxnLst/>
            <a:rect l="l" t="t" r="r" b="b"/>
            <a:pathLst>
              <a:path w="1676400" h="400685">
                <a:moveTo>
                  <a:pt x="1676400" y="0"/>
                </a:moveTo>
                <a:lnTo>
                  <a:pt x="0" y="0"/>
                </a:lnTo>
                <a:lnTo>
                  <a:pt x="0" y="400109"/>
                </a:lnTo>
                <a:lnTo>
                  <a:pt x="1676400" y="400109"/>
                </a:lnTo>
                <a:lnTo>
                  <a:pt x="1676400" y="0"/>
                </a:lnTo>
                <a:close/>
              </a:path>
            </a:pathLst>
          </a:custGeom>
          <a:solidFill>
            <a:srgbClr val="5EB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828337" y="19811"/>
            <a:ext cx="10502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NICEHR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64488" y="19811"/>
            <a:ext cx="107511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spc="-10" dirty="0">
                <a:solidFill>
                  <a:srgbClr val="FFFFFF"/>
                </a:solidFill>
                <a:latin typeface="Montserrat"/>
                <a:cs typeface="Montserrat"/>
              </a:rPr>
              <a:t>NICEHR</a:t>
            </a:r>
            <a:endParaRPr sz="2000" dirty="0">
              <a:latin typeface="Montserrat"/>
              <a:cs typeface="Montserra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4501" y="3196844"/>
            <a:ext cx="107664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0" dirty="0">
                <a:solidFill>
                  <a:srgbClr val="D3DCE6"/>
                </a:solidFill>
                <a:latin typeface="Arial"/>
                <a:cs typeface="Arial"/>
              </a:rPr>
              <a:t>Training</a:t>
            </a:r>
            <a:r>
              <a:rPr sz="3600" spc="-15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3600" spc="-185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3600" spc="-16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3600" spc="-225" dirty="0">
                <a:solidFill>
                  <a:srgbClr val="D3DCE6"/>
                </a:solidFill>
                <a:latin typeface="Arial"/>
                <a:cs typeface="Arial"/>
              </a:rPr>
              <a:t>Placing</a:t>
            </a:r>
            <a:r>
              <a:rPr sz="3600" spc="-15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3600" spc="-215" dirty="0">
                <a:solidFill>
                  <a:srgbClr val="D3DCE6"/>
                </a:solidFill>
                <a:latin typeface="Arial"/>
                <a:cs typeface="Arial"/>
              </a:rPr>
              <a:t>Veterans</a:t>
            </a:r>
            <a:r>
              <a:rPr sz="3600" spc="-15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3600" spc="-185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3600" spc="-16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3600" spc="-165" dirty="0">
                <a:solidFill>
                  <a:srgbClr val="D3DCE6"/>
                </a:solidFill>
                <a:latin typeface="Arial"/>
                <a:cs typeface="Arial"/>
              </a:rPr>
              <a:t>Unemployed</a:t>
            </a:r>
            <a:r>
              <a:rPr sz="3600" spc="-16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3600" spc="-145" dirty="0">
                <a:solidFill>
                  <a:srgbClr val="D3DCE6"/>
                </a:solidFill>
                <a:latin typeface="Arial"/>
                <a:cs typeface="Arial"/>
              </a:rPr>
              <a:t>Americans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30" dirty="0">
                <a:solidFill>
                  <a:srgbClr val="7C97B3"/>
                </a:solidFill>
                <a:latin typeface="Montserrat"/>
                <a:cs typeface="Montserrat"/>
              </a:rPr>
              <a:t>NIC</a:t>
            </a:r>
            <a:r>
              <a:rPr sz="5400" b="1" dirty="0">
                <a:solidFill>
                  <a:srgbClr val="7C97B3"/>
                </a:solidFill>
                <a:latin typeface="Montserrat"/>
                <a:cs typeface="Montserrat"/>
              </a:rPr>
              <a:t>EHR</a:t>
            </a:r>
            <a:r>
              <a:rPr sz="5400" b="1" spc="-90" dirty="0">
                <a:solidFill>
                  <a:srgbClr val="7C97B3"/>
                </a:solidFill>
                <a:latin typeface="Montserrat"/>
                <a:cs typeface="Montserrat"/>
              </a:rPr>
              <a:t> </a:t>
            </a:r>
            <a:r>
              <a:rPr sz="5400" b="1" spc="-10" dirty="0">
                <a:solidFill>
                  <a:srgbClr val="7C97B3"/>
                </a:solidFill>
                <a:latin typeface="Montserrat"/>
                <a:cs typeface="Montserrat"/>
              </a:rPr>
              <a:t>Bootcamp</a:t>
            </a:r>
            <a:endParaRPr sz="5400" dirty="0">
              <a:latin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64488" y="19811"/>
            <a:ext cx="107511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NICEHR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15"/>
              </a:lnSpc>
              <a:spcBef>
                <a:spcPts val="100"/>
              </a:spcBef>
            </a:pPr>
            <a:r>
              <a:rPr spc="-185" dirty="0"/>
              <a:t>Introduction</a:t>
            </a:r>
            <a:r>
              <a:rPr spc="-160" dirty="0"/>
              <a:t> </a:t>
            </a:r>
            <a:r>
              <a:rPr spc="-120" dirty="0"/>
              <a:t>to</a:t>
            </a:r>
            <a:r>
              <a:rPr spc="-150" dirty="0"/>
              <a:t> </a:t>
            </a:r>
            <a:r>
              <a:rPr spc="-270" dirty="0"/>
              <a:t>The</a:t>
            </a:r>
            <a:r>
              <a:rPr spc="-155" dirty="0"/>
              <a:t> </a:t>
            </a:r>
            <a:r>
              <a:rPr spc="-380" dirty="0"/>
              <a:t>NICEHR</a:t>
            </a:r>
            <a:r>
              <a:rPr spc="-155" dirty="0"/>
              <a:t> </a:t>
            </a:r>
            <a:r>
              <a:rPr spc="-300" dirty="0"/>
              <a:t>Group</a:t>
            </a:r>
          </a:p>
          <a:p>
            <a:pPr marL="12700" marR="189865">
              <a:lnSpc>
                <a:spcPts val="3910"/>
              </a:lnSpc>
              <a:spcBef>
                <a:spcPts val="45"/>
              </a:spcBef>
            </a:pPr>
            <a:r>
              <a:rPr spc="-470" dirty="0"/>
              <a:t>EHR</a:t>
            </a:r>
            <a:r>
              <a:rPr spc="-155" dirty="0"/>
              <a:t> </a:t>
            </a:r>
            <a:r>
              <a:rPr spc="-270" dirty="0"/>
              <a:t>Bootcamp:</a:t>
            </a:r>
            <a:r>
              <a:rPr spc="-145" dirty="0"/>
              <a:t> </a:t>
            </a:r>
            <a:r>
              <a:rPr spc="-270" dirty="0"/>
              <a:t>Training</a:t>
            </a:r>
            <a:r>
              <a:rPr spc="-150" dirty="0"/>
              <a:t> </a:t>
            </a:r>
            <a:r>
              <a:rPr spc="-250" dirty="0"/>
              <a:t>and</a:t>
            </a:r>
            <a:r>
              <a:rPr spc="-155" dirty="0"/>
              <a:t> </a:t>
            </a:r>
            <a:r>
              <a:rPr spc="-235" dirty="0"/>
              <a:t>Placement</a:t>
            </a:r>
            <a:r>
              <a:rPr spc="-145" dirty="0"/>
              <a:t> </a:t>
            </a:r>
            <a:r>
              <a:rPr spc="-150" dirty="0"/>
              <a:t>for </a:t>
            </a:r>
            <a:r>
              <a:rPr spc="-195" dirty="0"/>
              <a:t>Veterans </a:t>
            </a:r>
            <a:r>
              <a:rPr spc="-240" dirty="0"/>
              <a:t>and</a:t>
            </a:r>
            <a:r>
              <a:rPr spc="-135" dirty="0"/>
              <a:t> </a:t>
            </a:r>
            <a:r>
              <a:rPr spc="-229" dirty="0"/>
              <a:t>Unemployed</a:t>
            </a:r>
            <a:r>
              <a:rPr spc="-135" dirty="0"/>
              <a:t> </a:t>
            </a:r>
            <a:r>
              <a:rPr spc="-295" dirty="0"/>
              <a:t>Americans</a:t>
            </a:r>
          </a:p>
          <a:p>
            <a:pPr marL="12700">
              <a:lnSpc>
                <a:spcPts val="3650"/>
              </a:lnSpc>
            </a:pPr>
            <a:r>
              <a:rPr spc="-220" dirty="0"/>
              <a:t>Partnering</a:t>
            </a:r>
            <a:r>
              <a:rPr spc="-135" dirty="0"/>
              <a:t> </a:t>
            </a:r>
            <a:r>
              <a:rPr spc="-120" dirty="0"/>
              <a:t>with</a:t>
            </a:r>
            <a:r>
              <a:rPr spc="-135" dirty="0"/>
              <a:t> </a:t>
            </a:r>
            <a:r>
              <a:rPr spc="-250" dirty="0"/>
              <a:t>Electronic</a:t>
            </a:r>
            <a:r>
              <a:rPr spc="-135" dirty="0"/>
              <a:t> </a:t>
            </a:r>
            <a:r>
              <a:rPr spc="-175" dirty="0"/>
              <a:t>Health</a:t>
            </a:r>
            <a:r>
              <a:rPr spc="-135" dirty="0"/>
              <a:t> </a:t>
            </a:r>
            <a:r>
              <a:rPr spc="-345" dirty="0"/>
              <a:t>Records</a:t>
            </a:r>
            <a:r>
              <a:rPr spc="-135" dirty="0"/>
              <a:t> </a:t>
            </a:r>
            <a:r>
              <a:rPr spc="-305" dirty="0"/>
              <a:t>Companies</a:t>
            </a:r>
          </a:p>
          <a:p>
            <a:pPr marL="12700" marR="1081405">
              <a:lnSpc>
                <a:spcPts val="3820"/>
              </a:lnSpc>
              <a:spcBef>
                <a:spcPts val="195"/>
              </a:spcBef>
            </a:pPr>
            <a:r>
              <a:rPr spc="-225" dirty="0"/>
              <a:t>Benefits</a:t>
            </a:r>
            <a:r>
              <a:rPr spc="-155" dirty="0"/>
              <a:t> </a:t>
            </a:r>
            <a:r>
              <a:rPr spc="-160" dirty="0"/>
              <a:t>of</a:t>
            </a:r>
            <a:r>
              <a:rPr spc="-150" dirty="0"/>
              <a:t> </a:t>
            </a:r>
            <a:r>
              <a:rPr spc="-270" dirty="0"/>
              <a:t>The</a:t>
            </a:r>
            <a:r>
              <a:rPr spc="-150" dirty="0"/>
              <a:t> </a:t>
            </a:r>
            <a:r>
              <a:rPr spc="-385" dirty="0"/>
              <a:t>NICEHR</a:t>
            </a:r>
            <a:r>
              <a:rPr spc="-155" dirty="0"/>
              <a:t> </a:t>
            </a:r>
            <a:r>
              <a:rPr spc="-280" dirty="0"/>
              <a:t>Group's</a:t>
            </a:r>
            <a:r>
              <a:rPr spc="-150" dirty="0"/>
              <a:t> </a:t>
            </a:r>
            <a:r>
              <a:rPr spc="-470" dirty="0"/>
              <a:t>EHR</a:t>
            </a:r>
            <a:r>
              <a:rPr spc="-155" dirty="0"/>
              <a:t> </a:t>
            </a:r>
            <a:r>
              <a:rPr spc="-285" dirty="0"/>
              <a:t>Bootcamp </a:t>
            </a:r>
            <a:r>
              <a:rPr spc="-290" dirty="0"/>
              <a:t>Program</a:t>
            </a:r>
          </a:p>
          <a:p>
            <a:pPr marL="12700">
              <a:lnSpc>
                <a:spcPts val="3665"/>
              </a:lnSpc>
            </a:pPr>
            <a:r>
              <a:rPr spc="-270" dirty="0"/>
              <a:t>The</a:t>
            </a:r>
            <a:r>
              <a:rPr spc="-155" dirty="0"/>
              <a:t> </a:t>
            </a:r>
            <a:r>
              <a:rPr spc="-204" dirty="0"/>
              <a:t>Importance</a:t>
            </a:r>
            <a:r>
              <a:rPr spc="-150" dirty="0"/>
              <a:t> of </a:t>
            </a:r>
            <a:r>
              <a:rPr spc="-204" dirty="0"/>
              <a:t>Healthcare</a:t>
            </a:r>
            <a:r>
              <a:rPr spc="-150" dirty="0"/>
              <a:t> </a:t>
            </a:r>
            <a:r>
              <a:rPr spc="-220" dirty="0"/>
              <a:t>IT</a:t>
            </a:r>
            <a:r>
              <a:rPr spc="-150" dirty="0"/>
              <a:t> </a:t>
            </a:r>
            <a:r>
              <a:rPr spc="-290" dirty="0"/>
              <a:t>Consulting</a:t>
            </a: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pc="-315" dirty="0"/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Forade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609" y="347979"/>
            <a:ext cx="4331335" cy="5722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00"/>
              </a:spcBef>
            </a:pPr>
            <a:r>
              <a:rPr sz="2200" b="1" spc="-130" dirty="0">
                <a:solidFill>
                  <a:srgbClr val="7C97B3"/>
                </a:solidFill>
                <a:latin typeface="Arial"/>
                <a:cs typeface="Arial"/>
              </a:rPr>
              <a:t>Introduction</a:t>
            </a:r>
            <a:r>
              <a:rPr sz="2200" b="1" spc="-105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200" b="1" spc="-85" dirty="0">
                <a:solidFill>
                  <a:srgbClr val="7C97B3"/>
                </a:solidFill>
                <a:latin typeface="Arial"/>
                <a:cs typeface="Arial"/>
              </a:rPr>
              <a:t>to</a:t>
            </a:r>
            <a:r>
              <a:rPr sz="2200" b="1" spc="-95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200" b="1" spc="-195" dirty="0">
                <a:solidFill>
                  <a:srgbClr val="7C97B3"/>
                </a:solidFill>
                <a:latin typeface="Arial"/>
                <a:cs typeface="Arial"/>
              </a:rPr>
              <a:t>The</a:t>
            </a:r>
            <a:r>
              <a:rPr sz="2200" b="1" spc="-95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200" b="1" spc="-265" dirty="0">
                <a:solidFill>
                  <a:srgbClr val="7C97B3"/>
                </a:solidFill>
                <a:latin typeface="Arial"/>
                <a:cs typeface="Arial"/>
              </a:rPr>
              <a:t>NICEHR</a:t>
            </a:r>
            <a:r>
              <a:rPr sz="2200" b="1" spc="-100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7C97B3"/>
                </a:solidFill>
                <a:latin typeface="Arial"/>
                <a:cs typeface="Arial"/>
              </a:rPr>
              <a:t>Group </a:t>
            </a:r>
            <a:r>
              <a:rPr sz="2200" spc="-17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90" dirty="0">
                <a:solidFill>
                  <a:srgbClr val="D3DCE6"/>
                </a:solidFill>
                <a:latin typeface="Arial"/>
                <a:cs typeface="Arial"/>
              </a:rPr>
              <a:t>NICEHR</a:t>
            </a:r>
            <a:r>
              <a:rPr sz="22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14" dirty="0">
                <a:solidFill>
                  <a:srgbClr val="D3DCE6"/>
                </a:solidFill>
                <a:latin typeface="Arial"/>
                <a:cs typeface="Arial"/>
              </a:rPr>
              <a:t>Group</a:t>
            </a:r>
            <a:r>
              <a:rPr sz="22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25" dirty="0">
                <a:solidFill>
                  <a:srgbClr val="D3DCE6"/>
                </a:solidFill>
                <a:latin typeface="Arial"/>
                <a:cs typeface="Arial"/>
              </a:rPr>
              <a:t>is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80" dirty="0">
                <a:solidFill>
                  <a:srgbClr val="D3DCE6"/>
                </a:solidFill>
                <a:latin typeface="Arial"/>
                <a:cs typeface="Arial"/>
              </a:rPr>
              <a:t>a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90" dirty="0">
                <a:solidFill>
                  <a:srgbClr val="D3DCE6"/>
                </a:solidFill>
                <a:latin typeface="Arial"/>
                <a:cs typeface="Arial"/>
              </a:rPr>
              <a:t>healthcare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D3DCE6"/>
                </a:solidFill>
                <a:latin typeface="Arial"/>
                <a:cs typeface="Arial"/>
              </a:rPr>
              <a:t>IT </a:t>
            </a:r>
            <a:r>
              <a:rPr sz="2200" spc="-85" dirty="0">
                <a:solidFill>
                  <a:srgbClr val="D3DCE6"/>
                </a:solidFill>
                <a:latin typeface="Arial"/>
                <a:cs typeface="Arial"/>
              </a:rPr>
              <a:t>consulting</a:t>
            </a:r>
            <a:r>
              <a:rPr sz="2200" spc="-11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D3DCE6"/>
                </a:solidFill>
                <a:latin typeface="Arial"/>
                <a:cs typeface="Arial"/>
              </a:rPr>
              <a:t>firm</a:t>
            </a:r>
            <a:r>
              <a:rPr sz="2200" spc="-10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D3DCE6"/>
                </a:solidFill>
                <a:latin typeface="Arial"/>
                <a:cs typeface="Arial"/>
              </a:rPr>
              <a:t>that</a:t>
            </a:r>
            <a:r>
              <a:rPr sz="2200" spc="-11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35" dirty="0">
                <a:solidFill>
                  <a:srgbClr val="D3DCE6"/>
                </a:solidFill>
                <a:latin typeface="Arial"/>
                <a:cs typeface="Arial"/>
              </a:rPr>
              <a:t>stands</a:t>
            </a:r>
            <a:r>
              <a:rPr sz="2200" spc="-11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D3DCE6"/>
                </a:solidFill>
                <a:latin typeface="Arial"/>
                <a:cs typeface="Arial"/>
              </a:rPr>
              <a:t>out</a:t>
            </a:r>
            <a:r>
              <a:rPr sz="2200" spc="-11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D3DCE6"/>
                </a:solidFill>
                <a:latin typeface="Arial"/>
                <a:cs typeface="Arial"/>
              </a:rPr>
              <a:t>in</a:t>
            </a:r>
            <a:r>
              <a:rPr sz="2200" spc="-114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D3DCE6"/>
                </a:solidFill>
                <a:latin typeface="Arial"/>
                <a:cs typeface="Arial"/>
              </a:rPr>
              <a:t>the </a:t>
            </a:r>
            <a:r>
              <a:rPr sz="2200" spc="-80" dirty="0">
                <a:solidFill>
                  <a:srgbClr val="D3DCE6"/>
                </a:solidFill>
                <a:latin typeface="Arial"/>
                <a:cs typeface="Arial"/>
              </a:rPr>
              <a:t>industry.</a:t>
            </a:r>
            <a:r>
              <a:rPr sz="2200" spc="-10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29" dirty="0">
                <a:solidFill>
                  <a:srgbClr val="D3DCE6"/>
                </a:solidFill>
                <a:latin typeface="Arial"/>
                <a:cs typeface="Arial"/>
              </a:rPr>
              <a:t>As</a:t>
            </a:r>
            <a:r>
              <a:rPr sz="22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80" dirty="0">
                <a:solidFill>
                  <a:srgbClr val="D3DCE6"/>
                </a:solidFill>
                <a:latin typeface="Arial"/>
                <a:cs typeface="Arial"/>
              </a:rPr>
              <a:t>a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80" dirty="0">
                <a:solidFill>
                  <a:srgbClr val="D3DCE6"/>
                </a:solidFill>
                <a:latin typeface="Arial"/>
                <a:cs typeface="Arial"/>
              </a:rPr>
              <a:t>consultant-owned</a:t>
            </a:r>
            <a:r>
              <a:rPr sz="22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D3DCE6"/>
                </a:solidFill>
                <a:latin typeface="Arial"/>
                <a:cs typeface="Arial"/>
              </a:rPr>
              <a:t>and </a:t>
            </a:r>
            <a:r>
              <a:rPr sz="2200" spc="-80" dirty="0">
                <a:solidFill>
                  <a:srgbClr val="D3DCE6"/>
                </a:solidFill>
                <a:latin typeface="Arial"/>
                <a:cs typeface="Arial"/>
              </a:rPr>
              <a:t>operated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35" dirty="0">
                <a:solidFill>
                  <a:srgbClr val="D3DCE6"/>
                </a:solidFill>
                <a:latin typeface="Arial"/>
                <a:cs typeface="Arial"/>
              </a:rPr>
              <a:t>company,</a:t>
            </a:r>
            <a:r>
              <a:rPr sz="22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D3DCE6"/>
                </a:solidFill>
                <a:latin typeface="Arial"/>
                <a:cs typeface="Arial"/>
              </a:rPr>
              <a:t>they</a:t>
            </a:r>
            <a:r>
              <a:rPr sz="22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10" dirty="0">
                <a:solidFill>
                  <a:srgbClr val="D3DCE6"/>
                </a:solidFill>
                <a:latin typeface="Arial"/>
                <a:cs typeface="Arial"/>
              </a:rPr>
              <a:t>take</a:t>
            </a:r>
            <a:r>
              <a:rPr sz="22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D3DCE6"/>
                </a:solidFill>
                <a:latin typeface="Arial"/>
                <a:cs typeface="Arial"/>
              </a:rPr>
              <a:t>pride</a:t>
            </a:r>
            <a:r>
              <a:rPr sz="22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D3DCE6"/>
                </a:solidFill>
                <a:latin typeface="Arial"/>
                <a:cs typeface="Arial"/>
              </a:rPr>
              <a:t>in </a:t>
            </a:r>
            <a:r>
              <a:rPr sz="2200" spc="-75" dirty="0">
                <a:solidFill>
                  <a:srgbClr val="D3DCE6"/>
                </a:solidFill>
                <a:latin typeface="Arial"/>
                <a:cs typeface="Arial"/>
              </a:rPr>
              <a:t>providing</a:t>
            </a:r>
            <a:r>
              <a:rPr sz="2200" spc="-6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40" dirty="0">
                <a:solidFill>
                  <a:srgbClr val="D3DCE6"/>
                </a:solidFill>
                <a:latin typeface="Arial"/>
                <a:cs typeface="Arial"/>
              </a:rPr>
              <a:t>top-</a:t>
            </a:r>
            <a:r>
              <a:rPr sz="2200" spc="-75" dirty="0">
                <a:solidFill>
                  <a:srgbClr val="D3DCE6"/>
                </a:solidFill>
                <a:latin typeface="Arial"/>
                <a:cs typeface="Arial"/>
              </a:rPr>
              <a:t>notch</a:t>
            </a:r>
            <a:r>
              <a:rPr sz="2200" spc="-6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consultants</a:t>
            </a:r>
            <a:r>
              <a:rPr sz="2200" spc="-6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D3DCE6"/>
                </a:solidFill>
                <a:latin typeface="Arial"/>
                <a:cs typeface="Arial"/>
              </a:rPr>
              <a:t>who </a:t>
            </a:r>
            <a:r>
              <a:rPr sz="2200" spc="-60" dirty="0">
                <a:solidFill>
                  <a:srgbClr val="D3DCE6"/>
                </a:solidFill>
                <a:latin typeface="Arial"/>
                <a:cs typeface="Arial"/>
              </a:rPr>
              <a:t>simplify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340" dirty="0">
                <a:solidFill>
                  <a:srgbClr val="D3DCE6"/>
                </a:solidFill>
                <a:latin typeface="Arial"/>
                <a:cs typeface="Arial"/>
              </a:rPr>
              <a:t>EHR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D3DCE6"/>
                </a:solidFill>
                <a:latin typeface="Arial"/>
                <a:cs typeface="Arial"/>
              </a:rPr>
              <a:t>implementation </a:t>
            </a:r>
            <a:r>
              <a:rPr sz="2200" spc="-145" dirty="0">
                <a:solidFill>
                  <a:srgbClr val="D3DCE6"/>
                </a:solidFill>
                <a:latin typeface="Arial"/>
                <a:cs typeface="Arial"/>
              </a:rPr>
              <a:t>process</a:t>
            </a:r>
            <a:r>
              <a:rPr sz="2200" spc="-6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20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22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70" dirty="0">
                <a:solidFill>
                  <a:srgbClr val="D3DCE6"/>
                </a:solidFill>
                <a:latin typeface="Arial"/>
                <a:cs typeface="Arial"/>
              </a:rPr>
              <a:t>integrate</a:t>
            </a:r>
            <a:r>
              <a:rPr sz="2200" spc="-6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D3DCE6"/>
                </a:solidFill>
                <a:latin typeface="Arial"/>
                <a:cs typeface="Arial"/>
              </a:rPr>
              <a:t>new 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technologies</a:t>
            </a:r>
            <a:r>
              <a:rPr sz="22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22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D3DCE6"/>
                </a:solidFill>
                <a:latin typeface="Arial"/>
                <a:cs typeface="Arial"/>
              </a:rPr>
              <a:t>improve</a:t>
            </a:r>
            <a:r>
              <a:rPr sz="2200" spc="-6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40" dirty="0">
                <a:solidFill>
                  <a:srgbClr val="D3DCE6"/>
                </a:solidFill>
                <a:latin typeface="Arial"/>
                <a:cs typeface="Arial"/>
              </a:rPr>
              <a:t>patient</a:t>
            </a:r>
            <a:r>
              <a:rPr sz="22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D3DCE6"/>
                </a:solidFill>
                <a:latin typeface="Arial"/>
                <a:cs typeface="Arial"/>
              </a:rPr>
              <a:t>care. 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Their</a:t>
            </a:r>
            <a:r>
              <a:rPr sz="2200" spc="-11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85" dirty="0">
                <a:solidFill>
                  <a:srgbClr val="D3DCE6"/>
                </a:solidFill>
                <a:latin typeface="Arial"/>
                <a:cs typeface="Arial"/>
              </a:rPr>
              <a:t>team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D3DCE6"/>
                </a:solidFill>
                <a:latin typeface="Arial"/>
                <a:cs typeface="Arial"/>
              </a:rPr>
              <a:t>of</a:t>
            </a:r>
            <a:r>
              <a:rPr sz="22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90" dirty="0">
                <a:solidFill>
                  <a:srgbClr val="D3DCE6"/>
                </a:solidFill>
                <a:latin typeface="Arial"/>
                <a:cs typeface="Arial"/>
              </a:rPr>
              <a:t>experts</a:t>
            </a:r>
            <a:r>
              <a:rPr sz="2200" spc="-10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75" dirty="0">
                <a:solidFill>
                  <a:srgbClr val="D3DCE6"/>
                </a:solidFill>
                <a:latin typeface="Arial"/>
                <a:cs typeface="Arial"/>
              </a:rPr>
              <a:t>has</a:t>
            </a:r>
            <a:r>
              <a:rPr sz="22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80" dirty="0">
                <a:solidFill>
                  <a:srgbClr val="D3DCE6"/>
                </a:solidFill>
                <a:latin typeface="Arial"/>
                <a:cs typeface="Arial"/>
              </a:rPr>
              <a:t>a</a:t>
            </a:r>
            <a:r>
              <a:rPr sz="2200" spc="-10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55" dirty="0">
                <a:solidFill>
                  <a:srgbClr val="D3DCE6"/>
                </a:solidFill>
                <a:latin typeface="Arial"/>
                <a:cs typeface="Arial"/>
              </a:rPr>
              <a:t>wealth</a:t>
            </a:r>
            <a:r>
              <a:rPr sz="2200" spc="-11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D3DCE6"/>
                </a:solidFill>
                <a:latin typeface="Arial"/>
                <a:cs typeface="Arial"/>
              </a:rPr>
              <a:t>of </a:t>
            </a:r>
            <a:r>
              <a:rPr sz="2200" spc="-105" dirty="0">
                <a:solidFill>
                  <a:srgbClr val="D3DCE6"/>
                </a:solidFill>
                <a:latin typeface="Arial"/>
                <a:cs typeface="Arial"/>
              </a:rPr>
              <a:t>experience</a:t>
            </a:r>
            <a:r>
              <a:rPr sz="22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20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00" dirty="0">
                <a:solidFill>
                  <a:srgbClr val="D3DCE6"/>
                </a:solidFill>
                <a:latin typeface="Arial"/>
                <a:cs typeface="Arial"/>
              </a:rPr>
              <a:t>knowledge</a:t>
            </a:r>
            <a:r>
              <a:rPr sz="22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D3DCE6"/>
                </a:solidFill>
                <a:latin typeface="Arial"/>
                <a:cs typeface="Arial"/>
              </a:rPr>
              <a:t>in </a:t>
            </a:r>
            <a:r>
              <a:rPr sz="2200" spc="-90" dirty="0">
                <a:solidFill>
                  <a:srgbClr val="D3DCE6"/>
                </a:solidFill>
                <a:latin typeface="Arial"/>
                <a:cs typeface="Arial"/>
              </a:rPr>
              <a:t>healthcare</a:t>
            </a:r>
            <a:r>
              <a:rPr sz="22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20" dirty="0">
                <a:solidFill>
                  <a:srgbClr val="D3DCE6"/>
                </a:solidFill>
                <a:latin typeface="Arial"/>
                <a:cs typeface="Arial"/>
              </a:rPr>
              <a:t>IT,</a:t>
            </a:r>
            <a:r>
              <a:rPr sz="22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20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D3DCE6"/>
                </a:solidFill>
                <a:latin typeface="Arial"/>
                <a:cs typeface="Arial"/>
              </a:rPr>
              <a:t>they</a:t>
            </a:r>
            <a:r>
              <a:rPr sz="22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14" dirty="0">
                <a:solidFill>
                  <a:srgbClr val="D3DCE6"/>
                </a:solidFill>
                <a:latin typeface="Arial"/>
                <a:cs typeface="Arial"/>
              </a:rPr>
              <a:t>are</a:t>
            </a:r>
            <a:r>
              <a:rPr sz="22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35" dirty="0">
                <a:solidFill>
                  <a:srgbClr val="D3DCE6"/>
                </a:solidFill>
                <a:latin typeface="Arial"/>
                <a:cs typeface="Arial"/>
              </a:rPr>
              <a:t>committed </a:t>
            </a:r>
            <a:r>
              <a:rPr sz="2200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2200" spc="-75" dirty="0">
                <a:solidFill>
                  <a:srgbClr val="D3DCE6"/>
                </a:solidFill>
                <a:latin typeface="Arial"/>
                <a:cs typeface="Arial"/>
              </a:rPr>
              <a:t> delivering</a:t>
            </a:r>
            <a:r>
              <a:rPr sz="22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exceptional</a:t>
            </a:r>
            <a:r>
              <a:rPr sz="22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25" dirty="0">
                <a:solidFill>
                  <a:srgbClr val="D3DCE6"/>
                </a:solidFill>
                <a:latin typeface="Arial"/>
                <a:cs typeface="Arial"/>
              </a:rPr>
              <a:t>services</a:t>
            </a:r>
            <a:r>
              <a:rPr sz="22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D3DCE6"/>
                </a:solidFill>
                <a:latin typeface="Arial"/>
                <a:cs typeface="Arial"/>
              </a:rPr>
              <a:t>to </a:t>
            </a:r>
            <a:r>
              <a:rPr sz="2200" spc="-10" dirty="0">
                <a:solidFill>
                  <a:srgbClr val="D3DCE6"/>
                </a:solidFill>
                <a:latin typeface="Arial"/>
                <a:cs typeface="Arial"/>
              </a:rPr>
              <a:t>their</a:t>
            </a:r>
            <a:r>
              <a:rPr sz="2200" spc="-10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75" dirty="0">
                <a:solidFill>
                  <a:srgbClr val="D3DCE6"/>
                </a:solidFill>
                <a:latin typeface="Arial"/>
                <a:cs typeface="Arial"/>
              </a:rPr>
              <a:t>clients.</a:t>
            </a:r>
            <a:r>
              <a:rPr sz="2200" spc="-10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10" dirty="0">
                <a:solidFill>
                  <a:srgbClr val="D3DCE6"/>
                </a:solidFill>
                <a:latin typeface="Arial"/>
                <a:cs typeface="Arial"/>
              </a:rPr>
              <a:t>By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60" dirty="0">
                <a:solidFill>
                  <a:srgbClr val="D3DCE6"/>
                </a:solidFill>
                <a:latin typeface="Arial"/>
                <a:cs typeface="Arial"/>
              </a:rPr>
              <a:t>partnering</a:t>
            </a:r>
            <a:r>
              <a:rPr sz="22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D3DCE6"/>
                </a:solidFill>
                <a:latin typeface="Arial"/>
                <a:cs typeface="Arial"/>
              </a:rPr>
              <a:t>with</a:t>
            </a:r>
            <a:r>
              <a:rPr sz="2200" spc="-10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D3DCE6"/>
                </a:solidFill>
                <a:latin typeface="Arial"/>
                <a:cs typeface="Arial"/>
              </a:rPr>
              <a:t>The </a:t>
            </a:r>
            <a:r>
              <a:rPr sz="2200" spc="-285" dirty="0">
                <a:solidFill>
                  <a:srgbClr val="D3DCE6"/>
                </a:solidFill>
                <a:latin typeface="Arial"/>
                <a:cs typeface="Arial"/>
              </a:rPr>
              <a:t>NICEHR</a:t>
            </a:r>
            <a:r>
              <a:rPr sz="22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10" dirty="0">
                <a:solidFill>
                  <a:srgbClr val="D3DCE6"/>
                </a:solidFill>
                <a:latin typeface="Arial"/>
                <a:cs typeface="Arial"/>
              </a:rPr>
              <a:t>Group,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00" dirty="0">
                <a:solidFill>
                  <a:srgbClr val="D3DCE6"/>
                </a:solidFill>
                <a:latin typeface="Arial"/>
                <a:cs typeface="Arial"/>
              </a:rPr>
              <a:t>you </a:t>
            </a:r>
            <a:r>
              <a:rPr sz="2200" spc="-160" dirty="0">
                <a:solidFill>
                  <a:srgbClr val="D3DCE6"/>
                </a:solidFill>
                <a:latin typeface="Arial"/>
                <a:cs typeface="Arial"/>
              </a:rPr>
              <a:t>can</a:t>
            </a:r>
            <a:r>
              <a:rPr sz="22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14" dirty="0">
                <a:solidFill>
                  <a:srgbClr val="D3DCE6"/>
                </a:solidFill>
                <a:latin typeface="Arial"/>
                <a:cs typeface="Arial"/>
              </a:rPr>
              <a:t>be</a:t>
            </a:r>
            <a:r>
              <a:rPr sz="22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40" dirty="0">
                <a:solidFill>
                  <a:srgbClr val="D3DCE6"/>
                </a:solidFill>
                <a:latin typeface="Arial"/>
                <a:cs typeface="Arial"/>
              </a:rPr>
              <a:t>assured</a:t>
            </a:r>
            <a:r>
              <a:rPr sz="22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D3DCE6"/>
                </a:solidFill>
                <a:latin typeface="Arial"/>
                <a:cs typeface="Arial"/>
              </a:rPr>
              <a:t>of </a:t>
            </a:r>
            <a:r>
              <a:rPr sz="2200" spc="-60" dirty="0">
                <a:solidFill>
                  <a:srgbClr val="D3DCE6"/>
                </a:solidFill>
                <a:latin typeface="Arial"/>
                <a:cs typeface="Arial"/>
              </a:rPr>
              <a:t>getting</a:t>
            </a:r>
            <a:r>
              <a:rPr sz="2200" spc="-11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2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95" dirty="0">
                <a:solidFill>
                  <a:srgbClr val="D3DCE6"/>
                </a:solidFill>
                <a:latin typeface="Arial"/>
                <a:cs typeface="Arial"/>
              </a:rPr>
              <a:t>best</a:t>
            </a:r>
            <a:r>
              <a:rPr sz="22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90" dirty="0">
                <a:solidFill>
                  <a:srgbClr val="D3DCE6"/>
                </a:solidFill>
                <a:latin typeface="Arial"/>
                <a:cs typeface="Arial"/>
              </a:rPr>
              <a:t>healthcare</a:t>
            </a:r>
            <a:r>
              <a:rPr sz="22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D3DCE6"/>
                </a:solidFill>
                <a:latin typeface="Arial"/>
                <a:cs typeface="Arial"/>
              </a:rPr>
              <a:t>IT </a:t>
            </a:r>
            <a:r>
              <a:rPr sz="2200" spc="-85" dirty="0">
                <a:solidFill>
                  <a:srgbClr val="D3DCE6"/>
                </a:solidFill>
                <a:latin typeface="Arial"/>
                <a:cs typeface="Arial"/>
              </a:rPr>
              <a:t>consulting</a:t>
            </a:r>
            <a:r>
              <a:rPr sz="22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D3DCE6"/>
                </a:solidFill>
                <a:latin typeface="Arial"/>
                <a:cs typeface="Arial"/>
              </a:rPr>
              <a:t>services.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0"/>
            <a:ext cx="6858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Forade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609" y="337819"/>
            <a:ext cx="4351655" cy="57613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755015" algn="just">
              <a:lnSpc>
                <a:spcPct val="100400"/>
              </a:lnSpc>
              <a:spcBef>
                <a:spcPts val="85"/>
              </a:spcBef>
            </a:pPr>
            <a:r>
              <a:rPr sz="2400" b="1" spc="-515" dirty="0">
                <a:solidFill>
                  <a:srgbClr val="7C97B3"/>
                </a:solidFill>
                <a:latin typeface="Arial"/>
                <a:cs typeface="Arial"/>
              </a:rPr>
              <a:t>EHR</a:t>
            </a:r>
            <a:r>
              <a:rPr sz="2400" b="1" spc="345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225" dirty="0">
                <a:solidFill>
                  <a:srgbClr val="7C97B3"/>
                </a:solidFill>
                <a:latin typeface="Arial"/>
                <a:cs typeface="Arial"/>
              </a:rPr>
              <a:t>Bootcamp:</a:t>
            </a:r>
            <a:r>
              <a:rPr sz="2400" b="1" spc="60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229" dirty="0">
                <a:solidFill>
                  <a:srgbClr val="7C97B3"/>
                </a:solidFill>
                <a:latin typeface="Arial"/>
                <a:cs typeface="Arial"/>
              </a:rPr>
              <a:t>Training</a:t>
            </a:r>
            <a:r>
              <a:rPr sz="2400" b="1" spc="130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120" dirty="0">
                <a:solidFill>
                  <a:srgbClr val="7C97B3"/>
                </a:solidFill>
                <a:latin typeface="Arial"/>
                <a:cs typeface="Arial"/>
              </a:rPr>
              <a:t>and </a:t>
            </a:r>
            <a:r>
              <a:rPr sz="2400" b="1" spc="-195" dirty="0">
                <a:solidFill>
                  <a:srgbClr val="7C97B3"/>
                </a:solidFill>
                <a:latin typeface="Arial"/>
                <a:cs typeface="Arial"/>
              </a:rPr>
              <a:t>Placement</a:t>
            </a:r>
            <a:r>
              <a:rPr sz="2400" b="1" spc="40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155" dirty="0">
                <a:solidFill>
                  <a:srgbClr val="7C97B3"/>
                </a:solidFill>
                <a:latin typeface="Arial"/>
                <a:cs typeface="Arial"/>
              </a:rPr>
              <a:t>for</a:t>
            </a:r>
            <a:r>
              <a:rPr sz="2400" b="1" spc="25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204" dirty="0">
                <a:solidFill>
                  <a:srgbClr val="7C97B3"/>
                </a:solidFill>
                <a:latin typeface="Arial"/>
                <a:cs typeface="Arial"/>
              </a:rPr>
              <a:t>Veterans</a:t>
            </a:r>
            <a:r>
              <a:rPr sz="2400" b="1" spc="40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7C97B3"/>
                </a:solidFill>
                <a:latin typeface="Arial"/>
                <a:cs typeface="Arial"/>
              </a:rPr>
              <a:t>and </a:t>
            </a:r>
            <a:r>
              <a:rPr sz="2400" b="1" spc="-175" dirty="0">
                <a:solidFill>
                  <a:srgbClr val="7C97B3"/>
                </a:solidFill>
                <a:latin typeface="Arial"/>
                <a:cs typeface="Arial"/>
              </a:rPr>
              <a:t>Unemployed</a:t>
            </a:r>
            <a:r>
              <a:rPr sz="2400" b="1" spc="-95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100" dirty="0">
                <a:solidFill>
                  <a:srgbClr val="7C97B3"/>
                </a:solidFill>
                <a:latin typeface="Arial"/>
                <a:cs typeface="Arial"/>
              </a:rPr>
              <a:t>Americans</a:t>
            </a:r>
            <a:endParaRPr sz="2400">
              <a:latin typeface="Arial"/>
              <a:cs typeface="Arial"/>
            </a:endParaRPr>
          </a:p>
          <a:p>
            <a:pPr marL="12700" marR="297180">
              <a:lnSpc>
                <a:spcPts val="2300"/>
              </a:lnSpc>
              <a:spcBef>
                <a:spcPts val="80"/>
              </a:spcBef>
            </a:pPr>
            <a:r>
              <a:rPr sz="1900" spc="-15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4" dirty="0">
                <a:solidFill>
                  <a:srgbClr val="D3DCE6"/>
                </a:solidFill>
                <a:latin typeface="Arial"/>
                <a:cs typeface="Arial"/>
              </a:rPr>
              <a:t>NICEHR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0" dirty="0">
                <a:solidFill>
                  <a:srgbClr val="D3DCE6"/>
                </a:solidFill>
                <a:latin typeface="Arial"/>
                <a:cs typeface="Arial"/>
              </a:rPr>
              <a:t>Group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5" dirty="0">
                <a:solidFill>
                  <a:srgbClr val="D3DCE6"/>
                </a:solidFill>
                <a:latin typeface="Arial"/>
                <a:cs typeface="Arial"/>
              </a:rPr>
              <a:t>is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launching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14" dirty="0">
                <a:solidFill>
                  <a:srgbClr val="D3DCE6"/>
                </a:solidFill>
                <a:latin typeface="Arial"/>
                <a:cs typeface="Arial"/>
              </a:rPr>
              <a:t>an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20" dirty="0">
                <a:solidFill>
                  <a:srgbClr val="D3DCE6"/>
                </a:solidFill>
                <a:latin typeface="Arial"/>
                <a:cs typeface="Arial"/>
              </a:rPr>
              <a:t>EHR </a:t>
            </a:r>
            <a:r>
              <a:rPr sz="1900" spc="-100" dirty="0">
                <a:solidFill>
                  <a:srgbClr val="D3DCE6"/>
                </a:solidFill>
                <a:latin typeface="Arial"/>
                <a:cs typeface="Arial"/>
              </a:rPr>
              <a:t>Bootcamp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program aimed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5" dirty="0">
                <a:solidFill>
                  <a:srgbClr val="D3DCE6"/>
                </a:solidFill>
                <a:latin typeface="Arial"/>
                <a:cs typeface="Arial"/>
              </a:rPr>
              <a:t>at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45" dirty="0">
                <a:solidFill>
                  <a:srgbClr val="D3DCE6"/>
                </a:solidFill>
                <a:latin typeface="Arial"/>
                <a:cs typeface="Arial"/>
              </a:rPr>
              <a:t>training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0" dirty="0">
                <a:solidFill>
                  <a:srgbClr val="D3DCE6"/>
                </a:solidFill>
                <a:latin typeface="Arial"/>
                <a:cs typeface="Arial"/>
              </a:rPr>
              <a:t>and 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placing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95" dirty="0">
                <a:solidFill>
                  <a:srgbClr val="D3DCE6"/>
                </a:solidFill>
                <a:latin typeface="Arial"/>
                <a:cs typeface="Arial"/>
              </a:rPr>
              <a:t>veterans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5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unemployed </a:t>
            </a:r>
            <a:r>
              <a:rPr sz="1900" spc="-110" dirty="0">
                <a:solidFill>
                  <a:srgbClr val="D3DCE6"/>
                </a:solidFill>
                <a:latin typeface="Arial"/>
                <a:cs typeface="Arial"/>
              </a:rPr>
              <a:t>Americans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0" dirty="0">
                <a:solidFill>
                  <a:srgbClr val="D3DCE6"/>
                </a:solidFill>
                <a:latin typeface="Arial"/>
                <a:cs typeface="Arial"/>
              </a:rPr>
              <a:t>in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healthcare </a:t>
            </a:r>
            <a:r>
              <a:rPr sz="1900" spc="-160" dirty="0">
                <a:solidFill>
                  <a:srgbClr val="D3DCE6"/>
                </a:solidFill>
                <a:latin typeface="Arial"/>
                <a:cs typeface="Arial"/>
              </a:rPr>
              <a:t>IT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industry.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ts val="2115"/>
              </a:lnSpc>
            </a:pPr>
            <a:r>
              <a:rPr sz="1900" spc="-130" dirty="0">
                <a:solidFill>
                  <a:srgbClr val="D3DCE6"/>
                </a:solidFill>
                <a:latin typeface="Arial"/>
                <a:cs typeface="Arial"/>
              </a:rPr>
              <a:t>This</a:t>
            </a:r>
            <a:r>
              <a:rPr sz="19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program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D3DCE6"/>
                </a:solidFill>
                <a:latin typeface="Arial"/>
                <a:cs typeface="Arial"/>
              </a:rPr>
              <a:t>will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95" dirty="0">
                <a:solidFill>
                  <a:srgbClr val="D3DCE6"/>
                </a:solidFill>
                <a:latin typeface="Arial"/>
                <a:cs typeface="Arial"/>
              </a:rPr>
              <a:t>be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conducted </a:t>
            </a:r>
            <a:r>
              <a:rPr sz="1900" spc="-50" dirty="0">
                <a:solidFill>
                  <a:srgbClr val="D3DCE6"/>
                </a:solidFill>
                <a:latin typeface="Arial"/>
                <a:cs typeface="Arial"/>
              </a:rPr>
              <a:t>through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4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endParaRPr sz="1900">
              <a:latin typeface="Arial"/>
              <a:cs typeface="Arial"/>
            </a:endParaRPr>
          </a:p>
          <a:p>
            <a:pPr marL="12700" marR="332105" algn="just">
              <a:lnSpc>
                <a:spcPts val="2300"/>
              </a:lnSpc>
              <a:spcBef>
                <a:spcPts val="85"/>
              </a:spcBef>
            </a:pPr>
            <a:r>
              <a:rPr sz="1900" spc="-295" dirty="0">
                <a:solidFill>
                  <a:srgbClr val="D3DCE6"/>
                </a:solidFill>
                <a:latin typeface="Arial"/>
                <a:cs typeface="Arial"/>
              </a:rPr>
              <a:t>NICEHR</a:t>
            </a:r>
            <a:r>
              <a:rPr sz="1900" spc="16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5" dirty="0">
                <a:solidFill>
                  <a:srgbClr val="D3DCE6"/>
                </a:solidFill>
                <a:latin typeface="Arial"/>
                <a:cs typeface="Arial"/>
              </a:rPr>
              <a:t>Group's</a:t>
            </a:r>
            <a:r>
              <a:rPr sz="1900" spc="-2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60" dirty="0">
                <a:solidFill>
                  <a:srgbClr val="D3DCE6"/>
                </a:solidFill>
                <a:latin typeface="Arial"/>
                <a:cs typeface="Arial"/>
              </a:rPr>
              <a:t>online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45" dirty="0">
                <a:solidFill>
                  <a:srgbClr val="D3DCE6"/>
                </a:solidFill>
                <a:latin typeface="Arial"/>
                <a:cs typeface="Arial"/>
              </a:rPr>
              <a:t>training</a:t>
            </a:r>
            <a:r>
              <a:rPr sz="1900" spc="2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D3DCE6"/>
                </a:solidFill>
                <a:latin typeface="Arial"/>
                <a:cs typeface="Arial"/>
              </a:rPr>
              <a:t>platform, 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which</a:t>
            </a:r>
            <a:r>
              <a:rPr sz="1900" spc="-4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offers</a:t>
            </a:r>
            <a:r>
              <a:rPr sz="1900" spc="-4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50" dirty="0">
                <a:solidFill>
                  <a:srgbClr val="D3DCE6"/>
                </a:solidFill>
                <a:latin typeface="Arial"/>
                <a:cs typeface="Arial"/>
              </a:rPr>
              <a:t>flexible</a:t>
            </a:r>
            <a:r>
              <a:rPr sz="1900" spc="-3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learning</a:t>
            </a:r>
            <a:r>
              <a:rPr sz="1900" spc="-3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65" dirty="0">
                <a:solidFill>
                  <a:srgbClr val="D3DCE6"/>
                </a:solidFill>
                <a:latin typeface="Arial"/>
                <a:cs typeface="Arial"/>
              </a:rPr>
              <a:t>options</a:t>
            </a:r>
            <a:r>
              <a:rPr sz="1900" spc="-5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D3DCE6"/>
                </a:solidFill>
                <a:latin typeface="Arial"/>
                <a:cs typeface="Arial"/>
              </a:rPr>
              <a:t>for 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participants.</a:t>
            </a:r>
            <a:endParaRPr sz="1900">
              <a:latin typeface="Arial"/>
              <a:cs typeface="Arial"/>
            </a:endParaRPr>
          </a:p>
          <a:p>
            <a:pPr marL="12700" marR="616585">
              <a:lnSpc>
                <a:spcPts val="2180"/>
              </a:lnSpc>
              <a:spcBef>
                <a:spcPts val="110"/>
              </a:spcBef>
            </a:pPr>
            <a:r>
              <a:rPr sz="1900" spc="-245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30" dirty="0">
                <a:solidFill>
                  <a:srgbClr val="D3DCE6"/>
                </a:solidFill>
                <a:latin typeface="Arial"/>
                <a:cs typeface="Arial"/>
              </a:rPr>
              <a:t>make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40" dirty="0">
                <a:solidFill>
                  <a:srgbClr val="D3DCE6"/>
                </a:solidFill>
                <a:latin typeface="Arial"/>
                <a:cs typeface="Arial"/>
              </a:rPr>
              <a:t>this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program</a:t>
            </a:r>
            <a:r>
              <a:rPr sz="19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55" dirty="0">
                <a:solidFill>
                  <a:srgbClr val="D3DCE6"/>
                </a:solidFill>
                <a:latin typeface="Arial"/>
                <a:cs typeface="Arial"/>
              </a:rPr>
              <a:t>a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55" dirty="0">
                <a:solidFill>
                  <a:srgbClr val="D3DCE6"/>
                </a:solidFill>
                <a:latin typeface="Arial"/>
                <a:cs typeface="Arial"/>
              </a:rPr>
              <a:t>success,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D3DCE6"/>
                </a:solidFill>
                <a:latin typeface="Arial"/>
                <a:cs typeface="Arial"/>
              </a:rPr>
              <a:t>The </a:t>
            </a:r>
            <a:r>
              <a:rPr sz="1900" spc="-254" dirty="0">
                <a:solidFill>
                  <a:srgbClr val="D3DCE6"/>
                </a:solidFill>
                <a:latin typeface="Arial"/>
                <a:cs typeface="Arial"/>
              </a:rPr>
              <a:t>NICEHR</a:t>
            </a:r>
            <a:r>
              <a:rPr sz="1900" spc="-6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0" dirty="0">
                <a:solidFill>
                  <a:srgbClr val="D3DCE6"/>
                </a:solidFill>
                <a:latin typeface="Arial"/>
                <a:cs typeface="Arial"/>
              </a:rPr>
              <a:t>Group</a:t>
            </a:r>
            <a:r>
              <a:rPr sz="1900" spc="-6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50" dirty="0">
                <a:solidFill>
                  <a:srgbClr val="D3DCE6"/>
                </a:solidFill>
                <a:latin typeface="Arial"/>
                <a:cs typeface="Arial"/>
              </a:rPr>
              <a:t>has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55" dirty="0">
                <a:solidFill>
                  <a:srgbClr val="D3DCE6"/>
                </a:solidFill>
                <a:latin typeface="Arial"/>
                <a:cs typeface="Arial"/>
              </a:rPr>
              <a:t>partnered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D3DCE6"/>
                </a:solidFill>
                <a:latin typeface="Arial"/>
                <a:cs typeface="Arial"/>
              </a:rPr>
              <a:t>with</a:t>
            </a:r>
            <a:r>
              <a:rPr sz="1900" spc="-6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endParaRPr sz="1900">
              <a:latin typeface="Arial"/>
              <a:cs typeface="Arial"/>
            </a:endParaRPr>
          </a:p>
          <a:p>
            <a:pPr marL="12700" marR="99695">
              <a:lnSpc>
                <a:spcPts val="2300"/>
              </a:lnSpc>
              <a:spcBef>
                <a:spcPts val="30"/>
              </a:spcBef>
            </a:pPr>
            <a:r>
              <a:rPr sz="1900" spc="-114" dirty="0">
                <a:solidFill>
                  <a:srgbClr val="D3DCE6"/>
                </a:solidFill>
                <a:latin typeface="Arial"/>
                <a:cs typeface="Arial"/>
              </a:rPr>
              <a:t>Veterans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95" dirty="0">
                <a:solidFill>
                  <a:srgbClr val="D3DCE6"/>
                </a:solidFill>
                <a:latin typeface="Arial"/>
                <a:cs typeface="Arial"/>
              </a:rPr>
              <a:t>Association,</a:t>
            </a:r>
            <a:r>
              <a:rPr sz="1900" spc="-6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1900" spc="-5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National 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Unemployment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Office,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0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1900" spc="-6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Workforce </a:t>
            </a:r>
            <a:r>
              <a:rPr sz="1900" spc="-65" dirty="0">
                <a:solidFill>
                  <a:srgbClr val="D3DCE6"/>
                </a:solidFill>
                <a:latin typeface="Arial"/>
                <a:cs typeface="Arial"/>
              </a:rPr>
              <a:t>National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Offices.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40" dirty="0">
                <a:solidFill>
                  <a:srgbClr val="D3DCE6"/>
                </a:solidFill>
                <a:latin typeface="Arial"/>
                <a:cs typeface="Arial"/>
              </a:rPr>
              <a:t>Once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45" dirty="0">
                <a:solidFill>
                  <a:srgbClr val="D3DCE6"/>
                </a:solidFill>
                <a:latin typeface="Arial"/>
                <a:cs typeface="Arial"/>
              </a:rPr>
              <a:t>training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5" dirty="0">
                <a:solidFill>
                  <a:srgbClr val="D3DCE6"/>
                </a:solidFill>
                <a:latin typeface="Arial"/>
                <a:cs typeface="Arial"/>
              </a:rPr>
              <a:t>is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50" dirty="0">
                <a:solidFill>
                  <a:srgbClr val="D3DCE6"/>
                </a:solidFill>
                <a:latin typeface="Arial"/>
                <a:cs typeface="Arial"/>
              </a:rPr>
              <a:t>complete,</a:t>
            </a:r>
            <a:endParaRPr sz="1900">
              <a:latin typeface="Arial"/>
              <a:cs typeface="Arial"/>
            </a:endParaRPr>
          </a:p>
          <a:p>
            <a:pPr marL="12700" marR="383540">
              <a:lnSpc>
                <a:spcPts val="2180"/>
              </a:lnSpc>
              <a:spcBef>
                <a:spcPts val="110"/>
              </a:spcBef>
            </a:pPr>
            <a:r>
              <a:rPr sz="1900" spc="-55" dirty="0">
                <a:solidFill>
                  <a:srgbClr val="D3DCE6"/>
                </a:solidFill>
                <a:latin typeface="Arial"/>
                <a:cs typeface="Arial"/>
              </a:rPr>
              <a:t>participants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D3DCE6"/>
                </a:solidFill>
                <a:latin typeface="Arial"/>
                <a:cs typeface="Arial"/>
              </a:rPr>
              <a:t>will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25" dirty="0">
                <a:solidFill>
                  <a:srgbClr val="D3DCE6"/>
                </a:solidFill>
                <a:latin typeface="Arial"/>
                <a:cs typeface="Arial"/>
              </a:rPr>
              <a:t>have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1900" spc="-6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D3DCE6"/>
                </a:solidFill>
                <a:latin typeface="Arial"/>
                <a:cs typeface="Arial"/>
              </a:rPr>
              <a:t>opportunity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D3DCE6"/>
                </a:solidFill>
                <a:latin typeface="Arial"/>
                <a:cs typeface="Arial"/>
              </a:rPr>
              <a:t>to </a:t>
            </a:r>
            <a:r>
              <a:rPr sz="1900" spc="-50" dirty="0">
                <a:solidFill>
                  <a:srgbClr val="D3DCE6"/>
                </a:solidFill>
                <a:latin typeface="Arial"/>
                <a:cs typeface="Arial"/>
              </a:rPr>
              <a:t>work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50" dirty="0">
                <a:solidFill>
                  <a:srgbClr val="D3DCE6"/>
                </a:solidFill>
                <a:latin typeface="Arial"/>
                <a:cs typeface="Arial"/>
              </a:rPr>
              <a:t>remotely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D3DCE6"/>
                </a:solidFill>
                <a:latin typeface="Arial"/>
                <a:cs typeface="Arial"/>
              </a:rPr>
              <a:t>or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on-</a:t>
            </a:r>
            <a:r>
              <a:rPr sz="1900" spc="-60" dirty="0">
                <a:solidFill>
                  <a:srgbClr val="D3DCE6"/>
                </a:solidFill>
                <a:latin typeface="Arial"/>
                <a:cs typeface="Arial"/>
              </a:rPr>
              <a:t>site,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depending </a:t>
            </a:r>
            <a:r>
              <a:rPr sz="1900" spc="-25" dirty="0">
                <a:solidFill>
                  <a:srgbClr val="D3DCE6"/>
                </a:solidFill>
                <a:latin typeface="Arial"/>
                <a:cs typeface="Arial"/>
              </a:rPr>
              <a:t>on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ts val="2250"/>
              </a:lnSpc>
            </a:pPr>
            <a:r>
              <a:rPr sz="1900" dirty="0">
                <a:solidFill>
                  <a:srgbClr val="D3DCE6"/>
                </a:solidFill>
                <a:latin typeface="Arial"/>
                <a:cs typeface="Arial"/>
              </a:rPr>
              <a:t>their</a:t>
            </a:r>
            <a:r>
              <a:rPr sz="1900" spc="-13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preferences.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0"/>
            <a:ext cx="6858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Forade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609" y="337819"/>
            <a:ext cx="4344670" cy="563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2715">
              <a:lnSpc>
                <a:spcPct val="100000"/>
              </a:lnSpc>
              <a:spcBef>
                <a:spcPts val="100"/>
              </a:spcBef>
            </a:pPr>
            <a:r>
              <a:rPr sz="2400" b="1" spc="-165" dirty="0">
                <a:solidFill>
                  <a:srgbClr val="7C97B3"/>
                </a:solidFill>
                <a:latin typeface="Arial"/>
                <a:cs typeface="Arial"/>
              </a:rPr>
              <a:t>Partnering</a:t>
            </a:r>
            <a:r>
              <a:rPr sz="2400" b="1" spc="-114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85" dirty="0">
                <a:solidFill>
                  <a:srgbClr val="7C97B3"/>
                </a:solidFill>
                <a:latin typeface="Arial"/>
                <a:cs typeface="Arial"/>
              </a:rPr>
              <a:t>with</a:t>
            </a:r>
            <a:r>
              <a:rPr sz="2400" b="1" spc="-114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190" dirty="0">
                <a:solidFill>
                  <a:srgbClr val="7C97B3"/>
                </a:solidFill>
                <a:latin typeface="Arial"/>
                <a:cs typeface="Arial"/>
              </a:rPr>
              <a:t>Electronic</a:t>
            </a:r>
            <a:r>
              <a:rPr sz="2400" b="1" spc="-114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100" dirty="0">
                <a:solidFill>
                  <a:srgbClr val="7C97B3"/>
                </a:solidFill>
                <a:latin typeface="Arial"/>
                <a:cs typeface="Arial"/>
              </a:rPr>
              <a:t>Health </a:t>
            </a:r>
            <a:r>
              <a:rPr sz="2400" b="1" spc="-260" dirty="0">
                <a:solidFill>
                  <a:srgbClr val="7C97B3"/>
                </a:solidFill>
                <a:latin typeface="Arial"/>
                <a:cs typeface="Arial"/>
              </a:rPr>
              <a:t>Records</a:t>
            </a:r>
            <a:r>
              <a:rPr sz="2400" b="1" spc="-100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110" dirty="0">
                <a:solidFill>
                  <a:srgbClr val="7C97B3"/>
                </a:solidFill>
                <a:latin typeface="Arial"/>
                <a:cs typeface="Arial"/>
              </a:rPr>
              <a:t>Companies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2000" spc="-30" dirty="0">
                <a:solidFill>
                  <a:srgbClr val="D3DCE6"/>
                </a:solidFill>
                <a:latin typeface="Arial"/>
                <a:cs typeface="Arial"/>
              </a:rPr>
              <a:t>After</a:t>
            </a:r>
            <a:r>
              <a:rPr sz="2000" spc="-70" dirty="0">
                <a:solidFill>
                  <a:srgbClr val="D3DCE6"/>
                </a:solidFill>
                <a:latin typeface="Arial"/>
                <a:cs typeface="Arial"/>
              </a:rPr>
              <a:t> completing </a:t>
            </a:r>
            <a:r>
              <a:rPr sz="20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65" dirty="0">
                <a:solidFill>
                  <a:srgbClr val="D3DCE6"/>
                </a:solidFill>
                <a:latin typeface="Arial"/>
                <a:cs typeface="Arial"/>
              </a:rPr>
              <a:t> partnership</a:t>
            </a:r>
            <a:r>
              <a:rPr sz="20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with</a:t>
            </a:r>
            <a:r>
              <a:rPr sz="20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D3DCE6"/>
                </a:solidFill>
                <a:latin typeface="Arial"/>
                <a:cs typeface="Arial"/>
              </a:rPr>
              <a:t>the </a:t>
            </a:r>
            <a:r>
              <a:rPr sz="2000" spc="-120" dirty="0">
                <a:solidFill>
                  <a:srgbClr val="D3DCE6"/>
                </a:solidFill>
                <a:latin typeface="Arial"/>
                <a:cs typeface="Arial"/>
              </a:rPr>
              <a:t>Veterans</a:t>
            </a:r>
            <a:r>
              <a:rPr sz="20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Association,</a:t>
            </a:r>
            <a:r>
              <a:rPr sz="20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6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National 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Unemployment </a:t>
            </a:r>
            <a:r>
              <a:rPr sz="2000" spc="-70" dirty="0">
                <a:solidFill>
                  <a:srgbClr val="D3DCE6"/>
                </a:solidFill>
                <a:latin typeface="Arial"/>
                <a:cs typeface="Arial"/>
              </a:rPr>
              <a:t>Office,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5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Workforce </a:t>
            </a:r>
            <a:r>
              <a:rPr sz="2000" spc="-65" dirty="0">
                <a:solidFill>
                  <a:srgbClr val="D3DCE6"/>
                </a:solidFill>
                <a:latin typeface="Arial"/>
                <a:cs typeface="Arial"/>
              </a:rPr>
              <a:t>National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Offices,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6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70" dirty="0">
                <a:solidFill>
                  <a:srgbClr val="D3DCE6"/>
                </a:solidFill>
                <a:latin typeface="Arial"/>
                <a:cs typeface="Arial"/>
              </a:rPr>
              <a:t>NICEHR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Group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plans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D3DCE6"/>
                </a:solidFill>
                <a:latin typeface="Arial"/>
                <a:cs typeface="Arial"/>
              </a:rPr>
              <a:t>partner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with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leading 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Electronic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70" dirty="0">
                <a:solidFill>
                  <a:srgbClr val="D3DCE6"/>
                </a:solidFill>
                <a:latin typeface="Arial"/>
                <a:cs typeface="Arial"/>
              </a:rPr>
              <a:t>Health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55" dirty="0">
                <a:solidFill>
                  <a:srgbClr val="D3DCE6"/>
                </a:solidFill>
                <a:latin typeface="Arial"/>
                <a:cs typeface="Arial"/>
              </a:rPr>
              <a:t>Records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(EHR) </a:t>
            </a:r>
            <a:r>
              <a:rPr sz="2000" spc="-110" dirty="0">
                <a:solidFill>
                  <a:srgbClr val="D3DCE6"/>
                </a:solidFill>
                <a:latin typeface="Arial"/>
                <a:cs typeface="Arial"/>
              </a:rPr>
              <a:t>companies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30" dirty="0">
                <a:solidFill>
                  <a:srgbClr val="D3DCE6"/>
                </a:solidFill>
                <a:latin typeface="Arial"/>
                <a:cs typeface="Arial"/>
              </a:rPr>
              <a:t>such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95" dirty="0">
                <a:solidFill>
                  <a:srgbClr val="D3DCE6"/>
                </a:solidFill>
                <a:latin typeface="Arial"/>
                <a:cs typeface="Arial"/>
              </a:rPr>
              <a:t>as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40" dirty="0">
                <a:solidFill>
                  <a:srgbClr val="D3DCE6"/>
                </a:solidFill>
                <a:latin typeface="Arial"/>
                <a:cs typeface="Arial"/>
              </a:rPr>
              <a:t>Epic,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Cerner, </a:t>
            </a:r>
            <a:r>
              <a:rPr sz="2000" spc="-114" dirty="0">
                <a:solidFill>
                  <a:srgbClr val="D3DCE6"/>
                </a:solidFill>
                <a:latin typeface="Arial"/>
                <a:cs typeface="Arial"/>
              </a:rPr>
              <a:t>Veradigm,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Athena,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95" dirty="0">
                <a:solidFill>
                  <a:srgbClr val="D3DCE6"/>
                </a:solidFill>
                <a:latin typeface="Arial"/>
                <a:cs typeface="Arial"/>
              </a:rPr>
              <a:t>ECW,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D3DCE6"/>
                </a:solidFill>
                <a:latin typeface="Arial"/>
                <a:cs typeface="Arial"/>
              </a:rPr>
              <a:t>many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others.</a:t>
            </a:r>
            <a:endParaRPr sz="2000">
              <a:latin typeface="Arial"/>
              <a:cs typeface="Arial"/>
            </a:endParaRPr>
          </a:p>
          <a:p>
            <a:pPr marL="12700" marR="73660">
              <a:lnSpc>
                <a:spcPct val="100000"/>
              </a:lnSpc>
            </a:pPr>
            <a:r>
              <a:rPr sz="2000" spc="-145" dirty="0">
                <a:solidFill>
                  <a:srgbClr val="D3DCE6"/>
                </a:solidFill>
                <a:latin typeface="Arial"/>
                <a:cs typeface="Arial"/>
              </a:rPr>
              <a:t>This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D3DCE6"/>
                </a:solidFill>
                <a:latin typeface="Arial"/>
                <a:cs typeface="Arial"/>
              </a:rPr>
              <a:t>partnership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will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give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6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70" dirty="0">
                <a:solidFill>
                  <a:srgbClr val="D3DCE6"/>
                </a:solidFill>
                <a:latin typeface="Arial"/>
                <a:cs typeface="Arial"/>
              </a:rPr>
              <a:t>NICEHR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Group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75" dirty="0">
                <a:solidFill>
                  <a:srgbClr val="D3DCE6"/>
                </a:solidFill>
                <a:latin typeface="Arial"/>
                <a:cs typeface="Arial"/>
              </a:rPr>
              <a:t>access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25" dirty="0">
                <a:solidFill>
                  <a:srgbClr val="D3DCE6"/>
                </a:solidFill>
                <a:latin typeface="Arial"/>
                <a:cs typeface="Arial"/>
              </a:rPr>
              <a:t>sandbox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training 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environments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D3DCE6"/>
                </a:solidFill>
                <a:latin typeface="Arial"/>
                <a:cs typeface="Arial"/>
              </a:rPr>
              <a:t>provided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D3DCE6"/>
                </a:solidFill>
                <a:latin typeface="Arial"/>
                <a:cs typeface="Arial"/>
              </a:rPr>
              <a:t>by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these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35" dirty="0">
                <a:solidFill>
                  <a:srgbClr val="D3DCE6"/>
                </a:solidFill>
                <a:latin typeface="Arial"/>
                <a:cs typeface="Arial"/>
              </a:rPr>
              <a:t>EHR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companies,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D3DCE6"/>
                </a:solidFill>
                <a:latin typeface="Arial"/>
                <a:cs typeface="Arial"/>
              </a:rPr>
              <a:t>allowing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D3DCE6"/>
                </a:solidFill>
                <a:latin typeface="Arial"/>
                <a:cs typeface="Arial"/>
              </a:rPr>
              <a:t>participants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D3DCE6"/>
                </a:solidFill>
                <a:latin typeface="Arial"/>
                <a:cs typeface="Arial"/>
              </a:rPr>
              <a:t>in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D3DCE6"/>
                </a:solidFill>
                <a:latin typeface="Arial"/>
                <a:cs typeface="Arial"/>
              </a:rPr>
              <a:t>the </a:t>
            </a:r>
            <a:r>
              <a:rPr sz="2000" spc="-310" dirty="0">
                <a:solidFill>
                  <a:srgbClr val="D3DCE6"/>
                </a:solidFill>
                <a:latin typeface="Arial"/>
                <a:cs typeface="Arial"/>
              </a:rPr>
              <a:t>EHR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Bootcamp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program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D3DCE6"/>
                </a:solidFill>
                <a:latin typeface="Arial"/>
                <a:cs typeface="Arial"/>
              </a:rPr>
              <a:t>gain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D3DCE6"/>
                </a:solidFill>
                <a:latin typeface="Arial"/>
                <a:cs typeface="Arial"/>
              </a:rPr>
              <a:t>hands-</a:t>
            </a:r>
            <a:r>
              <a:rPr sz="2000" spc="-25" dirty="0">
                <a:solidFill>
                  <a:srgbClr val="D3DCE6"/>
                </a:solidFill>
                <a:latin typeface="Arial"/>
                <a:cs typeface="Arial"/>
              </a:rPr>
              <a:t>on </a:t>
            </a:r>
            <a:r>
              <a:rPr sz="2000" spc="-100" dirty="0">
                <a:solidFill>
                  <a:srgbClr val="D3DCE6"/>
                </a:solidFill>
                <a:latin typeface="Arial"/>
                <a:cs typeface="Arial"/>
              </a:rPr>
              <a:t>experience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with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D3DCE6"/>
                </a:solidFill>
                <a:latin typeface="Arial"/>
                <a:cs typeface="Arial"/>
              </a:rPr>
              <a:t>latest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35" dirty="0">
                <a:solidFill>
                  <a:srgbClr val="D3DCE6"/>
                </a:solidFill>
                <a:latin typeface="Arial"/>
                <a:cs typeface="Arial"/>
              </a:rPr>
              <a:t>EHR 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technologies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tools.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0"/>
            <a:ext cx="6858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Forade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609" y="337819"/>
            <a:ext cx="4351655" cy="533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0520">
              <a:lnSpc>
                <a:spcPct val="100000"/>
              </a:lnSpc>
              <a:spcBef>
                <a:spcPts val="100"/>
              </a:spcBef>
            </a:pPr>
            <a:r>
              <a:rPr sz="2400" b="1" spc="-170" dirty="0">
                <a:solidFill>
                  <a:srgbClr val="7C97B3"/>
                </a:solidFill>
                <a:latin typeface="Arial"/>
                <a:cs typeface="Arial"/>
              </a:rPr>
              <a:t>Benefits</a:t>
            </a:r>
            <a:r>
              <a:rPr sz="2400" b="1" spc="-110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120" dirty="0">
                <a:solidFill>
                  <a:srgbClr val="7C97B3"/>
                </a:solidFill>
                <a:latin typeface="Arial"/>
                <a:cs typeface="Arial"/>
              </a:rPr>
              <a:t>of</a:t>
            </a:r>
            <a:r>
              <a:rPr sz="2400" b="1" spc="-114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210" dirty="0">
                <a:solidFill>
                  <a:srgbClr val="7C97B3"/>
                </a:solidFill>
                <a:latin typeface="Arial"/>
                <a:cs typeface="Arial"/>
              </a:rPr>
              <a:t>The</a:t>
            </a:r>
            <a:r>
              <a:rPr sz="2400" b="1" spc="-114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290" dirty="0">
                <a:solidFill>
                  <a:srgbClr val="7C97B3"/>
                </a:solidFill>
                <a:latin typeface="Arial"/>
                <a:cs typeface="Arial"/>
              </a:rPr>
              <a:t>NICEHR</a:t>
            </a:r>
            <a:r>
              <a:rPr sz="2400" b="1" spc="-114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185" dirty="0">
                <a:solidFill>
                  <a:srgbClr val="7C97B3"/>
                </a:solidFill>
                <a:latin typeface="Arial"/>
                <a:cs typeface="Arial"/>
              </a:rPr>
              <a:t>Group's </a:t>
            </a:r>
            <a:r>
              <a:rPr sz="2400" b="1" spc="-355" dirty="0">
                <a:solidFill>
                  <a:srgbClr val="7C97B3"/>
                </a:solidFill>
                <a:latin typeface="Arial"/>
                <a:cs typeface="Arial"/>
              </a:rPr>
              <a:t>EHR</a:t>
            </a:r>
            <a:r>
              <a:rPr sz="2400" b="1" spc="-125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210" dirty="0">
                <a:solidFill>
                  <a:srgbClr val="7C97B3"/>
                </a:solidFill>
                <a:latin typeface="Arial"/>
                <a:cs typeface="Arial"/>
              </a:rPr>
              <a:t>Bootcamp</a:t>
            </a:r>
            <a:r>
              <a:rPr sz="2400" b="1" spc="-120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65" dirty="0">
                <a:solidFill>
                  <a:srgbClr val="7C97B3"/>
                </a:solidFill>
                <a:latin typeface="Arial"/>
                <a:cs typeface="Arial"/>
              </a:rPr>
              <a:t>Program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40"/>
              </a:spcBef>
            </a:pPr>
            <a:r>
              <a:rPr sz="2000" spc="-16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60" dirty="0">
                <a:solidFill>
                  <a:srgbClr val="D3DCE6"/>
                </a:solidFill>
                <a:latin typeface="Arial"/>
                <a:cs typeface="Arial"/>
              </a:rPr>
              <a:t>NICEHR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D3DCE6"/>
                </a:solidFill>
                <a:latin typeface="Arial"/>
                <a:cs typeface="Arial"/>
              </a:rPr>
              <a:t>Group's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10" dirty="0">
                <a:solidFill>
                  <a:srgbClr val="D3DCE6"/>
                </a:solidFill>
                <a:latin typeface="Arial"/>
                <a:cs typeface="Arial"/>
              </a:rPr>
              <a:t>EHR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Bootcamp 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program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offers </a:t>
            </a:r>
            <a:r>
              <a:rPr sz="2000" spc="-110" dirty="0">
                <a:solidFill>
                  <a:srgbClr val="D3DCE6"/>
                </a:solidFill>
                <a:latin typeface="Arial"/>
                <a:cs typeface="Arial"/>
              </a:rPr>
              <a:t>several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D3DCE6"/>
                </a:solidFill>
                <a:latin typeface="Arial"/>
                <a:cs typeface="Arial"/>
              </a:rPr>
              <a:t>benefits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D3DCE6"/>
                </a:solidFill>
                <a:latin typeface="Arial"/>
                <a:cs typeface="Arial"/>
              </a:rPr>
              <a:t>to </a:t>
            </a:r>
            <a:r>
              <a:rPr sz="2000" spc="-60" dirty="0">
                <a:solidFill>
                  <a:srgbClr val="D3DCE6"/>
                </a:solidFill>
                <a:latin typeface="Arial"/>
                <a:cs typeface="Arial"/>
              </a:rPr>
              <a:t>participants.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Firstly,</a:t>
            </a:r>
            <a:r>
              <a:rPr sz="2000" spc="-6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D3DCE6"/>
                </a:solidFill>
                <a:latin typeface="Arial"/>
                <a:cs typeface="Arial"/>
              </a:rPr>
              <a:t>it</a:t>
            </a:r>
            <a:r>
              <a:rPr sz="2000" spc="-6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provides</a:t>
            </a:r>
            <a:r>
              <a:rPr sz="2000" spc="-6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D3DCE6"/>
                </a:solidFill>
                <a:latin typeface="Arial"/>
                <a:cs typeface="Arial"/>
              </a:rPr>
              <a:t>an </a:t>
            </a:r>
            <a:r>
              <a:rPr sz="2000" spc="-30" dirty="0">
                <a:solidFill>
                  <a:srgbClr val="D3DCE6"/>
                </a:solidFill>
                <a:latin typeface="Arial"/>
                <a:cs typeface="Arial"/>
              </a:rPr>
              <a:t>opportunity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for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D3DCE6"/>
                </a:solidFill>
                <a:latin typeface="Arial"/>
                <a:cs typeface="Arial"/>
              </a:rPr>
              <a:t>veterans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60" dirty="0">
                <a:solidFill>
                  <a:srgbClr val="D3DCE6"/>
                </a:solidFill>
                <a:latin typeface="Arial"/>
                <a:cs typeface="Arial"/>
              </a:rPr>
              <a:t>unemployed </a:t>
            </a:r>
            <a:r>
              <a:rPr sz="2000" spc="-114" dirty="0">
                <a:solidFill>
                  <a:srgbClr val="D3DCE6"/>
                </a:solidFill>
                <a:latin typeface="Arial"/>
                <a:cs typeface="Arial"/>
              </a:rPr>
              <a:t>Americans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D3DCE6"/>
                </a:solidFill>
                <a:latin typeface="Arial"/>
                <a:cs typeface="Arial"/>
              </a:rPr>
              <a:t>gain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valuable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skills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D3DCE6"/>
                </a:solidFill>
                <a:latin typeface="Arial"/>
                <a:cs typeface="Arial"/>
              </a:rPr>
              <a:t>and 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knowledge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D3DCE6"/>
                </a:solidFill>
                <a:latin typeface="Arial"/>
                <a:cs typeface="Arial"/>
              </a:rPr>
              <a:t>in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healthcare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65" dirty="0">
                <a:solidFill>
                  <a:srgbClr val="D3DCE6"/>
                </a:solidFill>
                <a:latin typeface="Arial"/>
                <a:cs typeface="Arial"/>
              </a:rPr>
              <a:t>IT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industry, 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which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D3DCE6"/>
                </a:solidFill>
                <a:latin typeface="Arial"/>
                <a:cs typeface="Arial"/>
              </a:rPr>
              <a:t>is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D3DCE6"/>
                </a:solidFill>
                <a:latin typeface="Arial"/>
                <a:cs typeface="Arial"/>
              </a:rPr>
              <a:t>in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high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demand.</a:t>
            </a:r>
            <a:endParaRPr sz="2000" dirty="0">
              <a:latin typeface="Arial"/>
              <a:cs typeface="Arial"/>
            </a:endParaRPr>
          </a:p>
          <a:p>
            <a:pPr marL="12700" marR="110489">
              <a:lnSpc>
                <a:spcPct val="100000"/>
              </a:lnSpc>
            </a:pPr>
            <a:r>
              <a:rPr sz="2000" spc="-140" dirty="0">
                <a:solidFill>
                  <a:srgbClr val="D3DCE6"/>
                </a:solidFill>
                <a:latin typeface="Arial"/>
                <a:cs typeface="Arial"/>
              </a:rPr>
              <a:t>Secondly,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program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offers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flexible 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learning </a:t>
            </a:r>
            <a:r>
              <a:rPr sz="2000" spc="-60" dirty="0">
                <a:solidFill>
                  <a:srgbClr val="D3DCE6"/>
                </a:solidFill>
                <a:latin typeface="Arial"/>
                <a:cs typeface="Arial"/>
              </a:rPr>
              <a:t>options, </a:t>
            </a:r>
            <a:r>
              <a:rPr sz="2000" spc="-65" dirty="0">
                <a:solidFill>
                  <a:srgbClr val="D3DCE6"/>
                </a:solidFill>
                <a:latin typeface="Arial"/>
                <a:cs typeface="Arial"/>
              </a:rPr>
              <a:t>allowing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D3DCE6"/>
                </a:solidFill>
                <a:latin typeface="Arial"/>
                <a:cs typeface="Arial"/>
              </a:rPr>
              <a:t>participants</a:t>
            </a:r>
            <a:r>
              <a:rPr sz="2000" spc="-6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D3DCE6"/>
                </a:solidFill>
                <a:latin typeface="Arial"/>
                <a:cs typeface="Arial"/>
              </a:rPr>
              <a:t>to </a:t>
            </a:r>
            <a:r>
              <a:rPr sz="2000" spc="-65" dirty="0">
                <a:solidFill>
                  <a:srgbClr val="D3DCE6"/>
                </a:solidFill>
                <a:latin typeface="Arial"/>
                <a:cs typeface="Arial"/>
              </a:rPr>
              <a:t>learn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D3DCE6"/>
                </a:solidFill>
                <a:latin typeface="Arial"/>
                <a:cs typeface="Arial"/>
              </a:rPr>
              <a:t>at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their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70" dirty="0">
                <a:solidFill>
                  <a:srgbClr val="D3DCE6"/>
                </a:solidFill>
                <a:latin typeface="Arial"/>
                <a:cs typeface="Arial"/>
              </a:rPr>
              <a:t>own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35" dirty="0">
                <a:solidFill>
                  <a:srgbClr val="D3DCE6"/>
                </a:solidFill>
                <a:latin typeface="Arial"/>
                <a:cs typeface="Arial"/>
              </a:rPr>
              <a:t>pace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D3DCE6"/>
                </a:solidFill>
                <a:latin typeface="Arial"/>
                <a:cs typeface="Arial"/>
              </a:rPr>
              <a:t>from 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anywhere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D3DCE6"/>
                </a:solidFill>
                <a:latin typeface="Arial"/>
                <a:cs typeface="Arial"/>
              </a:rPr>
              <a:t>in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D3DCE6"/>
                </a:solidFill>
                <a:latin typeface="Arial"/>
                <a:cs typeface="Arial"/>
              </a:rPr>
              <a:t>world.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Finally,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D3DCE6"/>
                </a:solidFill>
                <a:latin typeface="Arial"/>
                <a:cs typeface="Arial"/>
              </a:rPr>
              <a:t>upon </a:t>
            </a:r>
            <a:r>
              <a:rPr sz="2000" spc="-60" dirty="0">
                <a:solidFill>
                  <a:srgbClr val="D3DCE6"/>
                </a:solidFill>
                <a:latin typeface="Arial"/>
                <a:cs typeface="Arial"/>
              </a:rPr>
              <a:t>completion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of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program,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participants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will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25" dirty="0">
                <a:solidFill>
                  <a:srgbClr val="D3DCE6"/>
                </a:solidFill>
                <a:latin typeface="Arial"/>
                <a:cs typeface="Arial"/>
              </a:rPr>
              <a:t>have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D3DCE6"/>
                </a:solidFill>
                <a:latin typeface="Arial"/>
                <a:cs typeface="Arial"/>
              </a:rPr>
              <a:t>opportunity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D3DCE6"/>
                </a:solidFill>
                <a:latin typeface="Arial"/>
                <a:cs typeface="Arial"/>
              </a:rPr>
              <a:t>work </a:t>
            </a:r>
            <a:r>
              <a:rPr sz="2000" spc="-55" dirty="0">
                <a:solidFill>
                  <a:srgbClr val="D3DCE6"/>
                </a:solidFill>
                <a:latin typeface="Arial"/>
                <a:cs typeface="Arial"/>
              </a:rPr>
              <a:t>remotely</a:t>
            </a:r>
            <a:r>
              <a:rPr sz="20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D3DCE6"/>
                </a:solidFill>
                <a:latin typeface="Arial"/>
                <a:cs typeface="Arial"/>
              </a:rPr>
              <a:t>or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on-</a:t>
            </a:r>
            <a:r>
              <a:rPr sz="2000" spc="-60" dirty="0">
                <a:solidFill>
                  <a:srgbClr val="D3DCE6"/>
                </a:solidFill>
                <a:latin typeface="Arial"/>
                <a:cs typeface="Arial"/>
              </a:rPr>
              <a:t>site,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depending 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on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their preferences.</a:t>
            </a:r>
            <a:endParaRPr sz="20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0"/>
            <a:ext cx="6858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Forade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609" y="337819"/>
            <a:ext cx="4258310" cy="563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6370">
              <a:lnSpc>
                <a:spcPct val="100000"/>
              </a:lnSpc>
              <a:spcBef>
                <a:spcPts val="100"/>
              </a:spcBef>
            </a:pPr>
            <a:r>
              <a:rPr sz="2400" b="1" spc="-210" dirty="0">
                <a:solidFill>
                  <a:srgbClr val="7C97B3"/>
                </a:solidFill>
                <a:latin typeface="Arial"/>
                <a:cs typeface="Arial"/>
              </a:rPr>
              <a:t>The</a:t>
            </a:r>
            <a:r>
              <a:rPr sz="2400" b="1" spc="-100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155" dirty="0">
                <a:solidFill>
                  <a:srgbClr val="7C97B3"/>
                </a:solidFill>
                <a:latin typeface="Arial"/>
                <a:cs typeface="Arial"/>
              </a:rPr>
              <a:t>Importance</a:t>
            </a:r>
            <a:r>
              <a:rPr sz="2400" b="1" spc="-95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120" dirty="0">
                <a:solidFill>
                  <a:srgbClr val="7C97B3"/>
                </a:solidFill>
                <a:latin typeface="Arial"/>
                <a:cs typeface="Arial"/>
              </a:rPr>
              <a:t>of</a:t>
            </a:r>
            <a:r>
              <a:rPr sz="2400" b="1" spc="-95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160" dirty="0">
                <a:solidFill>
                  <a:srgbClr val="7C97B3"/>
                </a:solidFill>
                <a:latin typeface="Arial"/>
                <a:cs typeface="Arial"/>
              </a:rPr>
              <a:t>Healthcare</a:t>
            </a:r>
            <a:r>
              <a:rPr sz="2400" b="1" spc="-95" dirty="0">
                <a:solidFill>
                  <a:srgbClr val="7C97B3"/>
                </a:solidFill>
                <a:latin typeface="Arial"/>
                <a:cs typeface="Arial"/>
              </a:rPr>
              <a:t> </a:t>
            </a:r>
            <a:r>
              <a:rPr sz="2400" b="1" spc="-65" dirty="0">
                <a:solidFill>
                  <a:srgbClr val="7C97B3"/>
                </a:solidFill>
                <a:latin typeface="Arial"/>
                <a:cs typeface="Arial"/>
              </a:rPr>
              <a:t>IT </a:t>
            </a:r>
            <a:r>
              <a:rPr sz="2400" b="1" spc="-114" dirty="0">
                <a:solidFill>
                  <a:srgbClr val="7C97B3"/>
                </a:solidFill>
                <a:latin typeface="Arial"/>
                <a:cs typeface="Arial"/>
              </a:rPr>
              <a:t>Consulting</a:t>
            </a:r>
            <a:endParaRPr sz="2400">
              <a:latin typeface="Arial"/>
              <a:cs typeface="Arial"/>
            </a:endParaRPr>
          </a:p>
          <a:p>
            <a:pPr marL="12700" marR="17780">
              <a:lnSpc>
                <a:spcPct val="100000"/>
              </a:lnSpc>
              <a:spcBef>
                <a:spcPts val="40"/>
              </a:spcBef>
            </a:pP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Healthcare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65" dirty="0">
                <a:solidFill>
                  <a:srgbClr val="D3DCE6"/>
                </a:solidFill>
                <a:latin typeface="Arial"/>
                <a:cs typeface="Arial"/>
              </a:rPr>
              <a:t>IT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consulting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30" dirty="0">
                <a:solidFill>
                  <a:srgbClr val="D3DCE6"/>
                </a:solidFill>
                <a:latin typeface="Arial"/>
                <a:cs typeface="Arial"/>
              </a:rPr>
              <a:t>plays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65" dirty="0">
                <a:solidFill>
                  <a:srgbClr val="D3DCE6"/>
                </a:solidFill>
                <a:latin typeface="Arial"/>
                <a:cs typeface="Arial"/>
              </a:rPr>
              <a:t>a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crucial </a:t>
            </a:r>
            <a:r>
              <a:rPr sz="2000" spc="-55" dirty="0">
                <a:solidFill>
                  <a:srgbClr val="D3DCE6"/>
                </a:solidFill>
                <a:latin typeface="Arial"/>
                <a:cs typeface="Arial"/>
              </a:rPr>
              <a:t>role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D3DCE6"/>
                </a:solidFill>
                <a:latin typeface="Arial"/>
                <a:cs typeface="Arial"/>
              </a:rPr>
              <a:t>in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D3DCE6"/>
                </a:solidFill>
                <a:latin typeface="Arial"/>
                <a:cs typeface="Arial"/>
              </a:rPr>
              <a:t>improving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D3DCE6"/>
                </a:solidFill>
                <a:latin typeface="Arial"/>
                <a:cs typeface="Arial"/>
              </a:rPr>
              <a:t>patient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20" dirty="0">
                <a:solidFill>
                  <a:srgbClr val="D3DCE6"/>
                </a:solidFill>
                <a:latin typeface="Arial"/>
                <a:cs typeface="Arial"/>
              </a:rPr>
              <a:t>care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D3DCE6"/>
                </a:solidFill>
                <a:latin typeface="Arial"/>
                <a:cs typeface="Arial"/>
              </a:rPr>
              <a:t>and 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outcomes.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With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70" dirty="0">
                <a:solidFill>
                  <a:srgbClr val="D3DCE6"/>
                </a:solidFill>
                <a:latin typeface="Arial"/>
                <a:cs typeface="Arial"/>
              </a:rPr>
              <a:t>rapid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advancement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of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technology,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healthcare providers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40" dirty="0">
                <a:solidFill>
                  <a:srgbClr val="D3DCE6"/>
                </a:solidFill>
                <a:latin typeface="Arial"/>
                <a:cs typeface="Arial"/>
              </a:rPr>
              <a:t>need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10" dirty="0">
                <a:solidFill>
                  <a:srgbClr val="D3DCE6"/>
                </a:solidFill>
                <a:latin typeface="Arial"/>
                <a:cs typeface="Arial"/>
              </a:rPr>
              <a:t>stay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up-</a:t>
            </a:r>
            <a:r>
              <a:rPr sz="2000" spc="-20" dirty="0">
                <a:solidFill>
                  <a:srgbClr val="D3DCE6"/>
                </a:solidFill>
                <a:latin typeface="Arial"/>
                <a:cs typeface="Arial"/>
              </a:rPr>
              <a:t>to-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date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with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D3DCE6"/>
                </a:solidFill>
                <a:latin typeface="Arial"/>
                <a:cs typeface="Arial"/>
              </a:rPr>
              <a:t>latest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tools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techniques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65" dirty="0">
                <a:solidFill>
                  <a:srgbClr val="D3DCE6"/>
                </a:solidFill>
                <a:latin typeface="Arial"/>
                <a:cs typeface="Arial"/>
              </a:rPr>
              <a:t>provide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D3DCE6"/>
                </a:solidFill>
                <a:latin typeface="Arial"/>
                <a:cs typeface="Arial"/>
              </a:rPr>
              <a:t>best 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possible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20" dirty="0">
                <a:solidFill>
                  <a:srgbClr val="D3DCE6"/>
                </a:solidFill>
                <a:latin typeface="Arial"/>
                <a:cs typeface="Arial"/>
              </a:rPr>
              <a:t>care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their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patients.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000" spc="-16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60" dirty="0">
                <a:solidFill>
                  <a:srgbClr val="D3DCE6"/>
                </a:solidFill>
                <a:latin typeface="Arial"/>
                <a:cs typeface="Arial"/>
              </a:rPr>
              <a:t>NICEHR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D3DCE6"/>
                </a:solidFill>
                <a:latin typeface="Arial"/>
                <a:cs typeface="Arial"/>
              </a:rPr>
              <a:t>Group's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team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of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experts 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provides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consulting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rgbClr val="D3DCE6"/>
                </a:solidFill>
                <a:latin typeface="Arial"/>
                <a:cs typeface="Arial"/>
              </a:rPr>
              <a:t>services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that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D3DCE6"/>
                </a:solidFill>
                <a:latin typeface="Arial"/>
                <a:cs typeface="Arial"/>
              </a:rPr>
              <a:t>help 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healthcare</a:t>
            </a:r>
            <a:r>
              <a:rPr sz="2000" spc="-6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providers</a:t>
            </a:r>
            <a:r>
              <a:rPr sz="2000" spc="-5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70" dirty="0">
                <a:solidFill>
                  <a:srgbClr val="D3DCE6"/>
                </a:solidFill>
                <a:latin typeface="Arial"/>
                <a:cs typeface="Arial"/>
              </a:rPr>
              <a:t>streamline</a:t>
            </a:r>
            <a:r>
              <a:rPr sz="2000" spc="-5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their </a:t>
            </a:r>
            <a:r>
              <a:rPr sz="2000" spc="-130" dirty="0">
                <a:solidFill>
                  <a:srgbClr val="D3DCE6"/>
                </a:solidFill>
                <a:latin typeface="Arial"/>
                <a:cs typeface="Arial"/>
              </a:rPr>
              <a:t>processes,</a:t>
            </a:r>
            <a:r>
              <a:rPr sz="20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D3DCE6"/>
                </a:solidFill>
                <a:latin typeface="Arial"/>
                <a:cs typeface="Arial"/>
              </a:rPr>
              <a:t>implement</a:t>
            </a:r>
            <a:r>
              <a:rPr sz="20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new </a:t>
            </a:r>
            <a:r>
              <a:rPr sz="2000" spc="-45" dirty="0">
                <a:solidFill>
                  <a:srgbClr val="D3DCE6"/>
                </a:solidFill>
                <a:latin typeface="Arial"/>
                <a:cs typeface="Arial"/>
              </a:rPr>
              <a:t>technologies,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70" dirty="0">
                <a:solidFill>
                  <a:srgbClr val="D3DCE6"/>
                </a:solidFill>
                <a:latin typeface="Arial"/>
                <a:cs typeface="Arial"/>
              </a:rPr>
              <a:t>improve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D3DCE6"/>
                </a:solidFill>
                <a:latin typeface="Arial"/>
                <a:cs typeface="Arial"/>
              </a:rPr>
              <a:t>patient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care.</a:t>
            </a:r>
            <a:r>
              <a:rPr sz="20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95" dirty="0">
                <a:solidFill>
                  <a:srgbClr val="D3DCE6"/>
                </a:solidFill>
                <a:latin typeface="Arial"/>
                <a:cs typeface="Arial"/>
              </a:rPr>
              <a:t>By</a:t>
            </a:r>
            <a:r>
              <a:rPr sz="20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partnering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with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6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260" dirty="0">
                <a:solidFill>
                  <a:srgbClr val="D3DCE6"/>
                </a:solidFill>
                <a:latin typeface="Arial"/>
                <a:cs typeface="Arial"/>
              </a:rPr>
              <a:t>NICEHR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Group,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healthcare 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providers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40" dirty="0">
                <a:solidFill>
                  <a:srgbClr val="D3DCE6"/>
                </a:solidFill>
                <a:latin typeface="Arial"/>
                <a:cs typeface="Arial"/>
              </a:rPr>
              <a:t>can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5" dirty="0">
                <a:solidFill>
                  <a:srgbClr val="D3DCE6"/>
                </a:solidFill>
                <a:latin typeface="Arial"/>
                <a:cs typeface="Arial"/>
              </a:rPr>
              <a:t>focus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on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D3DCE6"/>
                </a:solidFill>
                <a:latin typeface="Arial"/>
                <a:cs typeface="Arial"/>
              </a:rPr>
              <a:t>what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D3DCE6"/>
                </a:solidFill>
                <a:latin typeface="Arial"/>
                <a:cs typeface="Arial"/>
              </a:rPr>
              <a:t>they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75" dirty="0">
                <a:solidFill>
                  <a:srgbClr val="D3DCE6"/>
                </a:solidFill>
                <a:latin typeface="Arial"/>
                <a:cs typeface="Arial"/>
              </a:rPr>
              <a:t>do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D3DCE6"/>
                </a:solidFill>
                <a:latin typeface="Arial"/>
                <a:cs typeface="Arial"/>
              </a:rPr>
              <a:t>best </a:t>
            </a:r>
            <a:r>
              <a:rPr sz="2000" spc="-130" dirty="0">
                <a:solidFill>
                  <a:srgbClr val="D3DCE6"/>
                </a:solidFill>
                <a:latin typeface="Arial"/>
                <a:cs typeface="Arial"/>
              </a:rPr>
              <a:t>–</a:t>
            </a:r>
            <a:r>
              <a:rPr sz="20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caring</a:t>
            </a:r>
            <a:r>
              <a:rPr sz="20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for</a:t>
            </a:r>
            <a:r>
              <a:rPr sz="20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their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55" dirty="0">
                <a:solidFill>
                  <a:srgbClr val="D3DCE6"/>
                </a:solidFill>
                <a:latin typeface="Arial"/>
                <a:cs typeface="Arial"/>
              </a:rPr>
              <a:t>patients</a:t>
            </a:r>
            <a:r>
              <a:rPr sz="20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30" dirty="0">
                <a:solidFill>
                  <a:srgbClr val="D3DCE6"/>
                </a:solidFill>
                <a:latin typeface="Arial"/>
                <a:cs typeface="Arial"/>
              </a:rPr>
              <a:t>–</a:t>
            </a:r>
            <a:r>
              <a:rPr sz="20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45" dirty="0">
                <a:solidFill>
                  <a:srgbClr val="D3DCE6"/>
                </a:solidFill>
                <a:latin typeface="Arial"/>
                <a:cs typeface="Arial"/>
              </a:rPr>
              <a:t>while</a:t>
            </a:r>
            <a:r>
              <a:rPr sz="20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D3DCE6"/>
                </a:solidFill>
                <a:latin typeface="Arial"/>
                <a:cs typeface="Arial"/>
              </a:rPr>
              <a:t>leaving </a:t>
            </a:r>
            <a:r>
              <a:rPr sz="20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65" dirty="0">
                <a:solidFill>
                  <a:srgbClr val="D3DCE6"/>
                </a:solidFill>
                <a:latin typeface="Arial"/>
                <a:cs typeface="Arial"/>
              </a:rPr>
              <a:t>IT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rgbClr val="D3DCE6"/>
                </a:solidFill>
                <a:latin typeface="Arial"/>
                <a:cs typeface="Arial"/>
              </a:rPr>
              <a:t>management</a:t>
            </a:r>
            <a:r>
              <a:rPr sz="20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20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20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D3DCE6"/>
                </a:solidFill>
                <a:latin typeface="Arial"/>
                <a:cs typeface="Arial"/>
              </a:rPr>
              <a:t>experts.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0"/>
            <a:ext cx="6858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Forade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609" y="319210"/>
            <a:ext cx="4350385" cy="592010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2400" b="1" spc="-135" dirty="0">
                <a:solidFill>
                  <a:srgbClr val="7C97B3"/>
                </a:solidFill>
                <a:latin typeface="Arial"/>
                <a:cs typeface="Arial"/>
              </a:rPr>
              <a:t>Conclusion</a:t>
            </a:r>
            <a:endParaRPr sz="2400">
              <a:latin typeface="Arial"/>
              <a:cs typeface="Arial"/>
            </a:endParaRPr>
          </a:p>
          <a:p>
            <a:pPr marL="12700" marR="35560">
              <a:lnSpc>
                <a:spcPct val="99700"/>
              </a:lnSpc>
              <a:spcBef>
                <a:spcPts val="125"/>
              </a:spcBef>
            </a:pPr>
            <a:r>
              <a:rPr sz="1900" spc="-15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4" dirty="0">
                <a:solidFill>
                  <a:srgbClr val="D3DCE6"/>
                </a:solidFill>
                <a:latin typeface="Arial"/>
                <a:cs typeface="Arial"/>
              </a:rPr>
              <a:t>NICEHR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95" dirty="0">
                <a:solidFill>
                  <a:srgbClr val="D3DCE6"/>
                </a:solidFill>
                <a:latin typeface="Arial"/>
                <a:cs typeface="Arial"/>
              </a:rPr>
              <a:t>Group's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95" dirty="0">
                <a:solidFill>
                  <a:srgbClr val="D3DCE6"/>
                </a:solidFill>
                <a:latin typeface="Arial"/>
                <a:cs typeface="Arial"/>
              </a:rPr>
              <a:t>EHR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Bootcamp 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program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10" dirty="0">
                <a:solidFill>
                  <a:srgbClr val="D3DCE6"/>
                </a:solidFill>
                <a:latin typeface="Arial"/>
                <a:cs typeface="Arial"/>
              </a:rPr>
              <a:t>is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14" dirty="0">
                <a:solidFill>
                  <a:srgbClr val="D3DCE6"/>
                </a:solidFill>
                <a:latin typeface="Arial"/>
                <a:cs typeface="Arial"/>
              </a:rPr>
              <a:t>an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excellent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D3DCE6"/>
                </a:solidFill>
                <a:latin typeface="Arial"/>
                <a:cs typeface="Arial"/>
              </a:rPr>
              <a:t>opportunity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D3DCE6"/>
                </a:solidFill>
                <a:latin typeface="Arial"/>
                <a:cs typeface="Arial"/>
              </a:rPr>
              <a:t>for </a:t>
            </a:r>
            <a:r>
              <a:rPr sz="1900" spc="-95" dirty="0">
                <a:solidFill>
                  <a:srgbClr val="D3DCE6"/>
                </a:solidFill>
                <a:latin typeface="Arial"/>
                <a:cs typeface="Arial"/>
              </a:rPr>
              <a:t>veterans</a:t>
            </a:r>
            <a:r>
              <a:rPr sz="1900" spc="-6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0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1900" spc="-5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unemployed</a:t>
            </a:r>
            <a:r>
              <a:rPr sz="1900" spc="-5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10" dirty="0">
                <a:solidFill>
                  <a:srgbClr val="D3DCE6"/>
                </a:solidFill>
                <a:latin typeface="Arial"/>
                <a:cs typeface="Arial"/>
              </a:rPr>
              <a:t>Americans</a:t>
            </a:r>
            <a:r>
              <a:rPr sz="1900" spc="-6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1900" spc="5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10" dirty="0">
                <a:solidFill>
                  <a:srgbClr val="D3DCE6"/>
                </a:solidFill>
                <a:latin typeface="Arial"/>
                <a:cs typeface="Arial"/>
              </a:rPr>
              <a:t>gain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valuable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skills </a:t>
            </a:r>
            <a:r>
              <a:rPr sz="1900" spc="-100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knowledge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0" dirty="0">
                <a:solidFill>
                  <a:srgbClr val="D3DCE6"/>
                </a:solidFill>
                <a:latin typeface="Arial"/>
                <a:cs typeface="Arial"/>
              </a:rPr>
              <a:t>in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D3DCE6"/>
                </a:solidFill>
                <a:latin typeface="Arial"/>
                <a:cs typeface="Arial"/>
              </a:rPr>
              <a:t>the 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healthcare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60" dirty="0">
                <a:solidFill>
                  <a:srgbClr val="D3DCE6"/>
                </a:solidFill>
                <a:latin typeface="Arial"/>
                <a:cs typeface="Arial"/>
              </a:rPr>
              <a:t>IT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industry.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5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program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offers </a:t>
            </a:r>
            <a:r>
              <a:rPr sz="1900" spc="-50" dirty="0">
                <a:solidFill>
                  <a:srgbClr val="D3DCE6"/>
                </a:solidFill>
                <a:latin typeface="Arial"/>
                <a:cs typeface="Arial"/>
              </a:rPr>
              <a:t>flexible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learning </a:t>
            </a:r>
            <a:r>
              <a:rPr sz="1900" spc="-55" dirty="0">
                <a:solidFill>
                  <a:srgbClr val="D3DCE6"/>
                </a:solidFill>
                <a:latin typeface="Arial"/>
                <a:cs typeface="Arial"/>
              </a:rPr>
              <a:t>options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0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D3DCE6"/>
                </a:solidFill>
                <a:latin typeface="Arial"/>
                <a:cs typeface="Arial"/>
              </a:rPr>
              <a:t>the opportunity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55" dirty="0">
                <a:solidFill>
                  <a:srgbClr val="D3DCE6"/>
                </a:solidFill>
                <a:latin typeface="Arial"/>
                <a:cs typeface="Arial"/>
              </a:rPr>
              <a:t>work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50" dirty="0">
                <a:solidFill>
                  <a:srgbClr val="D3DCE6"/>
                </a:solidFill>
                <a:latin typeface="Arial"/>
                <a:cs typeface="Arial"/>
              </a:rPr>
              <a:t>remotely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D3DCE6"/>
                </a:solidFill>
                <a:latin typeface="Arial"/>
                <a:cs typeface="Arial"/>
              </a:rPr>
              <a:t>or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on-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site, </a:t>
            </a:r>
            <a:r>
              <a:rPr sz="1900" spc="-95" dirty="0">
                <a:solidFill>
                  <a:srgbClr val="D3DCE6"/>
                </a:solidFill>
                <a:latin typeface="Arial"/>
                <a:cs typeface="Arial"/>
              </a:rPr>
              <a:t>making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55" dirty="0">
                <a:solidFill>
                  <a:srgbClr val="D3DCE6"/>
                </a:solidFill>
                <a:latin typeface="Arial"/>
                <a:cs typeface="Arial"/>
              </a:rPr>
              <a:t>it</a:t>
            </a:r>
            <a:r>
              <a:rPr sz="19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14" dirty="0">
                <a:solidFill>
                  <a:srgbClr val="D3DCE6"/>
                </a:solidFill>
                <a:latin typeface="Arial"/>
                <a:cs typeface="Arial"/>
              </a:rPr>
              <a:t>an</a:t>
            </a:r>
            <a:r>
              <a:rPr sz="19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65" dirty="0">
                <a:solidFill>
                  <a:srgbClr val="D3DCE6"/>
                </a:solidFill>
                <a:latin typeface="Arial"/>
                <a:cs typeface="Arial"/>
              </a:rPr>
              <a:t>ideal</a:t>
            </a:r>
            <a:r>
              <a:rPr sz="1900" spc="-95" dirty="0">
                <a:solidFill>
                  <a:srgbClr val="D3DCE6"/>
                </a:solidFill>
                <a:latin typeface="Arial"/>
                <a:cs typeface="Arial"/>
              </a:rPr>
              <a:t> choice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for</a:t>
            </a:r>
            <a:r>
              <a:rPr sz="19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5" dirty="0">
                <a:solidFill>
                  <a:srgbClr val="D3DCE6"/>
                </a:solidFill>
                <a:latin typeface="Arial"/>
                <a:cs typeface="Arial"/>
              </a:rPr>
              <a:t>anyone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5" dirty="0">
                <a:solidFill>
                  <a:srgbClr val="D3DCE6"/>
                </a:solidFill>
                <a:latin typeface="Arial"/>
                <a:cs typeface="Arial"/>
              </a:rPr>
              <a:t>looking </a:t>
            </a:r>
            <a:r>
              <a:rPr sz="1900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45" dirty="0">
                <a:solidFill>
                  <a:srgbClr val="D3DCE6"/>
                </a:solidFill>
                <a:latin typeface="Arial"/>
                <a:cs typeface="Arial"/>
              </a:rPr>
              <a:t>start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55" dirty="0">
                <a:solidFill>
                  <a:srgbClr val="D3DCE6"/>
                </a:solidFill>
                <a:latin typeface="Arial"/>
                <a:cs typeface="Arial"/>
              </a:rPr>
              <a:t>a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career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D3DCE6"/>
                </a:solidFill>
                <a:latin typeface="Arial"/>
                <a:cs typeface="Arial"/>
              </a:rPr>
              <a:t>in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healthcare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D3DCE6"/>
                </a:solidFill>
                <a:latin typeface="Arial"/>
                <a:cs typeface="Arial"/>
              </a:rPr>
              <a:t>IT.</a:t>
            </a:r>
            <a:endParaRPr sz="1900">
              <a:latin typeface="Arial"/>
              <a:cs typeface="Arial"/>
            </a:endParaRPr>
          </a:p>
          <a:p>
            <a:pPr marL="12700" marR="5080">
              <a:lnSpc>
                <a:spcPct val="99300"/>
              </a:lnSpc>
              <a:spcBef>
                <a:spcPts val="40"/>
              </a:spcBef>
            </a:pPr>
            <a:r>
              <a:rPr sz="1900" spc="-185" dirty="0">
                <a:solidFill>
                  <a:srgbClr val="D3DCE6"/>
                </a:solidFill>
                <a:latin typeface="Arial"/>
                <a:cs typeface="Arial"/>
              </a:rPr>
              <a:t>By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50" dirty="0">
                <a:solidFill>
                  <a:srgbClr val="D3DCE6"/>
                </a:solidFill>
                <a:latin typeface="Arial"/>
                <a:cs typeface="Arial"/>
              </a:rPr>
              <a:t>partnering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D3DCE6"/>
                </a:solidFill>
                <a:latin typeface="Arial"/>
                <a:cs typeface="Arial"/>
              </a:rPr>
              <a:t>with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leading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95" dirty="0">
                <a:solidFill>
                  <a:srgbClr val="D3DCE6"/>
                </a:solidFill>
                <a:latin typeface="Arial"/>
                <a:cs typeface="Arial"/>
              </a:rPr>
              <a:t>EHR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companies, </a:t>
            </a:r>
            <a:r>
              <a:rPr sz="1900" spc="-15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4" dirty="0">
                <a:solidFill>
                  <a:srgbClr val="D3DCE6"/>
                </a:solidFill>
                <a:latin typeface="Arial"/>
                <a:cs typeface="Arial"/>
              </a:rPr>
              <a:t>NICEHR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0" dirty="0">
                <a:solidFill>
                  <a:srgbClr val="D3DCE6"/>
                </a:solidFill>
                <a:latin typeface="Arial"/>
                <a:cs typeface="Arial"/>
              </a:rPr>
              <a:t>Group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14" dirty="0">
                <a:solidFill>
                  <a:srgbClr val="D3DCE6"/>
                </a:solidFill>
                <a:latin typeface="Arial"/>
                <a:cs typeface="Arial"/>
              </a:rPr>
              <a:t>ensures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D3DCE6"/>
                </a:solidFill>
                <a:latin typeface="Arial"/>
                <a:cs typeface="Arial"/>
              </a:rPr>
              <a:t>that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40" dirty="0">
                <a:solidFill>
                  <a:srgbClr val="D3DCE6"/>
                </a:solidFill>
                <a:latin typeface="Arial"/>
                <a:cs typeface="Arial"/>
              </a:rPr>
              <a:t>participants </a:t>
            </a:r>
            <a:r>
              <a:rPr sz="1900" spc="-35" dirty="0">
                <a:solidFill>
                  <a:srgbClr val="D3DCE6"/>
                </a:solidFill>
                <a:latin typeface="Arial"/>
                <a:cs typeface="Arial"/>
              </a:rPr>
              <a:t>in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5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1900" spc="-6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program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10" dirty="0">
                <a:solidFill>
                  <a:srgbClr val="D3DCE6"/>
                </a:solidFill>
                <a:latin typeface="Arial"/>
                <a:cs typeface="Arial"/>
              </a:rPr>
              <a:t>gain</a:t>
            </a:r>
            <a:r>
              <a:rPr sz="1900" spc="-6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14" dirty="0">
                <a:solidFill>
                  <a:srgbClr val="D3DCE6"/>
                </a:solidFill>
                <a:latin typeface="Arial"/>
                <a:cs typeface="Arial"/>
              </a:rPr>
              <a:t>hands-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on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experience </a:t>
            </a:r>
            <a:r>
              <a:rPr sz="1900" dirty="0">
                <a:solidFill>
                  <a:srgbClr val="D3DCE6"/>
                </a:solidFill>
                <a:latin typeface="Arial"/>
                <a:cs typeface="Arial"/>
              </a:rPr>
              <a:t>with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55" dirty="0">
                <a:solidFill>
                  <a:srgbClr val="D3DCE6"/>
                </a:solidFill>
                <a:latin typeface="Arial"/>
                <a:cs typeface="Arial"/>
              </a:rPr>
              <a:t>latest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00" dirty="0">
                <a:solidFill>
                  <a:srgbClr val="D3DCE6"/>
                </a:solidFill>
                <a:latin typeface="Arial"/>
                <a:cs typeface="Arial"/>
              </a:rPr>
              <a:t>EHR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technologies </a:t>
            </a:r>
            <a:r>
              <a:rPr sz="1900" spc="-100" dirty="0">
                <a:solidFill>
                  <a:srgbClr val="D3DCE6"/>
                </a:solidFill>
                <a:latin typeface="Arial"/>
                <a:cs typeface="Arial"/>
              </a:rPr>
              <a:t>and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tools.</a:t>
            </a:r>
            <a:endParaRPr sz="1900">
              <a:latin typeface="Arial"/>
              <a:cs typeface="Arial"/>
            </a:endParaRPr>
          </a:p>
          <a:p>
            <a:pPr marL="12700" marR="52069">
              <a:lnSpc>
                <a:spcPct val="100000"/>
              </a:lnSpc>
              <a:spcBef>
                <a:spcPts val="20"/>
              </a:spcBef>
            </a:pP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Their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65" dirty="0">
                <a:solidFill>
                  <a:srgbClr val="D3DCE6"/>
                </a:solidFill>
                <a:latin typeface="Arial"/>
                <a:cs typeface="Arial"/>
              </a:rPr>
              <a:t>team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D3DCE6"/>
                </a:solidFill>
                <a:latin typeface="Arial"/>
                <a:cs typeface="Arial"/>
              </a:rPr>
              <a:t>of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experts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provides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5" dirty="0">
                <a:solidFill>
                  <a:srgbClr val="D3DCE6"/>
                </a:solidFill>
                <a:latin typeface="Arial"/>
                <a:cs typeface="Arial"/>
              </a:rPr>
              <a:t>top-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notch 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consulting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10" dirty="0">
                <a:solidFill>
                  <a:srgbClr val="D3DCE6"/>
                </a:solidFill>
                <a:latin typeface="Arial"/>
                <a:cs typeface="Arial"/>
              </a:rPr>
              <a:t>services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D3DCE6"/>
                </a:solidFill>
                <a:latin typeface="Arial"/>
                <a:cs typeface="Arial"/>
              </a:rPr>
              <a:t>that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60" dirty="0">
                <a:solidFill>
                  <a:srgbClr val="D3DCE6"/>
                </a:solidFill>
                <a:latin typeface="Arial"/>
                <a:cs typeface="Arial"/>
              </a:rPr>
              <a:t>help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healthcare 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providers</a:t>
            </a:r>
            <a:r>
              <a:rPr sz="1900" spc="-9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65" dirty="0">
                <a:solidFill>
                  <a:srgbClr val="D3DCE6"/>
                </a:solidFill>
                <a:latin typeface="Arial"/>
                <a:cs typeface="Arial"/>
              </a:rPr>
              <a:t>improve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0" dirty="0">
                <a:solidFill>
                  <a:srgbClr val="D3DCE6"/>
                </a:solidFill>
                <a:latin typeface="Arial"/>
                <a:cs typeface="Arial"/>
              </a:rPr>
              <a:t>patient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10" dirty="0">
                <a:solidFill>
                  <a:srgbClr val="D3DCE6"/>
                </a:solidFill>
                <a:latin typeface="Arial"/>
                <a:cs typeface="Arial"/>
              </a:rPr>
              <a:t>care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D3DCE6"/>
                </a:solidFill>
                <a:latin typeface="Arial"/>
                <a:cs typeface="Arial"/>
              </a:rPr>
              <a:t>and 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outcomes.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Partnering</a:t>
            </a:r>
            <a:r>
              <a:rPr sz="1900" spc="-6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D3DCE6"/>
                </a:solidFill>
                <a:latin typeface="Arial"/>
                <a:cs typeface="Arial"/>
              </a:rPr>
              <a:t>with</a:t>
            </a:r>
            <a:r>
              <a:rPr sz="1900" spc="-7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5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1900" spc="-65" dirty="0">
                <a:solidFill>
                  <a:srgbClr val="D3DCE6"/>
                </a:solidFill>
                <a:latin typeface="Arial"/>
                <a:cs typeface="Arial"/>
              </a:rPr>
              <a:t> NICEHR </a:t>
            </a:r>
            <a:r>
              <a:rPr sz="1900" spc="-100" dirty="0">
                <a:solidFill>
                  <a:srgbClr val="D3DCE6"/>
                </a:solidFill>
                <a:latin typeface="Arial"/>
                <a:cs typeface="Arial"/>
              </a:rPr>
              <a:t>Group </a:t>
            </a:r>
            <a:r>
              <a:rPr sz="1900" spc="-105" dirty="0">
                <a:solidFill>
                  <a:srgbClr val="D3DCE6"/>
                </a:solidFill>
                <a:latin typeface="Arial"/>
                <a:cs typeface="Arial"/>
              </a:rPr>
              <a:t>is</a:t>
            </a:r>
            <a:r>
              <a:rPr sz="19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D3DCE6"/>
                </a:solidFill>
                <a:latin typeface="Arial"/>
                <a:cs typeface="Arial"/>
              </a:rPr>
              <a:t>right</a:t>
            </a:r>
            <a:r>
              <a:rPr sz="1900" spc="-95" dirty="0">
                <a:solidFill>
                  <a:srgbClr val="D3DCE6"/>
                </a:solidFill>
                <a:latin typeface="Arial"/>
                <a:cs typeface="Arial"/>
              </a:rPr>
              <a:t> choice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for</a:t>
            </a:r>
            <a:r>
              <a:rPr sz="1900" spc="-10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5" dirty="0">
                <a:solidFill>
                  <a:srgbClr val="D3DCE6"/>
                </a:solidFill>
                <a:latin typeface="Arial"/>
                <a:cs typeface="Arial"/>
              </a:rPr>
              <a:t>anyone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40" dirty="0">
                <a:solidFill>
                  <a:srgbClr val="D3DCE6"/>
                </a:solidFill>
                <a:latin typeface="Arial"/>
                <a:cs typeface="Arial"/>
              </a:rPr>
              <a:t>looking </a:t>
            </a:r>
            <a:r>
              <a:rPr sz="1900" dirty="0">
                <a:solidFill>
                  <a:srgbClr val="D3DCE6"/>
                </a:solidFill>
                <a:latin typeface="Arial"/>
                <a:cs typeface="Arial"/>
              </a:rPr>
              <a:t>to</a:t>
            </a:r>
            <a:r>
              <a:rPr sz="1900" spc="-9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30" dirty="0">
                <a:solidFill>
                  <a:srgbClr val="D3DCE6"/>
                </a:solidFill>
                <a:latin typeface="Arial"/>
                <a:cs typeface="Arial"/>
              </a:rPr>
              <a:t>succeed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D3DCE6"/>
                </a:solidFill>
                <a:latin typeface="Arial"/>
                <a:cs typeface="Arial"/>
              </a:rPr>
              <a:t>in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30" dirty="0">
                <a:solidFill>
                  <a:srgbClr val="D3DCE6"/>
                </a:solidFill>
                <a:latin typeface="Arial"/>
                <a:cs typeface="Arial"/>
              </a:rPr>
              <a:t>the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75" dirty="0">
                <a:solidFill>
                  <a:srgbClr val="D3DCE6"/>
                </a:solidFill>
                <a:latin typeface="Arial"/>
                <a:cs typeface="Arial"/>
              </a:rPr>
              <a:t>healthcare</a:t>
            </a:r>
            <a:r>
              <a:rPr sz="1900" spc="-80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60" dirty="0">
                <a:solidFill>
                  <a:srgbClr val="D3DCE6"/>
                </a:solidFill>
                <a:latin typeface="Arial"/>
                <a:cs typeface="Arial"/>
              </a:rPr>
              <a:t>IT</a:t>
            </a:r>
            <a:r>
              <a:rPr sz="1900" spc="-85" dirty="0">
                <a:solidFill>
                  <a:srgbClr val="D3DCE6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D3DCE6"/>
                </a:solidFill>
                <a:latin typeface="Arial"/>
                <a:cs typeface="Arial"/>
              </a:rPr>
              <a:t>industry.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0"/>
            <a:ext cx="6858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Words>691</Words>
  <Application>Microsoft Macintosh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Montserrat</vt:lpstr>
      <vt:lpstr>Office Theme</vt:lpstr>
      <vt:lpstr>NICEHR</vt:lpstr>
      <vt:lpstr>NICEHR Bootcamp</vt:lpstr>
      <vt:lpstr>NICEHR</vt:lpstr>
      <vt:lpstr>Forade</vt:lpstr>
      <vt:lpstr>Forade</vt:lpstr>
      <vt:lpstr>Forade</vt:lpstr>
      <vt:lpstr>Forade</vt:lpstr>
      <vt:lpstr>Forade</vt:lpstr>
      <vt:lpstr>Forade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NICEHR</dc:title>
  <cp:lastModifiedBy>RAFAEL RODRIGUEZ</cp:lastModifiedBy>
  <cp:revision>2</cp:revision>
  <dcterms:created xsi:type="dcterms:W3CDTF">2023-10-10T16:48:10Z</dcterms:created>
  <dcterms:modified xsi:type="dcterms:W3CDTF">2025-12-21T04:26:49Z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2023-05-10T00:00:00Z</vt:filetime>
  </property>
  <property fmtid="{D5CDD505-2E9C-101B-9397-08002B2CF9AE}" pid="3" name="LastSaved">
    <vt:filetime>2023-10-10T00:00:00Z</vt:filetime>
  </property>
  <property fmtid="{D5CDD505-2E9C-101B-9397-08002B2CF9AE}" pid="4" name="Producer">
    <vt:lpwstr>macOS Version 13.3.1 (a) (Build 22E772610a) Quartz PDFContext</vt:lpwstr>
  </property>
</Properties>
</file>